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72" r:id="rId2"/>
    <p:sldId id="257" r:id="rId3"/>
    <p:sldId id="258" r:id="rId4"/>
    <p:sldId id="259" r:id="rId5"/>
    <p:sldId id="266"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sa Darban" initials="PD" lastIdx="1" clrIdx="0">
    <p:extLst>
      <p:ext uri="{19B8F6BF-5375-455C-9EA6-DF929625EA0E}">
        <p15:presenceInfo xmlns:p15="http://schemas.microsoft.com/office/powerpoint/2012/main" userId="ca1983009a592f0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E99095-B862-469F-ACE1-0C452EE24F9E}" type="datetimeFigureOut">
              <a:rPr lang="en-US" smtClean="0"/>
              <a:t>8/11/2026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265449-B734-43FD-B028-2932DEB5216E}" type="slidenum">
              <a:rPr lang="en-US" smtClean="0"/>
              <a:t>‹#›</a:t>
            </a:fld>
            <a:endParaRPr lang="en-US"/>
          </a:p>
        </p:txBody>
      </p:sp>
    </p:spTree>
    <p:extLst>
      <p:ext uri="{BB962C8B-B14F-4D97-AF65-F5344CB8AC3E}">
        <p14:creationId xmlns:p14="http://schemas.microsoft.com/office/powerpoint/2010/main" val="3532246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265449-B734-43FD-B028-2932DEB5216E}" type="slidenum">
              <a:rPr lang="en-US" smtClean="0"/>
              <a:t>1</a:t>
            </a:fld>
            <a:endParaRPr lang="en-US"/>
          </a:p>
        </p:txBody>
      </p:sp>
    </p:spTree>
    <p:extLst>
      <p:ext uri="{BB962C8B-B14F-4D97-AF65-F5344CB8AC3E}">
        <p14:creationId xmlns:p14="http://schemas.microsoft.com/office/powerpoint/2010/main" val="774808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98117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9772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8829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2798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9697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9233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8848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3193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2488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5116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8972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662709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7644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39893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2506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32299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869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8/11/2026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4531586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40.png"/></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CB8E9-1F1C-92F8-A609-248E18A63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E7A75D-4310-027D-B858-CD33A8DBD74F}"/>
              </a:ext>
            </a:extLst>
          </p:cNvPr>
          <p:cNvSpPr>
            <a:spLocks noGrp="1"/>
          </p:cNvSpPr>
          <p:nvPr>
            <p:ph type="title"/>
          </p:nvPr>
        </p:nvSpPr>
        <p:spPr>
          <a:xfrm>
            <a:off x="0" y="168493"/>
            <a:ext cx="7055380" cy="1400530"/>
          </a:xfrm>
        </p:spPr>
        <p:txBody>
          <a:bodyPr/>
          <a:lstStyle/>
          <a:p>
            <a:endParaRPr dirty="0"/>
          </a:p>
        </p:txBody>
      </p:sp>
      <p:pic>
        <p:nvPicPr>
          <p:cNvPr id="7" name="Content Placeholder 6">
            <a:extLst>
              <a:ext uri="{FF2B5EF4-FFF2-40B4-BE49-F238E27FC236}">
                <a16:creationId xmlns:a16="http://schemas.microsoft.com/office/drawing/2014/main" id="{EED4E6B9-3FF8-A951-F7DF-C2AB067EE4B2}"/>
              </a:ext>
            </a:extLst>
          </p:cNvPr>
          <p:cNvPicPr>
            <a:picLocks noGrp="1" noChangeAspect="1"/>
          </p:cNvPicPr>
          <p:nvPr>
            <p:ph idx="1"/>
          </p:nvPr>
        </p:nvPicPr>
        <p:blipFill>
          <a:blip r:embed="rId3"/>
          <a:stretch>
            <a:fillRect/>
          </a:stretch>
        </p:blipFill>
        <p:spPr>
          <a:xfrm>
            <a:off x="0" y="0"/>
            <a:ext cx="9144000" cy="6858000"/>
          </a:xfrm>
        </p:spPr>
      </p:pic>
      <p:pic>
        <p:nvPicPr>
          <p:cNvPr id="4" name="Picture 3">
            <a:extLst>
              <a:ext uri="{FF2B5EF4-FFF2-40B4-BE49-F238E27FC236}">
                <a16:creationId xmlns:a16="http://schemas.microsoft.com/office/drawing/2014/main" id="{E1FCF1A9-426F-F58B-04D1-2690352F5A9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8" name="TextBox 7">
            <a:extLst>
              <a:ext uri="{FF2B5EF4-FFF2-40B4-BE49-F238E27FC236}">
                <a16:creationId xmlns:a16="http://schemas.microsoft.com/office/drawing/2014/main" id="{F0F4A481-2509-1C3D-F19A-348539EC205B}"/>
              </a:ext>
            </a:extLst>
          </p:cNvPr>
          <p:cNvSpPr txBox="1"/>
          <p:nvPr/>
        </p:nvSpPr>
        <p:spPr>
          <a:xfrm>
            <a:off x="2729204" y="5343368"/>
            <a:ext cx="4991876" cy="892552"/>
          </a:xfrm>
          <a:prstGeom prst="rect">
            <a:avLst/>
          </a:prstGeom>
          <a:noFill/>
        </p:spPr>
        <p:txBody>
          <a:bodyPr wrap="square">
            <a:spAutoFit/>
          </a:bodyPr>
          <a:lstStyle/>
          <a:p>
            <a:pPr marL="0" indent="0">
              <a:buNone/>
            </a:pPr>
            <a:r>
              <a:rPr lang="en-US" sz="1800" dirty="0"/>
              <a:t>Parsa Darban </a:t>
            </a:r>
          </a:p>
          <a:p>
            <a:pPr marL="0" indent="0">
              <a:buNone/>
            </a:pPr>
            <a:r>
              <a:rPr lang="en-US" sz="1800" dirty="0"/>
              <a:t>810100141</a:t>
            </a:r>
          </a:p>
          <a:p>
            <a:pPr marL="0" indent="0">
              <a:buNone/>
            </a:pPr>
            <a:r>
              <a:rPr lang="en-US" sz="1600" dirty="0"/>
              <a:t>Spring 2025</a:t>
            </a:r>
          </a:p>
        </p:txBody>
      </p:sp>
    </p:spTree>
    <p:extLst>
      <p:ext uri="{BB962C8B-B14F-4D97-AF65-F5344CB8AC3E}">
        <p14:creationId xmlns:p14="http://schemas.microsoft.com/office/powerpoint/2010/main" val="515149362"/>
      </p:ext>
    </p:extLst>
  </p:cSld>
  <p:clrMapOvr>
    <a:masterClrMapping/>
  </p:clrMapOvr>
  <mc:AlternateContent xmlns:mc="http://schemas.openxmlformats.org/markup-compatibility/2006" xmlns:p14="http://schemas.microsoft.com/office/powerpoint/2010/main">
    <mc:Choice Requires="p14">
      <p:transition spd="slow" p14:dur="2000" advTm="78189"/>
    </mc:Choice>
    <mc:Fallback xmlns="">
      <p:transition spd="slow" advTm="781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49158"/>
            <a:ext cx="7055380" cy="698317"/>
          </a:xfrm>
        </p:spPr>
        <p:txBody>
          <a:bodyPr/>
          <a:lstStyle/>
          <a:p>
            <a:r>
              <a:rPr lang="en-US" dirty="0">
                <a:latin typeface="Times New Roman" panose="02020603050405020304" pitchFamily="18" charset="0"/>
                <a:cs typeface="Times New Roman" panose="02020603050405020304" pitchFamily="18" charset="0"/>
              </a:rPr>
              <a:t>Abstract		</a:t>
            </a:r>
          </a:p>
        </p:txBody>
      </p:sp>
      <p:pic>
        <p:nvPicPr>
          <p:cNvPr id="4" name="Picture 3">
            <a:extLst>
              <a:ext uri="{FF2B5EF4-FFF2-40B4-BE49-F238E27FC236}">
                <a16:creationId xmlns:a16="http://schemas.microsoft.com/office/drawing/2014/main" id="{D689F49B-6C7C-55FD-5B08-902697D260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9" name="Content Placeholder 8">
            <a:extLst>
              <a:ext uri="{FF2B5EF4-FFF2-40B4-BE49-F238E27FC236}">
                <a16:creationId xmlns:a16="http://schemas.microsoft.com/office/drawing/2014/main" id="{5971163E-653E-97AA-B66E-732EEEC4B067}"/>
              </a:ext>
            </a:extLst>
          </p:cNvPr>
          <p:cNvSpPr>
            <a:spLocks noGrp="1"/>
          </p:cNvSpPr>
          <p:nvPr>
            <p:ph idx="1"/>
          </p:nvPr>
        </p:nvSpPr>
        <p:spPr/>
        <p:txBody>
          <a:bodyPr/>
          <a:lstStyle/>
          <a:p>
            <a:pPr marL="0" indent="0">
              <a:buNone/>
            </a:pPr>
            <a:r>
              <a:rPr lang="en-US" dirty="0"/>
              <a:t> </a:t>
            </a:r>
          </a:p>
          <a:p>
            <a:pPr marL="0" indent="0">
              <a:buNone/>
            </a:pPr>
            <a:endParaRPr lang="en-US" dirty="0"/>
          </a:p>
        </p:txBody>
      </p:sp>
      <p:sp>
        <p:nvSpPr>
          <p:cNvPr id="15" name="Rectangle 6">
            <a:extLst>
              <a:ext uri="{FF2B5EF4-FFF2-40B4-BE49-F238E27FC236}">
                <a16:creationId xmlns:a16="http://schemas.microsoft.com/office/drawing/2014/main" id="{B98F3920-1D29-7FF8-4F70-62A2F618AD5F}"/>
              </a:ext>
            </a:extLst>
          </p:cNvPr>
          <p:cNvSpPr>
            <a:spLocks noChangeArrowheads="1"/>
          </p:cNvSpPr>
          <p:nvPr/>
        </p:nvSpPr>
        <p:spPr bwMode="auto">
          <a:xfrm>
            <a:off x="0" y="1353468"/>
            <a:ext cx="843753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Times New Roman" panose="02020603050405020304" pitchFamily="18" charset="0"/>
                <a:cs typeface="Times New Roman" panose="02020603050405020304" pitchFamily="18" charset="0"/>
              </a:rPr>
              <a:t>Addiction is a multidimensional phenomenon influenced by a combination of biological, psychological, and social factors. One of humanity's most important questions is: what happens in the body in response to addiction and the substances derived from drug use? Is it difficult to quit them? Can science advance to a point where we gain a deep understanding of this process, enabling us to help individuals overcome this habit more easily? Or even, could we find a substitute—such as a medication—with minimal side effects to replace it? </a:t>
            </a:r>
          </a:p>
        </p:txBody>
      </p:sp>
    </p:spTree>
  </p:cSld>
  <p:clrMapOvr>
    <a:masterClrMapping/>
  </p:clrMapOvr>
  <mc:AlternateContent xmlns:mc="http://schemas.openxmlformats.org/markup-compatibility/2006" xmlns:p14="http://schemas.microsoft.com/office/powerpoint/2010/main">
    <mc:Choice Requires="p14">
      <p:transition spd="slow" p14:dur="2000" advTm="151675"/>
    </mc:Choice>
    <mc:Fallback xmlns="">
      <p:transition spd="slow" advTm="15167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79" y="457200"/>
            <a:ext cx="7055380" cy="698317"/>
          </a:xfrm>
        </p:spPr>
        <p:txBody>
          <a:bodyPr/>
          <a:lstStyle/>
          <a:p>
            <a:r>
              <a:rPr lang="en-US"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BFB691B-18A8-29C6-4991-22172F67D41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15" name="TextBox 14">
            <a:extLst>
              <a:ext uri="{FF2B5EF4-FFF2-40B4-BE49-F238E27FC236}">
                <a16:creationId xmlns:a16="http://schemas.microsoft.com/office/drawing/2014/main" id="{95BDEE6A-78FD-C008-2F4C-DC87DEB1DFF7}"/>
              </a:ext>
            </a:extLst>
          </p:cNvPr>
          <p:cNvSpPr txBox="1"/>
          <p:nvPr/>
        </p:nvSpPr>
        <p:spPr>
          <a:xfrm>
            <a:off x="18179" y="1155517"/>
            <a:ext cx="8419352" cy="4247317"/>
          </a:xfrm>
          <a:prstGeom prst="rect">
            <a:avLst/>
          </a:prstGeom>
          <a:noFill/>
        </p:spPr>
        <p:txBody>
          <a:bodyPr wrap="square">
            <a:spAutoFit/>
          </a:bodyPr>
          <a:lstStyle/>
          <a:p>
            <a:pPr lvl="0" algn="just" defTabSz="914400"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The value of an experience or action is determined by the reward that follows it.</a:t>
            </a:r>
            <a:endParaRPr lang="fa-IR" dirty="0">
              <a:latin typeface="Times New Roman" panose="02020603050405020304" pitchFamily="18" charset="0"/>
              <a:cs typeface="Times New Roman" panose="02020603050405020304" pitchFamily="18" charset="0"/>
            </a:endParaRPr>
          </a:p>
          <a:p>
            <a:pPr algn="just" defTabSz="914400" eaLnBrk="0" fontAlgn="base" hangingPunct="0">
              <a:spcBef>
                <a:spcPct val="0"/>
              </a:spcBef>
              <a:spcAft>
                <a:spcPct val="0"/>
              </a:spcAft>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Addiction, at first glance, must hold a greater value in the brain than other activities. It is believed that certain long-lasting changes in synaptic plasticity are the underlying cause of addiction; these persistent changes lead to disruptions in the brain's reward system. Therefore, in addition to the brain, where decisions are made, there must also be a reward mechanism involved.</a:t>
            </a:r>
            <a:endParaRPr lang="fa-IR"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endParaRPr lang="fa-IR"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On the other hand, there is a psychological theory known as the opponent-process theory, proposed by Richard Solomon, which is considered one of the key frameworks for understanding individuals struggling with addiction.</a:t>
            </a:r>
            <a:endParaRPr lang="fa-IR"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endParaRPr lang="fa-IR" dirty="0">
              <a:cs typeface="+mj-cs"/>
            </a:endParaRPr>
          </a:p>
          <a:p>
            <a:pPr lvl="0" algn="just" defTabSz="914400"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In the following sections, we will explore the biological and psychological aspects of addiction, followed by an examination of the proposed model and the simulation results presented in the paper.</a:t>
            </a:r>
            <a:endPar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44020"/>
    </mc:Choice>
    <mc:Fallback xmlns="">
      <p:transition spd="slow" advTm="144020"/>
    </mc:Fallback>
  </mc:AlternateContent>
  <p:extLst>
    <p:ext uri="{3A86A75C-4F4B-4683-9AE1-C65F6400EC91}">
      <p14:laserTraceLst xmlns:p14="http://schemas.microsoft.com/office/powerpoint/2010/main">
        <p14:tracePtLst>
          <p14:tracePt t="12887" x="2120900" y="6426200"/>
          <p14:tracePt t="13045" x="1274763" y="6764338"/>
          <p14:tracePt t="13046" x="1282700" y="6688138"/>
          <p14:tracePt t="13051" x="1282700" y="6602413"/>
          <p14:tracePt t="13067" x="1274763" y="6127750"/>
          <p14:tracePt t="13083" x="1257300" y="5745163"/>
          <p14:tracePt t="13084" x="1241425" y="5583238"/>
          <p14:tracePt t="13100" x="1198563" y="5064125"/>
          <p14:tracePt t="13117" x="1122363" y="4521200"/>
          <p14:tracePt t="13119" x="1112838" y="4368800"/>
          <p14:tracePt t="13134" x="1087438" y="3763963"/>
          <p14:tracePt t="13151" x="1087438" y="3238500"/>
          <p14:tracePt t="13168" x="1079500" y="2897188"/>
          <p14:tracePt t="13183" x="1069975" y="2762250"/>
          <p14:tracePt t="13184" x="1062038" y="2727325"/>
          <p14:tracePt t="13200" x="1044575" y="2617788"/>
          <p14:tracePt t="13218" x="1028700" y="2481263"/>
          <p14:tracePt t="13234" x="1028700" y="2405063"/>
          <p14:tracePt t="13250" x="1028700" y="2354263"/>
          <p14:tracePt t="13269" x="1019175" y="2293938"/>
          <p14:tracePt t="13285" x="1011238" y="2209800"/>
          <p14:tracePt t="13287" x="993775" y="2174875"/>
          <p14:tracePt t="13303" x="960438" y="2065338"/>
          <p14:tracePt t="13319" x="917575" y="1903413"/>
          <p14:tracePt t="13334" x="858838" y="1674813"/>
          <p14:tracePt t="13351" x="823913" y="1530350"/>
          <p14:tracePt t="13367" x="808038" y="1477963"/>
          <p14:tracePt t="13384" x="798513" y="1470025"/>
          <p14:tracePt t="13400" x="798513" y="1462088"/>
          <p14:tracePt t="13417" x="781050" y="1462088"/>
          <p14:tracePt t="13442" x="773113" y="1462088"/>
          <p14:tracePt t="13459" x="765175" y="1462088"/>
          <p14:tracePt t="13467" x="755650" y="1462088"/>
          <p14:tracePt t="13484" x="696913" y="1487488"/>
          <p14:tracePt t="13500" x="654050" y="1512888"/>
          <p14:tracePt t="13520" x="611188" y="1512888"/>
          <p14:tracePt t="13535" x="585788" y="1504950"/>
          <p14:tracePt t="13554" x="569913" y="1487488"/>
          <p14:tracePt t="13567" x="560388" y="1487488"/>
          <p14:tracePt t="13584" x="552450" y="1477963"/>
          <p14:tracePt t="13600" x="534988" y="1470025"/>
          <p14:tracePt t="13617" x="501650" y="1452563"/>
          <p14:tracePt t="13634" x="476250" y="1444625"/>
          <p14:tracePt t="13651" x="450850" y="1436688"/>
          <p14:tracePt t="13666" x="425450" y="1436688"/>
          <p14:tracePt t="13683" x="390525" y="1427163"/>
          <p14:tracePt t="13700" x="347663" y="1427163"/>
          <p14:tracePt t="13716" x="314325" y="1419225"/>
          <p14:tracePt t="13734" x="306388" y="1419225"/>
          <p14:tracePt t="13751" x="296863" y="1419225"/>
          <p14:tracePt t="13811" x="288925" y="1419225"/>
          <p14:tracePt t="13842" x="280988" y="1419225"/>
          <p14:tracePt t="13858" x="280988" y="1427163"/>
          <p14:tracePt t="13870" x="288925" y="1436688"/>
          <p14:tracePt t="13874" x="296863" y="1444625"/>
          <p14:tracePt t="13884" x="331788" y="1470025"/>
          <p14:tracePt t="13900" x="357188" y="1495425"/>
          <p14:tracePt t="13917" x="382588" y="1495425"/>
          <p14:tracePt t="13934" x="382588" y="1504950"/>
          <p14:tracePt t="13996" x="390525" y="1504950"/>
          <p14:tracePt t="14004" x="390525" y="1512888"/>
          <p14:tracePt t="14020" x="400050" y="1512888"/>
          <p14:tracePt t="14036" x="407988" y="1512888"/>
          <p14:tracePt t="14050" x="425450" y="1520825"/>
          <p14:tracePt t="14066" x="458788" y="1530350"/>
          <p14:tracePt t="14067" x="476250" y="1538288"/>
          <p14:tracePt t="14084" x="509588" y="1546225"/>
          <p14:tracePt t="14103" x="544513" y="1555750"/>
          <p14:tracePt t="14104" x="552450" y="1555750"/>
          <p14:tracePt t="14120" x="577850" y="1563688"/>
          <p14:tracePt t="14122" x="585788" y="1563688"/>
          <p14:tracePt t="14135" x="595313" y="1563688"/>
          <p14:tracePt t="14153" x="603250" y="1563688"/>
          <p14:tracePt t="109351" x="620713" y="1581150"/>
          <p14:tracePt t="109356" x="620713" y="1589088"/>
          <p14:tracePt t="109367" x="808038" y="1690688"/>
          <p14:tracePt t="109384" x="1069975" y="1793875"/>
          <p14:tracePt t="109401" x="1350963" y="1878013"/>
          <p14:tracePt t="109403" x="1401763" y="1885950"/>
          <p14:tracePt t="109417" x="1487488" y="1895475"/>
          <p14:tracePt t="109418" x="1504950" y="1895475"/>
          <p14:tracePt t="109436" x="1520825" y="1895475"/>
          <p14:tracePt t="109453" x="1530350" y="1895475"/>
          <p14:tracePt t="109454" x="1538288" y="1885950"/>
          <p14:tracePt t="109467" x="1546225" y="1878013"/>
          <p14:tracePt t="109487" x="1571625" y="1860550"/>
          <p14:tracePt t="109500" x="1581150" y="1852613"/>
          <p14:tracePt t="109569" x="1581150" y="1844675"/>
          <p14:tracePt t="109585" x="1581150" y="1835150"/>
          <p14:tracePt t="109592" x="1581150" y="1827213"/>
          <p14:tracePt t="109601" x="1581150" y="1809750"/>
          <p14:tracePt t="109618" x="1614488" y="1784350"/>
          <p14:tracePt t="109620" x="1622425" y="1776413"/>
          <p14:tracePt t="109634" x="1700213" y="1776413"/>
          <p14:tracePt t="109637" x="1758950" y="1776413"/>
          <p14:tracePt t="109652" x="2047875" y="1895475"/>
          <p14:tracePt t="109668" x="2344738" y="2022475"/>
          <p14:tracePt t="109668" x="2422525" y="2065338"/>
          <p14:tracePt t="109686" x="2693988" y="2192338"/>
          <p14:tracePt t="109701" x="2914650" y="2328863"/>
          <p14:tracePt t="109717" x="3127375" y="2498725"/>
          <p14:tracePt t="109735" x="3348038" y="2701925"/>
          <p14:tracePt t="109736" x="3416300" y="2744788"/>
          <p14:tracePt t="109751" x="3568700" y="2863850"/>
          <p14:tracePt t="109753" x="3619500" y="2906713"/>
          <p14:tracePt t="109767" x="3773488" y="3033713"/>
          <p14:tracePt t="109769" x="3824288" y="3084513"/>
          <p14:tracePt t="109787" x="4062413" y="3297238"/>
          <p14:tracePt t="109788" x="4113213" y="3348038"/>
          <p14:tracePt t="109801" x="4291013" y="3517900"/>
          <p14:tracePt t="109822" x="4579938" y="3790950"/>
          <p14:tracePt t="109833" x="4724400" y="3917950"/>
          <p14:tracePt t="109853" x="4929188" y="4070350"/>
          <p14:tracePt t="109867" x="5048250" y="4171950"/>
          <p14:tracePt t="109868" x="5073650" y="4197350"/>
          <p14:tracePt t="109887" x="5183188" y="4308475"/>
          <p14:tracePt t="109888" x="5200650" y="4325938"/>
          <p14:tracePt t="109902" x="5251450" y="4394200"/>
          <p14:tracePt t="109904" x="5260975" y="4419600"/>
          <p14:tracePt t="109919" x="5302250" y="4470400"/>
          <p14:tracePt t="109920" x="5319713" y="4486275"/>
          <p14:tracePt t="109934" x="5337175" y="4521200"/>
          <p14:tracePt t="109953" x="5353050" y="4538663"/>
          <p14:tracePt t="109970" x="5362575" y="4538663"/>
          <p14:tracePt t="110009" x="5370513" y="4546600"/>
          <p14:tracePt t="110017" x="5370513" y="4554538"/>
          <p14:tracePt t="110021" x="5380038" y="4564063"/>
          <p14:tracePt t="110034" x="5413375" y="4589463"/>
          <p14:tracePt t="110053" x="5456238" y="4614863"/>
          <p14:tracePt t="110068" x="5456238" y="4622800"/>
          <p14:tracePt t="110209" x="5456238" y="4579938"/>
          <p14:tracePt t="110217" x="5456238" y="4554538"/>
          <p14:tracePt t="110238" x="5456238" y="4486275"/>
          <p14:tracePt t="110240" x="5456238" y="4478338"/>
          <p14:tracePt t="110250" x="5456238" y="4470400"/>
          <p14:tracePt t="110269" x="5438775" y="4435475"/>
          <p14:tracePt t="110286" x="5430838" y="4410075"/>
          <p14:tracePt t="110288" x="5421313" y="4402138"/>
          <p14:tracePt t="110303" x="5413375" y="4376738"/>
          <p14:tracePt t="110321" x="5405438" y="4333875"/>
          <p14:tracePt t="110334" x="5387975" y="4316413"/>
          <p14:tracePt t="110353" x="5387975" y="4300538"/>
          <p14:tracePt t="110412" x="5387975" y="4291013"/>
          <p14:tracePt t="110425" x="5380038" y="4283075"/>
          <p14:tracePt t="110434" x="5370513" y="4275138"/>
          <p14:tracePt t="110451" x="5345113" y="4240213"/>
          <p14:tracePt t="110453" x="5345113" y="4224338"/>
          <p14:tracePt t="110467" x="5319713" y="4171950"/>
          <p14:tracePt t="110468" x="5311775" y="4156075"/>
          <p14:tracePt t="110484" x="5294313" y="4113213"/>
          <p14:tracePt t="110500" x="5294313" y="4095750"/>
          <p14:tracePt t="126010" x="5286375" y="4095750"/>
          <p14:tracePt t="126014" x="5276850" y="4095750"/>
          <p14:tracePt t="126039" x="5268913" y="4095750"/>
          <p14:tracePt t="126055" x="5260975" y="4095750"/>
          <p14:tracePt t="126079" x="5251450" y="4095750"/>
          <p14:tracePt t="134114" x="5276850" y="4095750"/>
          <p14:tracePt t="134122" x="5286375" y="4095750"/>
          <p14:tracePt t="134136" x="5311775" y="4095750"/>
          <p14:tracePt t="134137" x="5319713" y="4095750"/>
          <p14:tracePt t="134153" x="5353050" y="4095750"/>
          <p14:tracePt t="134167" x="5405438" y="4095750"/>
          <p14:tracePt t="134184" x="5456238" y="4095750"/>
          <p14:tracePt t="134200" x="5497513" y="4095750"/>
          <p14:tracePt t="134217" x="5532438" y="4095750"/>
          <p14:tracePt t="134219" x="5549900" y="4095750"/>
          <p14:tracePt t="134234" x="5591175" y="4095750"/>
          <p14:tracePt t="134251" x="5651500" y="4095750"/>
          <p14:tracePt t="134254" x="5676900" y="4095750"/>
          <p14:tracePt t="134268" x="5727700" y="4095750"/>
          <p14:tracePt t="134270" x="5735638" y="4095750"/>
          <p14:tracePt t="134284" x="5795963" y="4095750"/>
          <p14:tracePt t="134286" x="5821363" y="4095750"/>
          <p14:tracePt t="134303" x="5915025" y="4105275"/>
          <p14:tracePt t="134320" x="5991225" y="4105275"/>
          <p14:tracePt t="134337" x="6076950" y="4105275"/>
          <p14:tracePt t="134338" x="6092825" y="4105275"/>
          <p14:tracePt t="134355" x="6153150" y="4113213"/>
          <p14:tracePt t="134368" x="6194425" y="4121150"/>
          <p14:tracePt t="134387" x="6246813" y="4121150"/>
          <p14:tracePt t="134400" x="6280150" y="4121150"/>
          <p14:tracePt t="134418" x="6348413" y="4130675"/>
          <p14:tracePt t="134434" x="6416675" y="4138613"/>
          <p14:tracePt t="134451" x="6500813" y="4156075"/>
          <p14:tracePt t="134467" x="6569075" y="4164013"/>
          <p14:tracePt t="134484" x="6645275" y="4181475"/>
          <p14:tracePt t="134500" x="6731000" y="4181475"/>
          <p14:tracePt t="134503" x="6756400" y="4181475"/>
          <p14:tracePt t="134519" x="6840538" y="4181475"/>
          <p14:tracePt t="134538" x="6959600" y="4189413"/>
          <p14:tracePt t="134553" x="7027863" y="4189413"/>
          <p14:tracePt t="134554" x="7045325" y="4189413"/>
          <p14:tracePt t="134568" x="7096125" y="4189413"/>
          <p14:tracePt t="134570" x="7121525" y="4189413"/>
          <p14:tracePt t="134585" x="7172325" y="4189413"/>
          <p14:tracePt t="134587" x="7180263" y="4189413"/>
          <p14:tracePt t="134602" x="7205663" y="4189413"/>
          <p14:tracePt t="134603" x="7215188" y="4189413"/>
          <p14:tracePt t="134618" x="7232650" y="4189413"/>
          <p14:tracePt t="134643" x="7240588" y="4189413"/>
          <p14:tracePt t="134763" x="7240588" y="4181475"/>
          <p14:tracePt t="134773" x="7240588" y="4146550"/>
          <p14:tracePt t="134775" x="7240588" y="4138613"/>
          <p14:tracePt t="134785" x="7240588" y="4121150"/>
          <p14:tracePt t="134803" x="7240588" y="4113213"/>
          <p14:tracePt t="134826" x="7240588" y="4105275"/>
          <p14:tracePt t="139527" x="7258050" y="4079875"/>
          <p14:tracePt t="139531" x="7258050" y="4070350"/>
          <p14:tracePt t="139536" x="7265988" y="4070350"/>
          <p14:tracePt t="139539" x="7265988" y="4062413"/>
          <p14:tracePt t="139551" x="7283450" y="4052888"/>
          <p14:tracePt t="139567" x="7291388" y="4037013"/>
          <p14:tracePt t="139584" x="7299325" y="4019550"/>
          <p14:tracePt t="139600" x="7308850" y="4011613"/>
          <p14:tracePt t="139617" x="7316788" y="3994150"/>
          <p14:tracePt t="139634" x="7324725" y="3994150"/>
          <p14:tracePt t="139651" x="7324725" y="3986213"/>
          <p14:tracePt t="139667" x="7334250" y="3976688"/>
          <p14:tracePt t="139684" x="7342188" y="3968750"/>
          <p14:tracePt t="139701" x="7342188" y="3960813"/>
          <p14:tracePt t="139718" x="7359650" y="3951288"/>
          <p14:tracePt t="139734" x="7377113" y="3943350"/>
          <p14:tracePt t="139755" x="7402513" y="3935413"/>
          <p14:tracePt t="139773" x="7427913" y="3917950"/>
          <p14:tracePt t="139774" x="7435850" y="3917950"/>
          <p14:tracePt t="139785" x="7453313" y="3908425"/>
          <p14:tracePt t="139786" x="7453313" y="3900488"/>
          <p14:tracePt t="139802" x="7478713" y="3892550"/>
          <p14:tracePt t="139803" x="7486650" y="3892550"/>
          <p14:tracePt t="139818" x="7512050" y="3875088"/>
          <p14:tracePt t="139833" x="7521575" y="3867150"/>
          <p14:tracePt t="139834" x="7529513" y="3857625"/>
          <p14:tracePt t="139851" x="7554913" y="3849688"/>
          <p14:tracePt t="139867" x="7580313" y="3841750"/>
          <p14:tracePt t="139883" x="7597775" y="3824288"/>
          <p14:tracePt t="139901" x="7613650" y="3824288"/>
          <p14:tracePt t="139917" x="7623175" y="3816350"/>
          <p14:tracePt t="139934" x="7623175" y="3806825"/>
          <p14:tracePt t="139966" x="7631113" y="3806825"/>
          <p14:tracePt t="141051" x="7623175" y="3816350"/>
          <p14:tracePt t="141055" x="7623175" y="3824288"/>
          <p14:tracePt t="141057" x="7334250" y="3925888"/>
          <p14:tracePt t="141070" x="7096125" y="4019550"/>
          <p14:tracePt t="141086" x="6721475" y="4181475"/>
          <p14:tracePt t="141088" x="6619875" y="4214813"/>
          <p14:tracePt t="141105" x="6229350" y="4376738"/>
          <p14:tracePt t="141121" x="5915025" y="4521200"/>
          <p14:tracePt t="141137" x="5651500" y="4622800"/>
          <p14:tracePt t="141150" x="5456238" y="4716463"/>
          <p14:tracePt t="141170" x="5132388" y="4852988"/>
          <p14:tracePt t="141186" x="4868863" y="4972050"/>
          <p14:tracePt t="141203" x="4665663" y="5038725"/>
          <p14:tracePt t="141220" x="4529138" y="5073650"/>
          <p14:tracePt t="141235" x="4384675" y="5106988"/>
          <p14:tracePt t="141250" x="4224338" y="5141913"/>
          <p14:tracePt t="141269" x="4052888" y="5183188"/>
          <p14:tracePt t="141271" x="4002088" y="5200650"/>
          <p14:tracePt t="141288" x="3841750" y="5268913"/>
          <p14:tracePt t="141303" x="3671888" y="5362575"/>
          <p14:tracePt t="141321" x="3314700" y="5557838"/>
          <p14:tracePt t="141337" x="3084513" y="5668963"/>
          <p14:tracePt t="141352" x="2855913" y="5745163"/>
          <p14:tracePt t="141368" x="2660650" y="5813425"/>
          <p14:tracePt t="141386" x="2489200" y="5846763"/>
          <p14:tracePt t="141388" x="2455863" y="5864225"/>
          <p14:tracePt t="141401" x="2354263" y="5889625"/>
          <p14:tracePt t="141417" x="2217738" y="5915025"/>
          <p14:tracePt t="141436" x="2047875" y="5965825"/>
          <p14:tracePt t="141437" x="2030413" y="5973763"/>
          <p14:tracePt t="141453" x="1911350" y="6034088"/>
          <p14:tracePt t="141469" x="1784350" y="6110288"/>
          <p14:tracePt t="141484" x="1700213" y="6169025"/>
          <p14:tracePt t="141502" x="1649413" y="6211888"/>
          <p14:tracePt t="141504" x="1631950" y="6221413"/>
          <p14:tracePt t="141521" x="1597025" y="6262688"/>
          <p14:tracePt t="141536" x="1546225" y="6348413"/>
          <p14:tracePt t="141553" x="1495425" y="6442075"/>
          <p14:tracePt t="141567" x="1470025" y="6510338"/>
          <p14:tracePt t="141568" x="1470025" y="6526213"/>
          <p14:tracePt t="141585" x="1444625" y="6594475"/>
          <p14:tracePt t="141605" x="1427163" y="6645275"/>
          <p14:tracePt t="141621" x="1419225" y="6688138"/>
          <p14:tracePt t="141636" x="1393825" y="6731000"/>
          <p14:tracePt t="141636" x="1393825" y="6738938"/>
          <p14:tracePt t="141650" x="1376363" y="6772275"/>
          <p14:tracePt t="141668" x="1360488" y="6832600"/>
          <p14:tracePt t="143125" x="0" y="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79" y="452718"/>
            <a:ext cx="7055380" cy="1400530"/>
          </a:xfrm>
        </p:spPr>
        <p:txBody>
          <a:bodyPr/>
          <a:lstStyle/>
          <a:p>
            <a:r>
              <a:rPr lang="en-US" dirty="0">
                <a:latin typeface="Times New Roman" panose="02020603050405020304" pitchFamily="18" charset="0"/>
                <a:cs typeface="Times New Roman" panose="02020603050405020304" pitchFamily="18" charset="0"/>
              </a:rPr>
              <a:t>Biological Aspects </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179" y="1331259"/>
            <a:ext cx="8419352" cy="5074023"/>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Dopamine is a neurotransmitter that plays a key role in generating the sensation of reward and reinforcing specific behaviors, such as drug use. Nicotine affects dopaminergic signaling in the Ventral Tegmental Area (VTA), a brain region that plays a vital role in the reward system and is involved in producing feelings of pleasure and learning from rewards (such as nicotine). Additionally, glutamatergic processes contribute to the automatic selection of behaviors that lead to nicotine consumption.</a:t>
            </a:r>
          </a:p>
          <a:p>
            <a:pPr marL="0" indent="0" algn="just">
              <a:buNone/>
            </a:pPr>
            <a:r>
              <a:rPr lang="en-US" sz="1800" dirty="0">
                <a:latin typeface="Times New Roman" panose="02020603050405020304" pitchFamily="18" charset="0"/>
                <a:cs typeface="Times New Roman" panose="02020603050405020304" pitchFamily="18" charset="0"/>
              </a:rPr>
              <a:t>Moreover, brain synapses exhibit plasticity. In individuals with addiction, the way neurons communicate with one another undergoes changes. These alterations lead to a persistent tendency to engage in specific behaviors (such as smoking). This synaptic plasticity is considered one of the main factors in addiction, as it causes harmful behaviors to be performed automatically and uncontrollably.</a:t>
            </a:r>
          </a:p>
          <a:p>
            <a:pPr marL="0" indent="0" algn="just">
              <a:buNone/>
            </a:pPr>
            <a:r>
              <a:rPr lang="en-US" sz="1800" dirty="0">
                <a:latin typeface="Times New Roman" panose="02020603050405020304" pitchFamily="18" charset="0"/>
                <a:cs typeface="Times New Roman" panose="02020603050405020304" pitchFamily="18" charset="0"/>
              </a:rPr>
              <a:t>The proposed model is also based on the following hypothesis:</a:t>
            </a:r>
          </a:p>
          <a:p>
            <a:pPr marL="0" indent="0" algn="just">
              <a:buNone/>
            </a:pPr>
            <a:r>
              <a:rPr lang="en-US" sz="1800" b="1" dirty="0">
                <a:latin typeface="Times New Roman" panose="02020603050405020304" pitchFamily="18" charset="0"/>
                <a:cs typeface="Times New Roman" panose="02020603050405020304" pitchFamily="18" charset="0"/>
              </a:rPr>
              <a:t>“Nicotine addiction is a transition from impulsive behavior to compulsive behavior.”</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That is, as a result of reinforcement learning, nicotine addiction gradually shifts from impulsive behaviors (performed randomly) to compulsive behaviors (performed unconsciously and repetitively).</a:t>
            </a:r>
          </a:p>
          <a:p>
            <a:pPr marL="0" indent="0">
              <a:buNone/>
            </a:pPr>
            <a:endParaRPr lang="en-US"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45D7A2E-AC7B-F796-6C9E-D1A08F0445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155208"/>
    </mc:Choice>
    <mc:Fallback xmlns="">
      <p:transition spd="slow" advTm="155208"/>
    </mc:Fallback>
  </mc:AlternateContent>
  <p:extLst>
    <p:ext uri="{3A86A75C-4F4B-4683-9AE1-C65F6400EC91}">
      <p14:laserTraceLst xmlns:p14="http://schemas.microsoft.com/office/powerpoint/2010/main">
        <p14:tracePtLst>
          <p14:tracePt t="8898" x="1019175" y="1597025"/>
          <p14:tracePt t="8903" x="1019175" y="1606550"/>
          <p14:tracePt t="8914" x="1011238" y="1622425"/>
          <p14:tracePt t="8931" x="993775" y="1649413"/>
          <p14:tracePt t="8947" x="993775" y="1657350"/>
          <p14:tracePt t="8964" x="977900" y="1657350"/>
          <p14:tracePt t="8981" x="942975" y="1665288"/>
          <p14:tracePt t="8998" x="935038" y="1665288"/>
          <p14:tracePt t="9015" x="909638" y="1665288"/>
          <p14:tracePt t="9032" x="900113" y="1665288"/>
          <p14:tracePt t="9048" x="884238" y="1665288"/>
          <p14:tracePt t="9064" x="874713" y="1665288"/>
          <p14:tracePt t="9081" x="866775" y="1665288"/>
          <p14:tracePt t="9097" x="858838" y="1665288"/>
          <p14:tracePt t="9098" x="849313" y="1665288"/>
          <p14:tracePt t="9114" x="841375" y="1674813"/>
          <p14:tracePt t="9131" x="841375" y="1682750"/>
          <p14:tracePt t="9132" x="833438" y="1690688"/>
          <p14:tracePt t="9147" x="823913" y="1700213"/>
          <p14:tracePt t="9164" x="815975" y="1725613"/>
          <p14:tracePt t="9181" x="798513" y="1741488"/>
          <p14:tracePt t="9198" x="790575" y="1751013"/>
          <p14:tracePt t="9215" x="773113" y="1758950"/>
          <p14:tracePt t="9256" x="765175" y="1758950"/>
          <p14:tracePt t="9271" x="755650" y="1758950"/>
          <p14:tracePt t="9312" x="755650" y="1751013"/>
          <p14:tracePt t="9332" x="755650" y="1741488"/>
          <p14:tracePt t="9351" x="755650" y="1733550"/>
          <p14:tracePt t="9359" x="755650" y="1725613"/>
          <p14:tracePt t="9366" x="765175" y="1708150"/>
          <p14:tracePt t="27182" x="773113" y="1708150"/>
          <p14:tracePt t="27188" x="798513" y="1708150"/>
          <p14:tracePt t="27198" x="866775" y="1708150"/>
          <p14:tracePt t="27214" x="1181100" y="1665288"/>
          <p14:tracePt t="27215" x="1343025" y="1639888"/>
          <p14:tracePt t="27230" x="1733550" y="1555750"/>
          <p14:tracePt t="27248" x="1963738" y="1520825"/>
          <p14:tracePt t="27249" x="2022475" y="1504950"/>
          <p14:tracePt t="27265" x="2116138" y="1487488"/>
          <p14:tracePt t="27280" x="2174875" y="1470025"/>
          <p14:tracePt t="27298" x="2235200" y="1462088"/>
          <p14:tracePt t="27314" x="2278063" y="1444625"/>
          <p14:tracePt t="27331" x="2344738" y="1436688"/>
          <p14:tracePt t="27332" x="2430463" y="1427163"/>
          <p14:tracePt t="27348" x="2762250" y="1368425"/>
          <p14:tracePt t="27364" x="2990850" y="1317625"/>
          <p14:tracePt t="27382" x="3211513" y="1266825"/>
          <p14:tracePt t="27397" x="3279775" y="1249363"/>
          <p14:tracePt t="27415" x="3408363" y="1206500"/>
          <p14:tracePt t="27431" x="3502025" y="1173163"/>
          <p14:tracePt t="27447" x="3611563" y="1122363"/>
          <p14:tracePt t="27464" x="3705225" y="1079500"/>
          <p14:tracePt t="27481" x="3756025" y="1069975"/>
          <p14:tracePt t="27498" x="3806825" y="1044575"/>
          <p14:tracePt t="27514" x="3832225" y="1028700"/>
          <p14:tracePt t="27531" x="3849688" y="1019175"/>
          <p14:tracePt t="27533" x="3867150" y="1019175"/>
          <p14:tracePt t="27548" x="3892550" y="1011238"/>
          <p14:tracePt t="27565" x="3925888" y="1003300"/>
          <p14:tracePt t="27582" x="3976688" y="993775"/>
          <p14:tracePt t="27597" x="4019550" y="985838"/>
          <p14:tracePt t="27615" x="4052888" y="977900"/>
          <p14:tracePt t="27616" x="4070350" y="977900"/>
          <p14:tracePt t="27631" x="4095750" y="977900"/>
          <p14:tracePt t="27648" x="4130675" y="977900"/>
          <p14:tracePt t="27650" x="4156075" y="977900"/>
          <p14:tracePt t="27664" x="4197350" y="977900"/>
          <p14:tracePt t="27681" x="4224338" y="977900"/>
          <p14:tracePt t="27698" x="4249738" y="977900"/>
          <p14:tracePt t="27714" x="4275138" y="977900"/>
          <p14:tracePt t="27731" x="4291013" y="977900"/>
          <p14:tracePt t="27748" x="4308475" y="977900"/>
          <p14:tracePt t="27764" x="4325938" y="977900"/>
          <p14:tracePt t="27781" x="4341813" y="977900"/>
          <p14:tracePt t="27797" x="4351338" y="977900"/>
          <p14:tracePt t="27815" x="4368800" y="977900"/>
          <p14:tracePt t="27831" x="4376738" y="977900"/>
          <p14:tracePt t="27848" x="4384675" y="977900"/>
          <p14:tracePt t="27865" x="4394200" y="977900"/>
          <p14:tracePt t="27882" x="4419600" y="960438"/>
          <p14:tracePt t="122065" x="4419600" y="1122363"/>
          <p14:tracePt t="122072" x="4452938" y="1477963"/>
          <p14:tracePt t="122082" x="4470400" y="1801813"/>
          <p14:tracePt t="122098" x="4495800" y="2252663"/>
          <p14:tracePt t="122099" x="4513263" y="2371725"/>
          <p14:tracePt t="122115" x="4529138" y="2541588"/>
          <p14:tracePt t="122131" x="4564063" y="2676525"/>
          <p14:tracePt t="122148" x="4564063" y="2744788"/>
          <p14:tracePt t="122165" x="4579938" y="2813050"/>
          <p14:tracePt t="122181" x="4614863" y="3076575"/>
          <p14:tracePt t="122183" x="4673600" y="3279775"/>
          <p14:tracePt t="122198" x="4733925" y="3586163"/>
          <p14:tracePt t="122214" x="4759325" y="3790950"/>
          <p14:tracePt t="122232" x="4767263" y="3935413"/>
          <p14:tracePt t="122248" x="4767263" y="3986213"/>
          <p14:tracePt t="122265" x="4767263" y="4002088"/>
          <p14:tracePt t="122266" x="4767263" y="4019550"/>
          <p14:tracePt t="122281" x="4767263" y="4037013"/>
          <p14:tracePt t="122298" x="4767263" y="4062413"/>
          <p14:tracePt t="122299" x="4767263" y="4087813"/>
          <p14:tracePt t="122315" x="4767263" y="4130675"/>
          <p14:tracePt t="122331" x="4759325" y="4206875"/>
          <p14:tracePt t="122348" x="4724400" y="4351338"/>
          <p14:tracePt t="122364" x="4708525" y="4419600"/>
          <p14:tracePt t="122382" x="4605338" y="4630738"/>
          <p14:tracePt t="122397" x="4427538" y="4979988"/>
          <p14:tracePt t="122415" x="4171950" y="5456238"/>
          <p14:tracePt t="122432" x="3976688" y="5694363"/>
          <p14:tracePt t="122448" x="3908425" y="5770563"/>
          <p14:tracePt t="122464" x="3867150" y="5813425"/>
          <p14:tracePt t="122481" x="3832225" y="5838825"/>
          <p14:tracePt t="122497" x="3824288" y="5846763"/>
          <p14:tracePt t="122514" x="3798888" y="5864225"/>
          <p14:tracePt t="122530" x="3781425" y="5864225"/>
          <p14:tracePt t="122548" x="3763963" y="5864225"/>
          <p14:tracePt t="122564" x="3748088" y="5864225"/>
          <p14:tracePt t="122581" x="3738563" y="5864225"/>
          <p14:tracePt t="122582" x="3730625" y="5864225"/>
          <p14:tracePt t="122598" x="3697288" y="5864225"/>
          <p14:tracePt t="122614" x="3671888" y="5872163"/>
          <p14:tracePt t="122631" x="3611563" y="5872163"/>
          <p14:tracePt t="122648" x="3586163" y="5889625"/>
          <p14:tracePt t="122665" x="3552825" y="5905500"/>
          <p14:tracePt t="122667" x="3535363" y="5905500"/>
          <p14:tracePt t="122681" x="3492500" y="5915025"/>
          <p14:tracePt t="122697" x="3467100" y="5922963"/>
          <p14:tracePt t="122699" x="3449638" y="5922963"/>
          <p14:tracePt t="122715" x="3408363" y="5932488"/>
          <p14:tracePt t="122731" x="3373438" y="5940425"/>
          <p14:tracePt t="122748" x="3314700" y="5948363"/>
          <p14:tracePt t="122764" x="3271838" y="5948363"/>
          <p14:tracePt t="122782" x="3228975" y="5948363"/>
          <p14:tracePt t="122798" x="3195638" y="5948363"/>
          <p14:tracePt t="122815" x="3160713" y="5948363"/>
          <p14:tracePt t="122833" x="3094038" y="5932488"/>
          <p14:tracePt t="122848" x="3041650" y="5905500"/>
          <p14:tracePt t="122867" x="2974975" y="5889625"/>
          <p14:tracePt t="122881" x="2914650" y="5864225"/>
          <p14:tracePt t="122901" x="2846388" y="5838825"/>
          <p14:tracePt t="122902" x="2838450" y="5829300"/>
          <p14:tracePt t="122914" x="2778125" y="5813425"/>
          <p14:tracePt t="122931" x="2736850" y="5795963"/>
          <p14:tracePt t="122948" x="2651125" y="5770563"/>
          <p14:tracePt t="122964" x="2592388" y="5745163"/>
          <p14:tracePt t="122982" x="2541588" y="5735638"/>
          <p14:tracePt t="122983" x="2516188" y="5727700"/>
          <p14:tracePt t="122998" x="2455863" y="5719763"/>
          <p14:tracePt t="123014" x="2379663" y="5702300"/>
          <p14:tracePt t="123031" x="2319338" y="5694363"/>
          <p14:tracePt t="123032" x="2293938" y="5684838"/>
          <p14:tracePt t="123048" x="2260600" y="5684838"/>
          <p14:tracePt t="123066" x="2217738" y="5676900"/>
          <p14:tracePt t="123081" x="2209800" y="5676900"/>
          <p14:tracePt t="123082" x="2200275" y="5676900"/>
          <p14:tracePt t="123098" x="2184400" y="5676900"/>
          <p14:tracePt t="123115" x="2174875" y="5668963"/>
          <p14:tracePt t="123131" x="2166938" y="5668963"/>
          <p14:tracePt t="123359" x="2073275" y="5668963"/>
          <p14:tracePt t="123366" x="1946275" y="5651500"/>
          <p14:tracePt t="123381" x="1870075" y="5641975"/>
          <p14:tracePt t="123398" x="1766888" y="5641975"/>
          <p14:tracePt t="123415" x="1690688" y="5634038"/>
          <p14:tracePt t="123431" x="1649413" y="5626100"/>
          <p14:tracePt t="123448" x="1571625" y="5616575"/>
          <p14:tracePt t="123464" x="1520825" y="5600700"/>
          <p14:tracePt t="123481" x="1477963" y="5591175"/>
          <p14:tracePt t="123498" x="1411288" y="5591175"/>
          <p14:tracePt t="123515" x="1376363" y="5591175"/>
          <p14:tracePt t="123533" x="1333500" y="5583238"/>
          <p14:tracePt t="123548" x="1282700" y="5575300"/>
          <p14:tracePt t="123565" x="1249363" y="5565775"/>
          <p14:tracePt t="123566" x="1231900" y="5557838"/>
          <p14:tracePt t="123581" x="1206500" y="5557838"/>
          <p14:tracePt t="123598" x="1189038" y="5557838"/>
          <p14:tracePt t="123618" x="1155700" y="5557838"/>
          <p14:tracePt t="123631" x="1138238" y="5557838"/>
          <p14:tracePt t="123651" x="1112838" y="5557838"/>
          <p14:tracePt t="123664" x="1087438" y="5549900"/>
          <p14:tracePt t="123681" x="1062038" y="5549900"/>
          <p14:tracePt t="123682" x="1054100" y="5540375"/>
          <p14:tracePt t="123698" x="1028700" y="5540375"/>
          <p14:tracePt t="123715" x="1011238" y="5532438"/>
          <p14:tracePt t="123731" x="993775" y="5532438"/>
          <p14:tracePt t="123733" x="985838" y="5524500"/>
          <p14:tracePt t="123748" x="968375" y="5514975"/>
          <p14:tracePt t="123765" x="942975" y="5507038"/>
          <p14:tracePt t="123781" x="925513" y="5497513"/>
          <p14:tracePt t="123798" x="909638" y="5489575"/>
          <p14:tracePt t="123816" x="892175" y="5481638"/>
          <p14:tracePt t="123831" x="884238" y="5472113"/>
          <p14:tracePt t="123849" x="866775" y="5472113"/>
          <p14:tracePt t="123864" x="858838" y="5472113"/>
          <p14:tracePt t="123904" x="849313" y="5472113"/>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BD499-5040-94EC-6F27-39122C488349}"/>
              </a:ext>
            </a:extLst>
          </p:cNvPr>
          <p:cNvSpPr>
            <a:spLocks noGrp="1"/>
          </p:cNvSpPr>
          <p:nvPr>
            <p:ph type="title"/>
          </p:nvPr>
        </p:nvSpPr>
        <p:spPr>
          <a:xfrm>
            <a:off x="15455" y="325965"/>
            <a:ext cx="7055380" cy="744704"/>
          </a:xfrm>
        </p:spPr>
        <p:txBody>
          <a:bodyPr/>
          <a:lstStyle/>
          <a:p>
            <a:r>
              <a:rPr lang="en-US" dirty="0">
                <a:latin typeface="Times New Roman" panose="02020603050405020304" pitchFamily="18" charset="0"/>
                <a:cs typeface="Times New Roman" panose="02020603050405020304" pitchFamily="18" charset="0"/>
              </a:rPr>
              <a:t>Psychological Aspects </a:t>
            </a:r>
          </a:p>
        </p:txBody>
      </p:sp>
      <p:pic>
        <p:nvPicPr>
          <p:cNvPr id="3" name="Picture 2">
            <a:extLst>
              <a:ext uri="{FF2B5EF4-FFF2-40B4-BE49-F238E27FC236}">
                <a16:creationId xmlns:a16="http://schemas.microsoft.com/office/drawing/2014/main" id="{ABDD2381-295D-66F4-F86E-E1908B83E19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7474FA3E-77E5-D2E5-5CA6-3D2B1350ACF3}"/>
              </a:ext>
            </a:extLst>
          </p:cNvPr>
          <p:cNvSpPr>
            <a:spLocks noGrp="1"/>
          </p:cNvSpPr>
          <p:nvPr>
            <p:ph idx="1"/>
          </p:nvPr>
        </p:nvSpPr>
        <p:spPr>
          <a:xfrm>
            <a:off x="15455" y="1213171"/>
            <a:ext cx="8430925" cy="3713391"/>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opponent-process theory is a psychological and neurobiological theory used to explain emotional and motivational experiences in response to stimuli such as drugs, emotions, or intense experiences.</a:t>
            </a:r>
          </a:p>
          <a:p>
            <a:pPr marL="0" indent="0" algn="just">
              <a:buNone/>
            </a:pPr>
            <a:r>
              <a:rPr lang="en-US" sz="1800" dirty="0">
                <a:latin typeface="Times New Roman" panose="02020603050405020304" pitchFamily="18" charset="0"/>
                <a:cs typeface="Times New Roman" panose="02020603050405020304" pitchFamily="18" charset="0"/>
              </a:rPr>
              <a:t>The opponent-process theory states that every intense emotional experience (such as pleasure or discomfort) is typically followed by an opposing emotional state. For example, nicotine initially produces a pleasant feeling (euphoria), but over time, an opposing process is activated (such as anxiety or intense craving), aiming to restore the body's emotional balance.</a:t>
            </a:r>
            <a:endParaRPr lang="fa-IR"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As a result, individuals continue using nicotine not for the initial pleasure, but to escape the negative state caused by the opponent process.</a:t>
            </a:r>
          </a:p>
          <a:p>
            <a:pPr marL="0" indent="0">
              <a:buNone/>
            </a:pPr>
            <a:endParaRPr lang="en-US" sz="1800" dirty="0"/>
          </a:p>
        </p:txBody>
      </p:sp>
    </p:spTree>
    <p:extLst>
      <p:ext uri="{BB962C8B-B14F-4D97-AF65-F5344CB8AC3E}">
        <p14:creationId xmlns:p14="http://schemas.microsoft.com/office/powerpoint/2010/main" val="3078024529"/>
      </p:ext>
    </p:extLst>
  </p:cSld>
  <p:clrMapOvr>
    <a:masterClrMapping/>
  </p:clrMapOvr>
  <mc:AlternateContent xmlns:mc="http://schemas.openxmlformats.org/markup-compatibility/2006" xmlns:p14="http://schemas.microsoft.com/office/powerpoint/2010/main">
    <mc:Choice Requires="p14">
      <p:transition spd="slow" p14:dur="2000" advTm="62945"/>
    </mc:Choice>
    <mc:Fallback xmlns="">
      <p:transition spd="slow" advTm="62945"/>
    </mc:Fallback>
  </mc:AlternateContent>
  <p:extLst>
    <p:ext uri="{3A86A75C-4F4B-4683-9AE1-C65F6400EC91}">
      <p14:laserTraceLst xmlns:p14="http://schemas.microsoft.com/office/powerpoint/2010/main">
        <p14:tracePtLst>
          <p14:tracePt t="952" x="849313" y="5464175"/>
          <p14:tracePt t="959" x="849313" y="5446713"/>
          <p14:tracePt t="968" x="849313" y="5438775"/>
          <p14:tracePt t="986" x="849313" y="5413375"/>
          <p14:tracePt t="1001" x="849313" y="5395913"/>
          <p14:tracePt t="1018" x="849313" y="5387975"/>
          <p14:tracePt t="1019" x="849313" y="5380038"/>
          <p14:tracePt t="1035" x="849313" y="5370513"/>
          <p14:tracePt t="1051" x="849313" y="5353050"/>
          <p14:tracePt t="1069" x="849313" y="5327650"/>
          <p14:tracePt t="1084" x="849313" y="5302250"/>
          <p14:tracePt t="1102" x="849313" y="5286375"/>
          <p14:tracePt t="1103" x="849313" y="5276850"/>
          <p14:tracePt t="1118" x="849313" y="5260975"/>
          <p14:tracePt t="1135" x="849313" y="5251450"/>
          <p14:tracePt t="1136" x="849313" y="5243513"/>
          <p14:tracePt t="1151" x="849313" y="5226050"/>
          <p14:tracePt t="1169" x="849313" y="5200650"/>
          <p14:tracePt t="1171" x="858838" y="5200650"/>
          <p14:tracePt t="1184" x="866775" y="5183188"/>
          <p14:tracePt t="1201" x="866775" y="5149850"/>
          <p14:tracePt t="1219" x="874713" y="5124450"/>
          <p14:tracePt t="1235" x="874713" y="5106988"/>
          <p14:tracePt t="1251" x="884238" y="5099050"/>
          <p14:tracePt t="1268" x="884238" y="5073650"/>
          <p14:tracePt t="1285" x="884238" y="5064125"/>
          <p14:tracePt t="1302" x="892175" y="5056188"/>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A6934-E1C7-B0F3-CCF7-9AEB11465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45DC4-DA9A-8058-4801-03DA8CB25838}"/>
              </a:ext>
            </a:extLst>
          </p:cNvPr>
          <p:cNvSpPr>
            <a:spLocks noGrp="1"/>
          </p:cNvSpPr>
          <p:nvPr>
            <p:ph type="title"/>
          </p:nvPr>
        </p:nvSpPr>
        <p:spPr>
          <a:xfrm>
            <a:off x="15455" y="325965"/>
            <a:ext cx="7055380" cy="744704"/>
          </a:xfrm>
        </p:spPr>
        <p:txBody>
          <a:bodyPr/>
          <a:lstStyle/>
          <a:p>
            <a:r>
              <a:rPr lang="en-US" dirty="0">
                <a:latin typeface="Times New Roman" panose="02020603050405020304" pitchFamily="18" charset="0"/>
                <a:cs typeface="Times New Roman" panose="02020603050405020304" pitchFamily="18" charset="0"/>
              </a:rPr>
              <a:t>Model</a:t>
            </a:r>
          </a:p>
        </p:txBody>
      </p:sp>
      <p:pic>
        <p:nvPicPr>
          <p:cNvPr id="3" name="Picture 2">
            <a:extLst>
              <a:ext uri="{FF2B5EF4-FFF2-40B4-BE49-F238E27FC236}">
                <a16:creationId xmlns:a16="http://schemas.microsoft.com/office/drawing/2014/main" id="{B50C1819-38CE-5A37-0066-5B4C0793D0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1F6822B1-9938-19DA-ED26-717D4335EEA0}"/>
              </a:ext>
            </a:extLst>
          </p:cNvPr>
          <p:cNvSpPr>
            <a:spLocks noGrp="1"/>
          </p:cNvSpPr>
          <p:nvPr>
            <p:ph idx="1"/>
          </p:nvPr>
        </p:nvSpPr>
        <p:spPr>
          <a:xfrm>
            <a:off x="15455" y="1213171"/>
            <a:ext cx="8430925" cy="4982356"/>
          </a:xfrm>
        </p:spPr>
        <p:txBody>
          <a:bodyPr>
            <a:normAutofit fontScale="92500" lnSpcReduction="20000"/>
          </a:bodyPr>
          <a:lstStyle/>
          <a:p>
            <a:pPr marL="0" indent="0" algn="just">
              <a:buNone/>
            </a:pPr>
            <a:r>
              <a:rPr lang="en-US" sz="1800" dirty="0">
                <a:latin typeface="Times New Roman" panose="02020603050405020304" pitchFamily="18" charset="0"/>
                <a:cs typeface="Times New Roman" panose="02020603050405020304" pitchFamily="18" charset="0"/>
              </a:rPr>
              <a:t>So, two main approaches to explaining addiction — the opponent-process theory and reward-based learning — have been simultaneously considered in developing a computational model of nicotine addiction.</a:t>
            </a:r>
          </a:p>
          <a:p>
            <a:pPr marL="0" indent="0" algn="just">
              <a:buNone/>
            </a:pPr>
            <a:r>
              <a:rPr lang="en-US" sz="1800" dirty="0">
                <a:latin typeface="Times New Roman" panose="02020603050405020304" pitchFamily="18" charset="0"/>
                <a:cs typeface="Times New Roman" panose="02020603050405020304" pitchFamily="18" charset="0"/>
              </a:rPr>
              <a:t>Reward-based learning is grounded in the principle that any action followed by a reward is more likely to be repeated in the future. This artificial reward causes the brain to learn that </a:t>
            </a:r>
            <a:r>
              <a:rPr lang="en-US" sz="1800" i="1" dirty="0">
                <a:latin typeface="Times New Roman" panose="02020603050405020304" pitchFamily="18" charset="0"/>
                <a:cs typeface="Times New Roman" panose="02020603050405020304" pitchFamily="18" charset="0"/>
              </a:rPr>
              <a:t>smoking</a:t>
            </a:r>
            <a:r>
              <a:rPr lang="en-US" sz="1800" dirty="0">
                <a:latin typeface="Times New Roman" panose="02020603050405020304" pitchFamily="18" charset="0"/>
                <a:cs typeface="Times New Roman" panose="02020603050405020304" pitchFamily="18" charset="0"/>
              </a:rPr>
              <a:t> is a highly valuable behavior, even if it leads to negative consequences. On the other hand, individuals continue using nicotine not for the initial pleasure, but to relieve the negative emotional state caused by the opponent process.</a:t>
            </a:r>
            <a:endParaRPr lang="fa-IR"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modeling is based on two modules:</a:t>
            </a:r>
          </a:p>
          <a:p>
            <a:pPr marL="0" indent="0">
              <a:buNone/>
            </a:pPr>
            <a:r>
              <a:rPr lang="en-US" sz="1800" dirty="0">
                <a:latin typeface="Times New Roman" panose="02020603050405020304" pitchFamily="18" charset="0"/>
                <a:cs typeface="Times New Roman" panose="02020603050405020304" pitchFamily="18" charset="0"/>
              </a:rPr>
              <a:t>Action selection module, which is based on the functioning of the cortex–basal ganglia–thalamus loop. </a:t>
            </a:r>
          </a:p>
          <a:p>
            <a:pPr marL="457207" lvl="1" indent="0" rtl="1">
              <a:buNone/>
            </a:pPr>
            <a:r>
              <a:rPr lang="en-US" dirty="0">
                <a:latin typeface="Times New Roman" panose="02020603050405020304" pitchFamily="18" charset="0"/>
                <a:cs typeface="Times New Roman" panose="02020603050405020304" pitchFamily="18" charset="0"/>
              </a:rPr>
              <a:t>DA signaling module, which has two components: An evaluation component that depends on the presence of nicotine. </a:t>
            </a:r>
          </a:p>
          <a:p>
            <a:pPr marL="0" indent="0" algn="just">
              <a:buNone/>
            </a:pPr>
            <a:r>
              <a:rPr lang="en-US" sz="1800" dirty="0">
                <a:latin typeface="Times New Roman" panose="02020603050405020304" pitchFamily="18" charset="0"/>
                <a:cs typeface="Times New Roman" panose="02020603050405020304" pitchFamily="18" charset="0"/>
              </a:rPr>
              <a:t>A value-assignment component related to the reward received from the action and the prediction error, which is defined as the difference between the actual reward and the expected reward from performing the action. </a:t>
            </a:r>
          </a:p>
          <a:p>
            <a:pPr marL="0" indent="0" algn="just">
              <a:buNone/>
            </a:pPr>
            <a:r>
              <a:rPr lang="en-US" sz="1800" dirty="0">
                <a:latin typeface="Times New Roman" panose="02020603050405020304" pitchFamily="18" charset="0"/>
                <a:cs typeface="Times New Roman" panose="02020603050405020304" pitchFamily="18" charset="0"/>
              </a:rPr>
              <a:t>Each of these modules is governed by differential equations, which will be presented in the following sections.</a:t>
            </a:r>
          </a:p>
        </p:txBody>
      </p:sp>
    </p:spTree>
    <p:extLst>
      <p:ext uri="{BB962C8B-B14F-4D97-AF65-F5344CB8AC3E}">
        <p14:creationId xmlns:p14="http://schemas.microsoft.com/office/powerpoint/2010/main" val="1770782322"/>
      </p:ext>
    </p:extLst>
  </p:cSld>
  <p:clrMapOvr>
    <a:masterClrMapping/>
  </p:clrMapOvr>
  <mc:AlternateContent xmlns:mc="http://schemas.openxmlformats.org/markup-compatibility/2006" xmlns:p14="http://schemas.microsoft.com/office/powerpoint/2010/main">
    <mc:Choice Requires="p14">
      <p:transition spd="slow" p14:dur="2000" advTm="204992"/>
    </mc:Choice>
    <mc:Fallback xmlns="">
      <p:transition spd="slow" advTm="20499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8733F-C0FA-071F-0D1D-AEF001E12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343F6-C862-0CBB-9B0E-40C801DC39C6}"/>
              </a:ext>
            </a:extLst>
          </p:cNvPr>
          <p:cNvSpPr>
            <a:spLocks noGrp="1"/>
          </p:cNvSpPr>
          <p:nvPr>
            <p:ph type="title"/>
          </p:nvPr>
        </p:nvSpPr>
        <p:spPr>
          <a:xfrm>
            <a:off x="15455" y="325965"/>
            <a:ext cx="7055380" cy="744704"/>
          </a:xfrm>
        </p:spPr>
        <p:txBody>
          <a:bodyPr/>
          <a:lstStyle/>
          <a:p>
            <a:r>
              <a:rPr lang="en-US" dirty="0">
                <a:latin typeface="Times New Roman" panose="02020603050405020304" pitchFamily="18" charset="0"/>
                <a:cs typeface="Times New Roman" panose="02020603050405020304" pitchFamily="18" charset="0"/>
              </a:rPr>
              <a:t>Action Selection</a:t>
            </a:r>
          </a:p>
        </p:txBody>
      </p:sp>
      <p:pic>
        <p:nvPicPr>
          <p:cNvPr id="3" name="Picture 2">
            <a:extLst>
              <a:ext uri="{FF2B5EF4-FFF2-40B4-BE49-F238E27FC236}">
                <a16:creationId xmlns:a16="http://schemas.microsoft.com/office/drawing/2014/main" id="{28241035-CF95-8F6E-924E-182E6C9E5D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12F1D247-EF89-81F0-2166-AF9F025219CF}"/>
              </a:ext>
            </a:extLst>
          </p:cNvPr>
          <p:cNvSpPr>
            <a:spLocks noGrp="1"/>
          </p:cNvSpPr>
          <p:nvPr>
            <p:ph idx="1"/>
          </p:nvPr>
        </p:nvSpPr>
        <p:spPr>
          <a:xfrm>
            <a:off x="15455" y="1213171"/>
            <a:ext cx="8430925" cy="4982356"/>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Action Selection Module forms the core of the model, simulating how a behavior (such as smoking or not smoking) is chosen. This module consists of two main loops: the Premotor Loop and the Motor Loop, which together model the Cortex–Basal Ganglia–Thalamus (C-BG-TH) circuits.</a:t>
            </a:r>
          </a:p>
          <a:p>
            <a:pPr marL="0" indent="0" algn="just">
              <a:buNone/>
            </a:pPr>
            <a:r>
              <a:rPr lang="en-US" sz="1800" dirty="0">
                <a:latin typeface="Times New Roman" panose="02020603050405020304" pitchFamily="18" charset="0"/>
                <a:cs typeface="Times New Roman" panose="02020603050405020304" pitchFamily="18" charset="0"/>
              </a:rPr>
              <a:t>The Premotor Loop is responsible for the planning and preparation of an action — it decides what action should be taken and how to prepare for it, before the action is actually executed. In contrast, the Motor Loop is directly responsible for the execution of that planned action, producing the actual physical behavior.</a:t>
            </a:r>
          </a:p>
          <a:p>
            <a:pPr marL="0" indent="0" algn="just">
              <a:buNone/>
            </a:pPr>
            <a:endParaRPr lang="fa-IR"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48F488FD-E8D6-6A1A-55EC-F6D63EF3E1C7}"/>
                  </a:ext>
                </a:extLst>
              </p:cNvPr>
              <p:cNvGraphicFramePr>
                <a:graphicFrameLocks noGrp="1"/>
              </p:cNvGraphicFramePr>
              <p:nvPr>
                <p:extLst>
                  <p:ext uri="{D42A27DB-BD31-4B8C-83A1-F6EECF244321}">
                    <p14:modId xmlns:p14="http://schemas.microsoft.com/office/powerpoint/2010/main" val="604236142"/>
                  </p:ext>
                </p:extLst>
              </p:nvPr>
            </p:nvGraphicFramePr>
            <p:xfrm>
              <a:off x="225909" y="3629703"/>
              <a:ext cx="8692182" cy="3009934"/>
            </p:xfrm>
            <a:graphic>
              <a:graphicData uri="http://schemas.openxmlformats.org/drawingml/2006/table">
                <a:tbl>
                  <a:tblPr/>
                  <a:tblGrid>
                    <a:gridCol w="3058467">
                      <a:extLst>
                        <a:ext uri="{9D8B030D-6E8A-4147-A177-3AD203B41FA5}">
                          <a16:colId xmlns:a16="http://schemas.microsoft.com/office/drawing/2014/main" val="1958308255"/>
                        </a:ext>
                      </a:extLst>
                    </a:gridCol>
                    <a:gridCol w="5633715">
                      <a:extLst>
                        <a:ext uri="{9D8B030D-6E8A-4147-A177-3AD203B41FA5}">
                          <a16:colId xmlns:a16="http://schemas.microsoft.com/office/drawing/2014/main" val="2433699028"/>
                        </a:ext>
                      </a:extLst>
                    </a:gridCol>
                  </a:tblGrid>
                  <a:tr h="385669">
                    <a:tc>
                      <a:txBody>
                        <a:bodyPr/>
                        <a:lstStyle/>
                        <a:p>
                          <a:pPr>
                            <a:buNone/>
                          </a:pPr>
                          <a:r>
                            <a:rPr lang="en-US" dirty="0">
                              <a:latin typeface="Times New Roman" panose="02020603050405020304" pitchFamily="18" charset="0"/>
                              <a:cs typeface="Times New Roman" panose="02020603050405020304" pitchFamily="18" charset="0"/>
                            </a:rPr>
                            <a:t>Premotor Loop State Variables</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Description</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5410535"/>
                      </a:ext>
                    </a:extLst>
                  </a:tr>
                  <a:tr h="385669">
                    <a:tc>
                      <a:txBody>
                        <a:bodyPr/>
                        <a:lstStyle/>
                        <a:p>
                          <a:pPr>
                            <a:buNone/>
                          </a:pPr>
                          <a14:m>
                            <m:oMathPara xmlns:m="http://schemas.openxmlformats.org/officeDocument/2006/math">
                              <m:oMath>
                                <m:sSub>
                                  <m:sSubPr>
                                    <m:ctrlPr>
                                      <a:rPr lang="en-US" b="0" i="1" baseline="0" smtClean="0">
                                        <a:latin typeface="Cambria Math" panose="02040503050406030204" pitchFamily="18" charset="0"/>
                                        <a:cs typeface="Times New Roman" panose="02020603050405020304" pitchFamily="18" charset="0"/>
                                      </a:rPr>
                                    </m:ctrlPr>
                                  </m:sSubPr>
                                  <m:e>
                                    <m:r>
                                      <a:rPr lang="en-US" b="0" i="1" baseline="0" smtClean="0">
                                        <a:latin typeface="Cambria Math" panose="02040503050406030204" pitchFamily="18" charset="0"/>
                                        <a:cs typeface="Times New Roman" panose="02020603050405020304" pitchFamily="18" charset="0"/>
                                      </a:rPr>
                                      <m:t>𝑝</m:t>
                                    </m:r>
                                  </m:e>
                                  <m:sub>
                                    <m:r>
                                      <a:rPr lang="en-US" b="0" i="1" baseline="0" smtClean="0">
                                        <a:latin typeface="Cambria Math" panose="02040503050406030204" pitchFamily="18" charset="0"/>
                                        <a:cs typeface="Times New Roman" panose="02020603050405020304" pitchFamily="18" charset="0"/>
                                      </a:rPr>
                                      <m:t>𝑝𝑚</m:t>
                                    </m:r>
                                  </m:sub>
                                </m:sSub>
                                <m:d>
                                  <m:dPr>
                                    <m:ctrlPr>
                                      <a:rPr lang="en-US" b="0" i="1" baseline="0" smtClean="0">
                                        <a:latin typeface="Cambria Math" panose="02040503050406030204" pitchFamily="18" charset="0"/>
                                        <a:cs typeface="Times New Roman" panose="02020603050405020304" pitchFamily="18" charset="0"/>
                                      </a:rPr>
                                    </m:ctrlPr>
                                  </m:dPr>
                                  <m:e>
                                    <m:r>
                                      <a:rPr lang="en-US" b="0" i="1" baseline="0" smtClean="0">
                                        <a:latin typeface="Cambria Math" panose="02040503050406030204" pitchFamily="18" charset="0"/>
                                        <a:cs typeface="Times New Roman" panose="02020603050405020304" pitchFamily="18" charset="0"/>
                                      </a:rPr>
                                      <m:t>𝑘</m:t>
                                    </m:r>
                                  </m:e>
                                </m:d>
                                <m:r>
                                  <a:rPr lang="en-US" b="0" i="1" baseline="0" smtClean="0">
                                    <a:latin typeface="Cambria Math" panose="02040503050406030204" pitchFamily="18" charset="0"/>
                                    <a:cs typeface="Times New Roman" panose="02020603050405020304" pitchFamily="18" charset="0"/>
                                  </a:rPr>
                                  <m:t>/</m:t>
                                </m:r>
                                <m:sSub>
                                  <m:sSubPr>
                                    <m:ctrlPr>
                                      <a:rPr lang="en-US" b="0" i="1" baseline="0" smtClean="0">
                                        <a:latin typeface="Cambria Math" panose="02040503050406030204" pitchFamily="18" charset="0"/>
                                        <a:cs typeface="Times New Roman" panose="02020603050405020304" pitchFamily="18" charset="0"/>
                                      </a:rPr>
                                    </m:ctrlPr>
                                  </m:sSubPr>
                                  <m:e>
                                    <m:r>
                                      <a:rPr lang="en-US" b="0" i="1" baseline="0" smtClean="0">
                                        <a:latin typeface="Cambria Math" panose="02040503050406030204" pitchFamily="18" charset="0"/>
                                        <a:cs typeface="Times New Roman" panose="02020603050405020304" pitchFamily="18" charset="0"/>
                                      </a:rPr>
                                      <m:t>𝑝</m:t>
                                    </m:r>
                                  </m:e>
                                  <m:sub>
                                    <m:r>
                                      <a:rPr lang="en-US" b="0" i="1" baseline="0" smtClean="0">
                                        <a:latin typeface="Cambria Math" panose="02040503050406030204" pitchFamily="18" charset="0"/>
                                        <a:cs typeface="Times New Roman" panose="02020603050405020304" pitchFamily="18" charset="0"/>
                                      </a:rPr>
                                      <m:t>𝑚</m:t>
                                    </m:r>
                                  </m:sub>
                                </m:sSub>
                                <m:r>
                                  <a:rPr lang="en-US" b="0" i="1" baseline="0" smtClean="0">
                                    <a:latin typeface="Cambria Math" panose="02040503050406030204" pitchFamily="18" charset="0"/>
                                    <a:cs typeface="Times New Roman" panose="02020603050405020304" pitchFamily="18" charset="0"/>
                                  </a:rPr>
                                  <m:t>(</m:t>
                                </m:r>
                                <m:r>
                                  <a:rPr lang="en-US" b="0" i="1" baseline="0" smtClean="0">
                                    <a:latin typeface="Cambria Math" panose="02040503050406030204" pitchFamily="18" charset="0"/>
                                    <a:cs typeface="Times New Roman" panose="02020603050405020304" pitchFamily="18" charset="0"/>
                                  </a:rPr>
                                  <m:t>𝑘</m:t>
                                </m:r>
                                <m:r>
                                  <a:rPr lang="en-US" b="0" i="1" baseline="0" smtClean="0">
                                    <a:latin typeface="Cambria Math" panose="02040503050406030204" pitchFamily="18" charset="0"/>
                                    <a:cs typeface="Times New Roman" panose="02020603050405020304" pitchFamily="18" charset="0"/>
                                  </a:rPr>
                                  <m:t>)</m:t>
                                </m:r>
                              </m:oMath>
                            </m:oMathPara>
                          </a14:m>
                          <a:endParaRPr lang="en-US" baseline="0" dirty="0">
                            <a:latin typeface="Times New Roman" panose="02020603050405020304" pitchFamily="18" charset="0"/>
                            <a:cs typeface="Times New Roman" panose="02020603050405020304" pitchFamily="18" charset="0"/>
                          </a:endParaRP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Activity in the Premotor/Motor pathway.</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7791854"/>
                      </a:ext>
                    </a:extLst>
                  </a:tr>
                  <a:tr h="385669">
                    <a:tc>
                      <a:txBody>
                        <a:bodyPr/>
                        <a:lstStyle/>
                        <a:p>
                          <a:pPr>
                            <a:buNone/>
                          </a:pPr>
                          <a14:m>
                            <m:oMathPara xmlns:m="http://schemas.openxmlformats.org/officeDocument/2006/math">
                              <m:o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𝑚</m:t>
                                    </m:r>
                                  </m:e>
                                  <m:sub>
                                    <m:r>
                                      <a:rPr lang="en-US" b="0" i="1" smtClean="0">
                                        <a:latin typeface="Cambria Math" panose="02040503050406030204" pitchFamily="18" charset="0"/>
                                        <a:cs typeface="Times New Roman" panose="02020603050405020304" pitchFamily="18" charset="0"/>
                                      </a:rPr>
                                      <m:t>𝑝𝑚</m:t>
                                    </m:r>
                                  </m:sub>
                                </m:sSub>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𝑘</m:t>
                                </m:r>
                                <m:r>
                                  <a:rPr lang="en-US" b="0" i="1" smtClean="0">
                                    <a:latin typeface="Cambria Math" panose="02040503050406030204" pitchFamily="18" charset="0"/>
                                    <a:cs typeface="Times New Roman" panose="02020603050405020304" pitchFamily="18" charset="0"/>
                                  </a:rPr>
                                  <m:t>)/</m:t>
                                </m:r>
                                <m:sSub>
                                  <m:sSubPr>
                                    <m:ctrlPr>
                                      <a:rPr lang="en-US" b="0" i="1" baseline="0" smtClean="0">
                                        <a:latin typeface="Cambria Math" panose="02040503050406030204" pitchFamily="18" charset="0"/>
                                        <a:cs typeface="Times New Roman" panose="02020603050405020304" pitchFamily="18" charset="0"/>
                                      </a:rPr>
                                    </m:ctrlPr>
                                  </m:sSubPr>
                                  <m:e>
                                    <m:r>
                                      <a:rPr lang="en-US" b="0" i="1" baseline="0" smtClean="0">
                                        <a:latin typeface="Cambria Math" panose="02040503050406030204" pitchFamily="18" charset="0"/>
                                        <a:cs typeface="Times New Roman" panose="02020603050405020304" pitchFamily="18" charset="0"/>
                                      </a:rPr>
                                      <m:t>𝑚</m:t>
                                    </m:r>
                                  </m:e>
                                  <m:sub>
                                    <m:r>
                                      <a:rPr lang="en-US" b="0" i="1" baseline="0" smtClean="0">
                                        <a:latin typeface="Cambria Math" panose="02040503050406030204" pitchFamily="18" charset="0"/>
                                        <a:cs typeface="Times New Roman" panose="02020603050405020304" pitchFamily="18" charset="0"/>
                                      </a:rPr>
                                      <m:t>𝑚</m:t>
                                    </m:r>
                                  </m:sub>
                                </m:sSub>
                                <m:r>
                                  <a:rPr lang="en-US" b="0" i="1" baseline="0" smtClean="0">
                                    <a:latin typeface="Cambria Math" panose="02040503050406030204" pitchFamily="18" charset="0"/>
                                    <a:cs typeface="Times New Roman" panose="02020603050405020304" pitchFamily="18" charset="0"/>
                                  </a:rPr>
                                  <m:t>(</m:t>
                                </m:r>
                                <m:r>
                                  <a:rPr lang="en-US" b="0" i="1" baseline="0" smtClean="0">
                                    <a:latin typeface="Cambria Math" panose="02040503050406030204" pitchFamily="18" charset="0"/>
                                    <a:cs typeface="Times New Roman" panose="02020603050405020304" pitchFamily="18" charset="0"/>
                                  </a:rPr>
                                  <m:t>𝑘</m:t>
                                </m:r>
                                <m:r>
                                  <a:rPr lang="en-US" b="0" i="1" baseline="0" smtClean="0">
                                    <a:latin typeface="Cambria Math" panose="02040503050406030204" pitchFamily="18" charset="0"/>
                                    <a:cs typeface="Times New Roman" panose="02020603050405020304" pitchFamily="18" charset="0"/>
                                  </a:rPr>
                                  <m:t>)</m:t>
                                </m:r>
                              </m:oMath>
                            </m:oMathPara>
                          </a14:m>
                          <a:endParaRPr lang="en-US" dirty="0">
                            <a:latin typeface="Times New Roman" panose="02020603050405020304" pitchFamily="18" charset="0"/>
                            <a:cs typeface="Times New Roman" panose="02020603050405020304" pitchFamily="18" charset="0"/>
                          </a:endParaRP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Activity of the Premotor/Motor  circuits.</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31519882"/>
                      </a:ext>
                    </a:extLst>
                  </a:tr>
                  <a:tr h="385669">
                    <a:tc>
                      <a:txBody>
                        <a:bodyPr/>
                        <a:lstStyle/>
                        <a:p>
                          <a:pPr>
                            <a:buNone/>
                          </a:pPr>
                          <a14:m>
                            <m:oMathPara xmlns:m="http://schemas.openxmlformats.org/officeDocument/2006/math">
                              <m:oMath>
                                <m:sSub>
                                  <m:sSubPr>
                                    <m:ctrlPr>
                                      <a:rPr lang="en-US" b="0" i="1" baseline="0" smtClean="0">
                                        <a:latin typeface="Cambria Math" panose="02040503050406030204" pitchFamily="18" charset="0"/>
                                        <a:cs typeface="Times New Roman" panose="02020603050405020304" pitchFamily="18" charset="0"/>
                                      </a:rPr>
                                    </m:ctrlPr>
                                  </m:sSubPr>
                                  <m:e>
                                    <m:r>
                                      <a:rPr lang="en-US" b="0" i="1" baseline="0" smtClean="0">
                                        <a:latin typeface="Cambria Math" panose="02040503050406030204" pitchFamily="18" charset="0"/>
                                        <a:cs typeface="Times New Roman" panose="02020603050405020304" pitchFamily="18" charset="0"/>
                                      </a:rPr>
                                      <m:t>𝑟</m:t>
                                    </m:r>
                                  </m:e>
                                  <m:sub>
                                    <m:r>
                                      <a:rPr lang="en-US" b="0" i="1" baseline="0" smtClean="0">
                                        <a:latin typeface="Cambria Math" panose="02040503050406030204" pitchFamily="18" charset="0"/>
                                        <a:cs typeface="Times New Roman" panose="02020603050405020304" pitchFamily="18" charset="0"/>
                                      </a:rPr>
                                      <m:t>𝑝𝑚</m:t>
                                    </m:r>
                                  </m:sub>
                                </m:sSub>
                                <m:r>
                                  <a:rPr lang="en-US" b="0" i="1" baseline="0" smtClean="0">
                                    <a:latin typeface="Cambria Math" panose="02040503050406030204" pitchFamily="18" charset="0"/>
                                    <a:cs typeface="Times New Roman" panose="02020603050405020304" pitchFamily="18" charset="0"/>
                                  </a:rPr>
                                  <m:t>(</m:t>
                                </m:r>
                                <m:r>
                                  <a:rPr lang="en-US" b="0" i="1" baseline="0" smtClean="0">
                                    <a:latin typeface="Cambria Math" panose="02040503050406030204" pitchFamily="18" charset="0"/>
                                    <a:cs typeface="Times New Roman" panose="02020603050405020304" pitchFamily="18" charset="0"/>
                                  </a:rPr>
                                  <m:t>𝑘</m:t>
                                </m:r>
                                <m:r>
                                  <a:rPr lang="en-US" b="0" i="1" baseline="0" smtClean="0">
                                    <a:latin typeface="Cambria Math" panose="02040503050406030204" pitchFamily="18" charset="0"/>
                                    <a:cs typeface="Times New Roman" panose="02020603050405020304" pitchFamily="18" charset="0"/>
                                  </a:rPr>
                                  <m:t>)/</m:t>
                                </m:r>
                                <m:sSub>
                                  <m:sSubPr>
                                    <m:ctrlPr>
                                      <a:rPr lang="en-US" b="0" i="1" baseline="0" smtClean="0">
                                        <a:latin typeface="Cambria Math" panose="02040503050406030204" pitchFamily="18" charset="0"/>
                                        <a:cs typeface="Times New Roman" panose="02020603050405020304" pitchFamily="18" charset="0"/>
                                      </a:rPr>
                                    </m:ctrlPr>
                                  </m:sSubPr>
                                  <m:e>
                                    <m:r>
                                      <a:rPr lang="en-US" b="0" i="1" baseline="0" smtClean="0">
                                        <a:latin typeface="Cambria Math" panose="02040503050406030204" pitchFamily="18" charset="0"/>
                                        <a:cs typeface="Times New Roman" panose="02020603050405020304" pitchFamily="18" charset="0"/>
                                      </a:rPr>
                                      <m:t>𝑟</m:t>
                                    </m:r>
                                  </m:e>
                                  <m:sub>
                                    <m:r>
                                      <a:rPr lang="en-US" b="0" i="1" baseline="0" smtClean="0">
                                        <a:latin typeface="Cambria Math" panose="02040503050406030204" pitchFamily="18" charset="0"/>
                                        <a:cs typeface="Times New Roman" panose="02020603050405020304" pitchFamily="18" charset="0"/>
                                      </a:rPr>
                                      <m:t>𝑚</m:t>
                                    </m:r>
                                  </m:sub>
                                </m:sSub>
                                <m:r>
                                  <a:rPr lang="en-US" b="0" i="1" baseline="0" smtClean="0">
                                    <a:latin typeface="Cambria Math" panose="02040503050406030204" pitchFamily="18" charset="0"/>
                                    <a:cs typeface="Times New Roman" panose="02020603050405020304" pitchFamily="18" charset="0"/>
                                  </a:rPr>
                                  <m:t>(</m:t>
                                </m:r>
                                <m:r>
                                  <a:rPr lang="en-US" b="0" i="1" baseline="0" smtClean="0">
                                    <a:latin typeface="Cambria Math" panose="02040503050406030204" pitchFamily="18" charset="0"/>
                                    <a:cs typeface="Times New Roman" panose="02020603050405020304" pitchFamily="18" charset="0"/>
                                  </a:rPr>
                                  <m:t>𝑘</m:t>
                                </m:r>
                                <m:r>
                                  <a:rPr lang="en-US" b="0" i="1" baseline="0" smtClean="0">
                                    <a:latin typeface="Cambria Math" panose="02040503050406030204" pitchFamily="18" charset="0"/>
                                    <a:cs typeface="Times New Roman" panose="02020603050405020304" pitchFamily="18" charset="0"/>
                                  </a:rPr>
                                  <m:t>)</m:t>
                                </m:r>
                              </m:oMath>
                            </m:oMathPara>
                          </a14:m>
                          <a:endParaRPr lang="en-US" baseline="0" dirty="0">
                            <a:latin typeface="Times New Roman" panose="02020603050405020304" pitchFamily="18" charset="0"/>
                            <a:cs typeface="Times New Roman" panose="02020603050405020304" pitchFamily="18" charset="0"/>
                          </a:endParaRP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Activity related to striatal influence.</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15838176"/>
                      </a:ext>
                    </a:extLst>
                  </a:tr>
                  <a:tr h="602559">
                    <a:tc>
                      <a:txBody>
                        <a:bodyPr/>
                        <a:lstStyle/>
                        <a:p>
                          <a:pPr>
                            <a:buNone/>
                          </a:pPr>
                          <a14:m>
                            <m:oMathPara xmlns:m="http://schemas.openxmlformats.org/officeDocument/2006/math">
                              <m:oMath>
                                <m:sSub>
                                  <m:sSubPr>
                                    <m:ctrlPr>
                                      <a:rPr lang="en-US" b="0" i="1" smtClean="0">
                                        <a:effectLst/>
                                        <a:latin typeface="Cambria Math" panose="02040503050406030204" pitchFamily="18" charset="0"/>
                                        <a:cs typeface="Times New Roman" panose="02020603050405020304" pitchFamily="18" charset="0"/>
                                      </a:rPr>
                                    </m:ctrlPr>
                                  </m:sSubPr>
                                  <m:e>
                                    <m:r>
                                      <a:rPr lang="en-US" b="0" i="1" smtClean="0">
                                        <a:effectLst/>
                                        <a:latin typeface="Cambria Math" panose="02040503050406030204" pitchFamily="18" charset="0"/>
                                        <a:cs typeface="Times New Roman" panose="02020603050405020304" pitchFamily="18" charset="0"/>
                                      </a:rPr>
                                      <m:t>𝑛</m:t>
                                    </m:r>
                                  </m:e>
                                  <m:sub>
                                    <m:r>
                                      <a:rPr lang="en-US" b="0" i="1" smtClean="0">
                                        <a:effectLst/>
                                        <a:latin typeface="Cambria Math" panose="02040503050406030204" pitchFamily="18" charset="0"/>
                                        <a:cs typeface="Times New Roman" panose="02020603050405020304" pitchFamily="18" charset="0"/>
                                      </a:rPr>
                                      <m:t>𝑝𝑚</m:t>
                                    </m:r>
                                  </m:sub>
                                </m:sSub>
                                <m:r>
                                  <a:rPr lang="en-US" b="0" i="1" smtClean="0">
                                    <a:effectLst/>
                                    <a:latin typeface="Cambria Math" panose="02040503050406030204" pitchFamily="18" charset="0"/>
                                    <a:cs typeface="Times New Roman" panose="02020603050405020304" pitchFamily="18" charset="0"/>
                                  </a:rPr>
                                  <m:t>(</m:t>
                                </m:r>
                                <m:r>
                                  <a:rPr lang="en-US" b="0" i="1" smtClean="0">
                                    <a:effectLst/>
                                    <a:latin typeface="Cambria Math" panose="02040503050406030204" pitchFamily="18" charset="0"/>
                                    <a:cs typeface="Times New Roman" panose="02020603050405020304" pitchFamily="18" charset="0"/>
                                  </a:rPr>
                                  <m:t>𝑘</m:t>
                                </m:r>
                                <m:r>
                                  <a:rPr lang="en-US" b="0" i="1" smtClean="0">
                                    <a:effectLst/>
                                    <a:latin typeface="Cambria Math" panose="02040503050406030204" pitchFamily="18" charset="0"/>
                                    <a:cs typeface="Times New Roman" panose="02020603050405020304" pitchFamily="18" charset="0"/>
                                  </a:rPr>
                                  <m:t>)/</m:t>
                                </m:r>
                                <m:sSub>
                                  <m:sSubPr>
                                    <m:ctrlPr>
                                      <a:rPr lang="en-US" b="0" i="1" baseline="0" smtClean="0">
                                        <a:latin typeface="Cambria Math" panose="02040503050406030204" pitchFamily="18" charset="0"/>
                                        <a:cs typeface="Times New Roman" panose="02020603050405020304" pitchFamily="18" charset="0"/>
                                      </a:rPr>
                                    </m:ctrlPr>
                                  </m:sSubPr>
                                  <m:e>
                                    <m:r>
                                      <a:rPr lang="en-US" b="0" i="1" baseline="0" smtClean="0">
                                        <a:latin typeface="Cambria Math" panose="02040503050406030204" pitchFamily="18" charset="0"/>
                                        <a:cs typeface="Times New Roman" panose="02020603050405020304" pitchFamily="18" charset="0"/>
                                      </a:rPr>
                                      <m:t>𝑛</m:t>
                                    </m:r>
                                  </m:e>
                                  <m:sub>
                                    <m:r>
                                      <a:rPr lang="en-US" b="0" i="1" baseline="0" smtClean="0">
                                        <a:latin typeface="Cambria Math" panose="02040503050406030204" pitchFamily="18" charset="0"/>
                                        <a:cs typeface="Times New Roman" panose="02020603050405020304" pitchFamily="18" charset="0"/>
                                      </a:rPr>
                                      <m:t>𝑚</m:t>
                                    </m:r>
                                  </m:sub>
                                </m:sSub>
                                <m:r>
                                  <a:rPr lang="en-US" b="0" i="1" baseline="0" smtClean="0">
                                    <a:latin typeface="Cambria Math" panose="02040503050406030204" pitchFamily="18" charset="0"/>
                                    <a:cs typeface="Times New Roman" panose="02020603050405020304" pitchFamily="18" charset="0"/>
                                  </a:rPr>
                                  <m:t>(</m:t>
                                </m:r>
                                <m:r>
                                  <a:rPr lang="en-US" b="0" i="1" baseline="0" smtClean="0">
                                    <a:latin typeface="Cambria Math" panose="02040503050406030204" pitchFamily="18" charset="0"/>
                                    <a:cs typeface="Times New Roman" panose="02020603050405020304" pitchFamily="18" charset="0"/>
                                  </a:rPr>
                                  <m:t>𝑘</m:t>
                                </m:r>
                                <m:r>
                                  <a:rPr lang="en-US" b="0" i="1" baseline="0" smtClean="0">
                                    <a:latin typeface="Cambria Math" panose="02040503050406030204" pitchFamily="18" charset="0"/>
                                    <a:cs typeface="Times New Roman" panose="02020603050405020304" pitchFamily="18" charset="0"/>
                                  </a:rPr>
                                  <m:t>)</m:t>
                                </m:r>
                              </m:oMath>
                            </m:oMathPara>
                          </a14:m>
                          <a:endParaRPr lang="en-US" dirty="0">
                            <a:latin typeface="Times New Roman" panose="02020603050405020304" pitchFamily="18" charset="0"/>
                            <a:cs typeface="Times New Roman" panose="02020603050405020304" pitchFamily="18" charset="0"/>
                          </a:endParaRP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Neuronal activity in the Premotor/Motor  area.</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16001376"/>
                      </a:ext>
                    </a:extLst>
                  </a:tr>
                  <a:tr h="860799">
                    <a:tc>
                      <a:txBody>
                        <a:bodyPr/>
                        <a:lstStyle/>
                        <a:p>
                          <a:pPr>
                            <a:buNone/>
                          </a:pPr>
                          <a14:m>
                            <m:oMathPara xmlns:m="http://schemas.openxmlformats.org/officeDocument/2006/math">
                              <m:o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𝑑</m:t>
                                    </m:r>
                                  </m:e>
                                  <m:sub>
                                    <m:r>
                                      <a:rPr lang="en-US" b="0" i="1" smtClean="0">
                                        <a:latin typeface="Cambria Math" panose="02040503050406030204" pitchFamily="18" charset="0"/>
                                        <a:cs typeface="Times New Roman" panose="02020603050405020304" pitchFamily="18" charset="0"/>
                                      </a:rPr>
                                      <m:t>𝑝𝑚</m:t>
                                    </m:r>
                                  </m:sub>
                                </m:sSub>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𝑘</m:t>
                                </m:r>
                                <m:r>
                                  <a:rPr lang="en-US" b="0" i="1" smtClean="0">
                                    <a:latin typeface="Cambria Math" panose="02040503050406030204" pitchFamily="18" charset="0"/>
                                    <a:cs typeface="Times New Roman" panose="02020603050405020304" pitchFamily="18" charset="0"/>
                                  </a:rPr>
                                  <m:t>)/</m:t>
                                </m:r>
                                <m:sSub>
                                  <m:sSubPr>
                                    <m:ctrlPr>
                                      <a:rPr lang="en-US" b="0" i="1" baseline="0" smtClean="0">
                                        <a:latin typeface="Cambria Math" panose="02040503050406030204" pitchFamily="18" charset="0"/>
                                        <a:cs typeface="Times New Roman" panose="02020603050405020304" pitchFamily="18" charset="0"/>
                                      </a:rPr>
                                    </m:ctrlPr>
                                  </m:sSubPr>
                                  <m:e>
                                    <m:r>
                                      <a:rPr lang="en-US" b="0" i="1" baseline="0" smtClean="0">
                                        <a:latin typeface="Cambria Math" panose="02040503050406030204" pitchFamily="18" charset="0"/>
                                        <a:cs typeface="Times New Roman" panose="02020603050405020304" pitchFamily="18" charset="0"/>
                                      </a:rPr>
                                      <m:t>𝑑</m:t>
                                    </m:r>
                                  </m:e>
                                  <m:sub>
                                    <m:r>
                                      <a:rPr lang="en-US" b="0" i="1" baseline="0" smtClean="0">
                                        <a:latin typeface="Cambria Math" panose="02040503050406030204" pitchFamily="18" charset="0"/>
                                        <a:cs typeface="Times New Roman" panose="02020603050405020304" pitchFamily="18" charset="0"/>
                                      </a:rPr>
                                      <m:t>𝑚</m:t>
                                    </m:r>
                                  </m:sub>
                                </m:sSub>
                                <m:r>
                                  <a:rPr lang="en-US" b="0" i="1" baseline="0" smtClean="0">
                                    <a:latin typeface="Cambria Math" panose="02040503050406030204" pitchFamily="18" charset="0"/>
                                    <a:cs typeface="Times New Roman" panose="02020603050405020304" pitchFamily="18" charset="0"/>
                                  </a:rPr>
                                  <m:t>(</m:t>
                                </m:r>
                                <m:r>
                                  <a:rPr lang="en-US" b="0" i="1" baseline="0" smtClean="0">
                                    <a:latin typeface="Cambria Math" panose="02040503050406030204" pitchFamily="18" charset="0"/>
                                    <a:cs typeface="Times New Roman" panose="02020603050405020304" pitchFamily="18" charset="0"/>
                                  </a:rPr>
                                  <m:t>𝑘</m:t>
                                </m:r>
                                <m:r>
                                  <a:rPr lang="en-US" b="0" i="1" baseline="0" smtClean="0">
                                    <a:latin typeface="Cambria Math" panose="02040503050406030204" pitchFamily="18" charset="0"/>
                                    <a:cs typeface="Times New Roman" panose="02020603050405020304" pitchFamily="18" charset="0"/>
                                  </a:rPr>
                                  <m:t>)</m:t>
                                </m:r>
                              </m:oMath>
                            </m:oMathPara>
                          </a14:m>
                          <a:endParaRPr lang="en-US" dirty="0">
                            <a:latin typeface="Times New Roman" panose="02020603050405020304" pitchFamily="18" charset="0"/>
                            <a:cs typeface="Times New Roman" panose="02020603050405020304" pitchFamily="18" charset="0"/>
                          </a:endParaRP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Activity related to the diffuse effect of the</a:t>
                          </a:r>
                          <a:r>
                            <a:rPr lang="fa-I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subthalamic nucleus in the Premotor/Motor  area.</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81147300"/>
                      </a:ext>
                    </a:extLst>
                  </a:tr>
                </a:tbl>
              </a:graphicData>
            </a:graphic>
          </p:graphicFrame>
        </mc:Choice>
        <mc:Fallback xmlns="">
          <p:graphicFrame>
            <p:nvGraphicFramePr>
              <p:cNvPr id="11" name="Table 10">
                <a:extLst>
                  <a:ext uri="{FF2B5EF4-FFF2-40B4-BE49-F238E27FC236}">
                    <a16:creationId xmlns:a16="http://schemas.microsoft.com/office/drawing/2014/main" id="{48F488FD-E8D6-6A1A-55EC-F6D63EF3E1C7}"/>
                  </a:ext>
                </a:extLst>
              </p:cNvPr>
              <p:cNvGraphicFramePr>
                <a:graphicFrameLocks noGrp="1"/>
              </p:cNvGraphicFramePr>
              <p:nvPr>
                <p:extLst>
                  <p:ext uri="{D42A27DB-BD31-4B8C-83A1-F6EECF244321}">
                    <p14:modId xmlns:p14="http://schemas.microsoft.com/office/powerpoint/2010/main" val="604236142"/>
                  </p:ext>
                </p:extLst>
              </p:nvPr>
            </p:nvGraphicFramePr>
            <p:xfrm>
              <a:off x="225909" y="3629703"/>
              <a:ext cx="8692182" cy="3009934"/>
            </p:xfrm>
            <a:graphic>
              <a:graphicData uri="http://schemas.openxmlformats.org/drawingml/2006/table">
                <a:tbl>
                  <a:tblPr/>
                  <a:tblGrid>
                    <a:gridCol w="3058467">
                      <a:extLst>
                        <a:ext uri="{9D8B030D-6E8A-4147-A177-3AD203B41FA5}">
                          <a16:colId xmlns:a16="http://schemas.microsoft.com/office/drawing/2014/main" val="1958308255"/>
                        </a:ext>
                      </a:extLst>
                    </a:gridCol>
                    <a:gridCol w="5633715">
                      <a:extLst>
                        <a:ext uri="{9D8B030D-6E8A-4147-A177-3AD203B41FA5}">
                          <a16:colId xmlns:a16="http://schemas.microsoft.com/office/drawing/2014/main" val="2433699028"/>
                        </a:ext>
                      </a:extLst>
                    </a:gridCol>
                  </a:tblGrid>
                  <a:tr h="385669">
                    <a:tc>
                      <a:txBody>
                        <a:bodyPr/>
                        <a:lstStyle/>
                        <a:p>
                          <a:pPr>
                            <a:buNone/>
                          </a:pPr>
                          <a:r>
                            <a:rPr lang="en-US" dirty="0">
                              <a:latin typeface="Times New Roman" panose="02020603050405020304" pitchFamily="18" charset="0"/>
                              <a:cs typeface="Times New Roman" panose="02020603050405020304" pitchFamily="18" charset="0"/>
                            </a:rPr>
                            <a:t>Premotor Loop State Variables</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Description</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5410535"/>
                      </a:ext>
                    </a:extLst>
                  </a:tr>
                  <a:tr h="386969">
                    <a:tc>
                      <a:txBody>
                        <a:bodyPr/>
                        <a:lstStyle/>
                        <a:p>
                          <a:endParaRPr lang="en-US"/>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blipFill>
                          <a:blip r:embed="rId5"/>
                          <a:stretch>
                            <a:fillRect l="-199" t="-103125" r="-184462" b="-576563"/>
                          </a:stretch>
                        </a:blipFill>
                      </a:tcPr>
                    </a:tc>
                    <a:tc>
                      <a:txBody>
                        <a:bodyPr/>
                        <a:lstStyle/>
                        <a:p>
                          <a:pPr>
                            <a:buNone/>
                          </a:pPr>
                          <a:r>
                            <a:rPr lang="en-US" dirty="0">
                              <a:latin typeface="Times New Roman" panose="02020603050405020304" pitchFamily="18" charset="0"/>
                              <a:cs typeface="Times New Roman" panose="02020603050405020304" pitchFamily="18" charset="0"/>
                            </a:rPr>
                            <a:t>Activity in the Premotor/Motor pathway.</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7791854"/>
                      </a:ext>
                    </a:extLst>
                  </a:tr>
                  <a:tr h="386969">
                    <a:tc>
                      <a:txBody>
                        <a:bodyPr/>
                        <a:lstStyle/>
                        <a:p>
                          <a:endParaRPr lang="en-US"/>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blipFill>
                          <a:blip r:embed="rId5"/>
                          <a:stretch>
                            <a:fillRect l="-199" t="-203125" r="-184462" b="-476563"/>
                          </a:stretch>
                        </a:blipFill>
                      </a:tcPr>
                    </a:tc>
                    <a:tc>
                      <a:txBody>
                        <a:bodyPr/>
                        <a:lstStyle/>
                        <a:p>
                          <a:pPr>
                            <a:buNone/>
                          </a:pPr>
                          <a:r>
                            <a:rPr lang="en-US" dirty="0">
                              <a:latin typeface="Times New Roman" panose="02020603050405020304" pitchFamily="18" charset="0"/>
                              <a:cs typeface="Times New Roman" panose="02020603050405020304" pitchFamily="18" charset="0"/>
                            </a:rPr>
                            <a:t>Activity of the Premotor/Motor  circuits.</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31519882"/>
                      </a:ext>
                    </a:extLst>
                  </a:tr>
                  <a:tr h="386969">
                    <a:tc>
                      <a:txBody>
                        <a:bodyPr/>
                        <a:lstStyle/>
                        <a:p>
                          <a:endParaRPr lang="en-US"/>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blipFill>
                          <a:blip r:embed="rId5"/>
                          <a:stretch>
                            <a:fillRect l="-199" t="-307937" r="-184462" b="-384127"/>
                          </a:stretch>
                        </a:blipFill>
                      </a:tcPr>
                    </a:tc>
                    <a:tc>
                      <a:txBody>
                        <a:bodyPr/>
                        <a:lstStyle/>
                        <a:p>
                          <a:pPr>
                            <a:buNone/>
                          </a:pPr>
                          <a:r>
                            <a:rPr lang="en-US" dirty="0">
                              <a:latin typeface="Times New Roman" panose="02020603050405020304" pitchFamily="18" charset="0"/>
                              <a:cs typeface="Times New Roman" panose="02020603050405020304" pitchFamily="18" charset="0"/>
                            </a:rPr>
                            <a:t>Activity related to striatal influence.</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15838176"/>
                      </a:ext>
                    </a:extLst>
                  </a:tr>
                  <a:tr h="602559">
                    <a:tc>
                      <a:txBody>
                        <a:bodyPr/>
                        <a:lstStyle/>
                        <a:p>
                          <a:endParaRPr lang="en-US"/>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blipFill>
                          <a:blip r:embed="rId5"/>
                          <a:stretch>
                            <a:fillRect l="-199" t="-259596" r="-184462" b="-144444"/>
                          </a:stretch>
                        </a:blipFill>
                      </a:tcPr>
                    </a:tc>
                    <a:tc>
                      <a:txBody>
                        <a:bodyPr/>
                        <a:lstStyle/>
                        <a:p>
                          <a:pPr>
                            <a:buNone/>
                          </a:pPr>
                          <a:r>
                            <a:rPr lang="en-US" dirty="0">
                              <a:latin typeface="Times New Roman" panose="02020603050405020304" pitchFamily="18" charset="0"/>
                              <a:cs typeface="Times New Roman" panose="02020603050405020304" pitchFamily="18" charset="0"/>
                            </a:rPr>
                            <a:t>Neuronal activity in the Premotor/Motor  area.</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16001376"/>
                      </a:ext>
                    </a:extLst>
                  </a:tr>
                  <a:tr h="860799">
                    <a:tc>
                      <a:txBody>
                        <a:bodyPr/>
                        <a:lstStyle/>
                        <a:p>
                          <a:endParaRPr lang="en-US"/>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blipFill>
                          <a:blip r:embed="rId5"/>
                          <a:stretch>
                            <a:fillRect l="-199" t="-250704" r="-184462" b="-704"/>
                          </a:stretch>
                        </a:blipFill>
                      </a:tcPr>
                    </a:tc>
                    <a:tc>
                      <a:txBody>
                        <a:bodyPr/>
                        <a:lstStyle/>
                        <a:p>
                          <a:pPr>
                            <a:buNone/>
                          </a:pPr>
                          <a:r>
                            <a:rPr lang="en-US" dirty="0">
                              <a:latin typeface="Times New Roman" panose="02020603050405020304" pitchFamily="18" charset="0"/>
                              <a:cs typeface="Times New Roman" panose="02020603050405020304" pitchFamily="18" charset="0"/>
                            </a:rPr>
                            <a:t>Activity related to the diffuse effect of the</a:t>
                          </a:r>
                          <a:r>
                            <a:rPr lang="fa-I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subthalamic nucleus in the Premotor/Motor  area.</a:t>
                          </a:r>
                        </a:p>
                      </a:txBody>
                      <a:tcPr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81147300"/>
                      </a:ext>
                    </a:extLst>
                  </a:tr>
                </a:tbl>
              </a:graphicData>
            </a:graphic>
          </p:graphicFrame>
        </mc:Fallback>
      </mc:AlternateContent>
    </p:spTree>
    <p:extLst>
      <p:ext uri="{BB962C8B-B14F-4D97-AF65-F5344CB8AC3E}">
        <p14:creationId xmlns:p14="http://schemas.microsoft.com/office/powerpoint/2010/main" val="2764899234"/>
      </p:ext>
    </p:extLst>
  </p:cSld>
  <p:clrMapOvr>
    <a:masterClrMapping/>
  </p:clrMapOvr>
  <mc:AlternateContent xmlns:mc="http://schemas.openxmlformats.org/markup-compatibility/2006" xmlns:p14="http://schemas.microsoft.com/office/powerpoint/2010/main">
    <mc:Choice Requires="p14">
      <p:transition spd="slow" p14:dur="2000" advTm="121648"/>
    </mc:Choice>
    <mc:Fallback xmlns="">
      <p:transition spd="slow" advTm="12164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0B328-317B-3055-9796-FEAE42466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B4349-0519-E54C-FF41-A15E9DE1636C}"/>
              </a:ext>
            </a:extLst>
          </p:cNvPr>
          <p:cNvSpPr>
            <a:spLocks noGrp="1"/>
          </p:cNvSpPr>
          <p:nvPr>
            <p:ph type="title"/>
          </p:nvPr>
        </p:nvSpPr>
        <p:spPr>
          <a:xfrm>
            <a:off x="15455" y="325965"/>
            <a:ext cx="7055380" cy="744704"/>
          </a:xfrm>
        </p:spPr>
        <p:txBody>
          <a:bodyPr/>
          <a:lstStyle/>
          <a:p>
            <a:r>
              <a:rPr lang="en-US" dirty="0">
                <a:latin typeface="Times New Roman" panose="02020603050405020304" pitchFamily="18" charset="0"/>
                <a:cs typeface="Times New Roman" panose="02020603050405020304" pitchFamily="18" charset="0"/>
              </a:rPr>
              <a:t>Action Selection Equations</a:t>
            </a:r>
          </a:p>
        </p:txBody>
      </p:sp>
      <p:pic>
        <p:nvPicPr>
          <p:cNvPr id="3" name="Picture 2">
            <a:extLst>
              <a:ext uri="{FF2B5EF4-FFF2-40B4-BE49-F238E27FC236}">
                <a16:creationId xmlns:a16="http://schemas.microsoft.com/office/drawing/2014/main" id="{E4DFCD4A-12F6-DC59-A9DA-C3B89BF1EC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6B83B1C-9AA3-6CB6-9C3C-101E890F62D5}"/>
                  </a:ext>
                </a:extLst>
              </p:cNvPr>
              <p:cNvSpPr>
                <a:spLocks noGrp="1"/>
              </p:cNvSpPr>
              <p:nvPr>
                <p:ph idx="1"/>
              </p:nvPr>
            </p:nvSpPr>
            <p:spPr>
              <a:xfrm>
                <a:off x="15455" y="1213171"/>
                <a:ext cx="8430925" cy="4982356"/>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Premotor</a:t>
                </a:r>
              </a:p>
              <a:p>
                <a:pPr marL="0" indent="0" algn="just">
                  <a:buNone/>
                </a:pPr>
                <a14:m>
                  <m:oMathPara xmlns:m="http://schemas.openxmlformats.org/officeDocument/2006/math">
                    <m:o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𝑝</m:t>
                          </m:r>
                        </m:e>
                        <m:sub>
                          <m:r>
                            <a:rPr lang="en-US" sz="1800" b="0" i="1" smtClean="0">
                              <a:latin typeface="Cambria Math" panose="02040503050406030204" pitchFamily="18" charset="0"/>
                              <a:cs typeface="Times New Roman" panose="02020603050405020304" pitchFamily="18" charset="0"/>
                            </a:rPr>
                            <m:t>𝑝𝑚</m:t>
                          </m:r>
                        </m:sub>
                      </m:sSub>
                      <m:d>
                        <m:dPr>
                          <m:ctrlPr>
                            <a:rPr lang="en-US" sz="1800" b="0" i="1" smtClean="0">
                              <a:latin typeface="Cambria Math" panose="02040503050406030204" pitchFamily="18" charset="0"/>
                              <a:cs typeface="Times New Roman" panose="02020603050405020304" pitchFamily="18" charset="0"/>
                            </a:rPr>
                          </m:ctrlPr>
                        </m:dPr>
                        <m:e>
                          <m:r>
                            <a:rPr lang="en-US" sz="1800" b="0" i="1" smtClean="0">
                              <a:latin typeface="Cambria Math" panose="02040503050406030204" pitchFamily="18" charset="0"/>
                              <a:cs typeface="Times New Roman" panose="02020603050405020304" pitchFamily="18" charset="0"/>
                            </a:rPr>
                            <m:t>𝑘</m:t>
                          </m:r>
                          <m:r>
                            <a:rPr lang="en-US" sz="1800" b="0" i="1" smtClean="0">
                              <a:latin typeface="Cambria Math" panose="02040503050406030204" pitchFamily="18" charset="0"/>
                              <a:cs typeface="Times New Roman" panose="02020603050405020304" pitchFamily="18" charset="0"/>
                            </a:rPr>
                            <m:t>+1</m:t>
                          </m:r>
                        </m:e>
                      </m:d>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𝑓</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𝜆</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𝑝</m:t>
                          </m:r>
                        </m:e>
                        <m:sub>
                          <m:r>
                            <a:rPr lang="en-US" sz="1800" b="0" i="1" smtClean="0">
                              <a:latin typeface="Cambria Math" panose="02040503050406030204" pitchFamily="18" charset="0"/>
                              <a:cs typeface="Times New Roman" panose="02020603050405020304" pitchFamily="18" charset="0"/>
                            </a:rPr>
                            <m:t>𝑝𝑚</m:t>
                          </m:r>
                        </m:sub>
                      </m:sSub>
                      <m:d>
                        <m:dPr>
                          <m:ctrlPr>
                            <a:rPr lang="en-US" sz="1800" b="0" i="1" smtClean="0">
                              <a:latin typeface="Cambria Math" panose="02040503050406030204" pitchFamily="18" charset="0"/>
                              <a:cs typeface="Times New Roman" panose="02020603050405020304" pitchFamily="18" charset="0"/>
                            </a:rPr>
                          </m:ctrlPr>
                        </m:dPr>
                        <m:e>
                          <m:r>
                            <a:rPr lang="en-US" sz="1800" b="0" i="1" smtClean="0">
                              <a:latin typeface="Cambria Math" panose="02040503050406030204" pitchFamily="18" charset="0"/>
                              <a:cs typeface="Times New Roman" panose="02020603050405020304" pitchFamily="18" charset="0"/>
                            </a:rPr>
                            <m:t>𝑘</m:t>
                          </m:r>
                        </m:e>
                      </m:d>
                      <m:r>
                        <a:rPr lang="en-US" sz="1800" b="0" i="1" smtClean="0">
                          <a:latin typeface="Cambria Math" panose="02040503050406030204" pitchFamily="18" charset="0"/>
                          <a:cs typeface="Times New Roman" panose="02020603050405020304" pitchFamily="18" charset="0"/>
                        </a:rPr>
                        <m:t>+</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𝑚</m:t>
                          </m:r>
                        </m:e>
                        <m:sub>
                          <m:r>
                            <a:rPr lang="en-US" sz="1800" b="0" i="1" smtClean="0">
                              <a:latin typeface="Cambria Math" panose="02040503050406030204" pitchFamily="18" charset="0"/>
                              <a:cs typeface="Times New Roman" panose="02020603050405020304" pitchFamily="18" charset="0"/>
                            </a:rPr>
                            <m:t>𝑝𝑚</m:t>
                          </m:r>
                        </m:sub>
                      </m:sSub>
                      <m:d>
                        <m:dPr>
                          <m:ctrlPr>
                            <a:rPr lang="en-US" sz="1800" b="0" i="1" smtClean="0">
                              <a:latin typeface="Cambria Math" panose="02040503050406030204" pitchFamily="18" charset="0"/>
                              <a:cs typeface="Times New Roman" panose="02020603050405020304" pitchFamily="18" charset="0"/>
                            </a:rPr>
                          </m:ctrlPr>
                        </m:dPr>
                        <m:e>
                          <m:r>
                            <a:rPr lang="en-US" sz="1800" b="0" i="1" smtClean="0">
                              <a:latin typeface="Cambria Math" panose="02040503050406030204" pitchFamily="18" charset="0"/>
                              <a:cs typeface="Times New Roman" panose="02020603050405020304" pitchFamily="18" charset="0"/>
                            </a:rPr>
                            <m:t>𝑘</m:t>
                          </m:r>
                        </m:e>
                      </m:d>
                      <m:r>
                        <a:rPr lang="en-US" sz="1800" b="0" i="1" smtClean="0">
                          <a:latin typeface="Cambria Math" panose="02040503050406030204" pitchFamily="18" charset="0"/>
                          <a:cs typeface="Times New Roman" panose="02020603050405020304" pitchFamily="18" charset="0"/>
                        </a:rPr>
                        <m:t>+</m:t>
                      </m:r>
                      <m:sSub>
                        <m:sSubPr>
                          <m:ctrlPr>
                            <a:rPr lang="en-US" sz="1800" b="0" i="1" smtClean="0">
                              <a:latin typeface="Cambria Math" panose="02040503050406030204" pitchFamily="18" charset="0"/>
                              <a:cs typeface="Times New Roman" panose="02020603050405020304" pitchFamily="18" charset="0"/>
                            </a:rPr>
                          </m:ctrlPr>
                        </m:sSubPr>
                        <m:e>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𝑊</m:t>
                              </m:r>
                            </m:e>
                            <m:sub>
                              <m:r>
                                <a:rPr lang="en-US" sz="1800" b="0" i="1" smtClean="0">
                                  <a:latin typeface="Cambria Math" panose="02040503050406030204" pitchFamily="18" charset="0"/>
                                  <a:cs typeface="Times New Roman" panose="02020603050405020304" pitchFamily="18" charset="0"/>
                                </a:rPr>
                                <m:t>𝑐</m:t>
                              </m:r>
                            </m:sub>
                          </m:sSub>
                        </m:e>
                        <m:sub>
                          <m:r>
                            <a:rPr lang="en-US" sz="1800" b="0" i="1" smtClean="0">
                              <a:latin typeface="Cambria Math" panose="02040503050406030204" pitchFamily="18" charset="0"/>
                              <a:cs typeface="Times New Roman" panose="02020603050405020304" pitchFamily="18" charset="0"/>
                            </a:rPr>
                            <m:t>𝑝𝑚</m:t>
                          </m:r>
                        </m:sub>
                      </m:sSub>
                      <m:r>
                        <a:rPr lang="en-US" sz="1800" b="0" i="1" smtClean="0">
                          <a:latin typeface="Cambria Math" panose="02040503050406030204" pitchFamily="18" charset="0"/>
                          <a:cs typeface="Times New Roman" panose="02020603050405020304" pitchFamily="18" charset="0"/>
                        </a:rPr>
                        <m:t>𝐼</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𝑘</m:t>
                      </m:r>
                      <m:r>
                        <a:rPr lang="en-US" sz="1800" b="0" i="1" smtClean="0">
                          <a:latin typeface="Cambria Math" panose="02040503050406030204" pitchFamily="18" charset="0"/>
                          <a:cs typeface="Times New Roman" panose="020206030504050203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𝑚</m:t>
                          </m:r>
                        </m:e>
                        <m:sub>
                          <m:r>
                            <a:rPr lang="en-US" sz="1800" i="1">
                              <a:latin typeface="Cambria Math" panose="02040503050406030204" pitchFamily="18" charset="0"/>
                              <a:cs typeface="Times New Roman" panose="02020603050405020304" pitchFamily="18" charset="0"/>
                            </a:rPr>
                            <m:t>𝑝𝑚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+1</m:t>
                          </m:r>
                        </m:e>
                      </m:d>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𝑓</m:t>
                      </m:r>
                      <m:d>
                        <m:dPr>
                          <m:ctrlPr>
                            <a:rPr lang="en-US" sz="1800" i="1">
                              <a:latin typeface="Cambria Math" panose="02040503050406030204" pitchFamily="18" charset="0"/>
                              <a:cs typeface="Times New Roman" panose="02020603050405020304" pitchFamily="18" charset="0"/>
                            </a:rPr>
                          </m:ctrlPr>
                        </m:dPr>
                        <m:e>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𝑝</m:t>
                              </m:r>
                            </m:e>
                            <m:sub>
                              <m:r>
                                <a:rPr lang="en-US" sz="1800" i="1">
                                  <a:latin typeface="Cambria Math" panose="02040503050406030204" pitchFamily="18" charset="0"/>
                                  <a:cs typeface="Times New Roman" panose="02020603050405020304" pitchFamily="18" charset="0"/>
                                </a:rPr>
                                <m:t>𝑝𝑚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e>
                          </m:d>
                          <m:r>
                            <a:rPr lang="en-US" sz="1800" b="0" i="1" smtClean="0">
                              <a:latin typeface="Cambria Math" panose="02040503050406030204" pitchFamily="18" charset="0"/>
                              <a:cs typeface="Times New Roman" panose="02020603050405020304" pitchFamily="18" charset="0"/>
                            </a:rPr>
                            <m:t>−</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𝑑</m:t>
                              </m:r>
                            </m:e>
                            <m:sub>
                              <m:r>
                                <a:rPr lang="en-US" sz="1800" b="0" i="1" smtClean="0">
                                  <a:latin typeface="Cambria Math" panose="02040503050406030204" pitchFamily="18" charset="0"/>
                                  <a:cs typeface="Times New Roman" panose="02020603050405020304" pitchFamily="18" charset="0"/>
                                </a:rPr>
                                <m:t>𝑝𝑚</m:t>
                              </m:r>
                            </m:sub>
                          </m:sSub>
                          <m:d>
                            <m:dPr>
                              <m:ctrlPr>
                                <a:rPr lang="en-US" sz="1800" b="0" i="1" smtClean="0">
                                  <a:latin typeface="Cambria Math" panose="02040503050406030204" pitchFamily="18" charset="0"/>
                                  <a:cs typeface="Times New Roman" panose="02020603050405020304" pitchFamily="18" charset="0"/>
                                </a:rPr>
                              </m:ctrlPr>
                            </m:dPr>
                            <m:e>
                              <m:r>
                                <a:rPr lang="en-US" sz="1800" b="0" i="1" smtClean="0">
                                  <a:latin typeface="Cambria Math" panose="02040503050406030204" pitchFamily="18" charset="0"/>
                                  <a:cs typeface="Times New Roman" panose="02020603050405020304" pitchFamily="18" charset="0"/>
                                </a:rPr>
                                <m:t>𝑘</m:t>
                              </m:r>
                            </m:e>
                          </m:d>
                        </m:e>
                      </m:d>
                    </m:oMath>
                  </m:oMathPara>
                </a14:m>
                <a:endParaRPr lang="en-US"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𝑟</m:t>
                          </m:r>
                        </m:e>
                        <m:sub>
                          <m:r>
                            <a:rPr lang="en-US" sz="1800" b="0" i="1" smtClean="0">
                              <a:latin typeface="Cambria Math" panose="02040503050406030204" pitchFamily="18" charset="0"/>
                              <a:cs typeface="Times New Roman" panose="02020603050405020304" pitchFamily="18" charset="0"/>
                            </a:rPr>
                            <m:t>𝑝𝑚</m:t>
                          </m:r>
                        </m:sub>
                      </m:sSub>
                      <m:d>
                        <m:dPr>
                          <m:ctrlPr>
                            <a:rPr lang="en-US" sz="1800" b="0" i="1" smtClean="0">
                              <a:latin typeface="Cambria Math" panose="02040503050406030204" pitchFamily="18" charset="0"/>
                              <a:cs typeface="Times New Roman" panose="02020603050405020304" pitchFamily="18" charset="0"/>
                            </a:rPr>
                          </m:ctrlPr>
                        </m:dPr>
                        <m:e>
                          <m:r>
                            <a:rPr lang="en-US" sz="1800" b="0" i="1" smtClean="0">
                              <a:latin typeface="Cambria Math" panose="02040503050406030204" pitchFamily="18" charset="0"/>
                              <a:cs typeface="Times New Roman" panose="02020603050405020304" pitchFamily="18" charset="0"/>
                            </a:rPr>
                            <m:t>𝑘</m:t>
                          </m:r>
                          <m:r>
                            <a:rPr lang="en-US" sz="1800" b="0" i="1" smtClean="0">
                              <a:latin typeface="Cambria Math" panose="02040503050406030204" pitchFamily="18" charset="0"/>
                              <a:cs typeface="Times New Roman" panose="02020603050405020304" pitchFamily="18" charset="0"/>
                            </a:rPr>
                            <m:t>+1</m:t>
                          </m:r>
                        </m:e>
                      </m:d>
                      <m:r>
                        <a:rPr lang="en-US" sz="1800" b="0" i="1" smtClean="0">
                          <a:latin typeface="Cambria Math" panose="02040503050406030204" pitchFamily="18" charset="0"/>
                          <a:cs typeface="Times New Roman" panose="02020603050405020304" pitchFamily="18" charset="0"/>
                        </a:rPr>
                        <m:t>=</m:t>
                      </m:r>
                      <m:sSub>
                        <m:sSubPr>
                          <m:ctrlPr>
                            <a:rPr lang="en-US" sz="1800" b="0" i="1" smtClean="0">
                              <a:latin typeface="Cambria Math" panose="02040503050406030204" pitchFamily="18" charset="0"/>
                              <a:cs typeface="Times New Roman" panose="02020603050405020304" pitchFamily="18" charset="0"/>
                            </a:rPr>
                          </m:ctrlPr>
                        </m:sSubPr>
                        <m:e>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𝑊</m:t>
                              </m:r>
                            </m:e>
                            <m:sub>
                              <m:r>
                                <a:rPr lang="en-US" sz="1800" b="0" i="1" smtClean="0">
                                  <a:latin typeface="Cambria Math" panose="02040503050406030204" pitchFamily="18" charset="0"/>
                                  <a:cs typeface="Times New Roman" panose="02020603050405020304" pitchFamily="18" charset="0"/>
                                </a:rPr>
                                <m:t>𝑟</m:t>
                              </m:r>
                            </m:sub>
                          </m:sSub>
                        </m:e>
                        <m:sub>
                          <m:r>
                            <a:rPr lang="en-US" sz="1800" b="0" i="1" smtClean="0">
                              <a:latin typeface="Cambria Math" panose="02040503050406030204" pitchFamily="18" charset="0"/>
                              <a:cs typeface="Times New Roman" panose="02020603050405020304" pitchFamily="18" charset="0"/>
                            </a:rPr>
                            <m:t>𝑝𝑚</m:t>
                          </m:r>
                        </m:sub>
                      </m:sSub>
                      <m:r>
                        <a:rPr lang="en-US" sz="1800" b="0" i="1" smtClean="0">
                          <a:latin typeface="Cambria Math" panose="02040503050406030204" pitchFamily="18" charset="0"/>
                          <a:cs typeface="Times New Roman" panose="02020603050405020304" pitchFamily="18" charset="0"/>
                        </a:rPr>
                        <m:t>𝑓</m:t>
                      </m:r>
                      <m:r>
                        <a:rPr lang="en-US" sz="1800" b="0" i="1" smtClean="0">
                          <a:latin typeface="Cambria Math" panose="02040503050406030204" pitchFamily="18" charset="0"/>
                          <a:cs typeface="Times New Roman" panose="02020603050405020304" pitchFamily="18" charset="0"/>
                        </a:rPr>
                        <m:t>(</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𝑝</m:t>
                          </m:r>
                        </m:e>
                        <m:sub>
                          <m:r>
                            <a:rPr lang="en-US" sz="1800" b="0" i="1" smtClean="0">
                              <a:latin typeface="Cambria Math" panose="02040503050406030204" pitchFamily="18" charset="0"/>
                              <a:cs typeface="Times New Roman" panose="02020603050405020304" pitchFamily="18" charset="0"/>
                            </a:rPr>
                            <m:t>𝑝𝑚</m:t>
                          </m:r>
                        </m:sub>
                      </m:sSub>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𝑘</m:t>
                      </m:r>
                      <m:r>
                        <a:rPr lang="en-US" sz="1800" b="0" i="1" smtClean="0">
                          <a:latin typeface="Cambria Math" panose="02040503050406030204" pitchFamily="18" charset="0"/>
                          <a:cs typeface="Times New Roman" panose="020206030504050203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i="1">
                              <a:latin typeface="Cambria Math" panose="02040503050406030204" pitchFamily="18" charset="0"/>
                              <a:cs typeface="Times New Roman" panose="02020603050405020304" pitchFamily="18" charset="0"/>
                            </a:rPr>
                            <m:t>𝑝𝑚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+1</m:t>
                          </m:r>
                        </m:e>
                      </m:d>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𝑓</m:t>
                      </m:r>
                      <m:r>
                        <a:rPr lang="en-US" sz="1800" i="1">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𝑝</m:t>
                          </m:r>
                        </m:e>
                        <m:sub>
                          <m:r>
                            <a:rPr lang="en-US" sz="1800" i="1">
                              <a:latin typeface="Cambria Math" panose="02040503050406030204" pitchFamily="18" charset="0"/>
                              <a:cs typeface="Times New Roman" panose="02020603050405020304" pitchFamily="18" charset="0"/>
                            </a:rPr>
                            <m:t>𝑝𝑚</m:t>
                          </m:r>
                        </m:sub>
                      </m:sSub>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𝑑</m:t>
                          </m:r>
                        </m:e>
                        <m:sub>
                          <m:r>
                            <a:rPr lang="en-US" sz="1800" i="1">
                              <a:latin typeface="Cambria Math" panose="02040503050406030204" pitchFamily="18" charset="0"/>
                              <a:cs typeface="Times New Roman" panose="02020603050405020304" pitchFamily="18" charset="0"/>
                            </a:rPr>
                            <m:t>𝑝𝑚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+1</m:t>
                          </m:r>
                        </m:e>
                      </m:d>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𝑓</m:t>
                      </m:r>
                      <m:r>
                        <a:rPr lang="en-US" sz="1800" i="1">
                          <a:latin typeface="Cambria Math" panose="02040503050406030204" pitchFamily="18" charset="0"/>
                          <a:cs typeface="Times New Roman" panose="02020603050405020304" pitchFamily="18" charset="0"/>
                        </a:rPr>
                        <m:t>(</m:t>
                      </m:r>
                      <m:sSub>
                        <m:sSubPr>
                          <m:ctrlPr>
                            <a:rPr lang="en-US" sz="1800" b="0" i="1" smtClean="0">
                              <a:latin typeface="Cambria Math" panose="02040503050406030204" pitchFamily="18" charset="0"/>
                              <a:cs typeface="Times New Roman" panose="02020603050405020304" pitchFamily="18" charset="0"/>
                            </a:rPr>
                          </m:ctrlPr>
                        </m:sSubPr>
                        <m:e>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𝑊</m:t>
                              </m:r>
                            </m:e>
                            <m:sub>
                              <m:r>
                                <a:rPr lang="en-US" sz="1800" b="0" i="1" smtClean="0">
                                  <a:latin typeface="Cambria Math" panose="02040503050406030204" pitchFamily="18" charset="0"/>
                                  <a:cs typeface="Times New Roman" panose="02020603050405020304" pitchFamily="18" charset="0"/>
                                </a:rPr>
                                <m:t>𝑑</m:t>
                              </m:r>
                            </m:sub>
                          </m:sSub>
                        </m:e>
                        <m:sub>
                          <m:r>
                            <a:rPr lang="en-US" sz="1800" b="0" i="1" smtClean="0">
                              <a:latin typeface="Cambria Math" panose="02040503050406030204" pitchFamily="18" charset="0"/>
                              <a:cs typeface="Times New Roman" panose="02020603050405020304" pitchFamily="18" charset="0"/>
                            </a:rPr>
                            <m:t>𝑝𝑚</m:t>
                          </m:r>
                        </m:sub>
                      </m:sSub>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𝑛</m:t>
                          </m:r>
                        </m:e>
                        <m:sub>
                          <m:r>
                            <a:rPr lang="en-US" sz="1800" b="0" i="1" smtClean="0">
                              <a:latin typeface="Cambria Math" panose="02040503050406030204" pitchFamily="18" charset="0"/>
                              <a:cs typeface="Times New Roman" panose="02020603050405020304" pitchFamily="18" charset="0"/>
                            </a:rPr>
                            <m:t>𝑝𝑚</m:t>
                          </m:r>
                        </m:sub>
                      </m:sSub>
                      <m:d>
                        <m:dPr>
                          <m:ctrlPr>
                            <a:rPr lang="en-US" sz="1800" b="0" i="1" smtClean="0">
                              <a:latin typeface="Cambria Math" panose="02040503050406030204" pitchFamily="18" charset="0"/>
                              <a:cs typeface="Times New Roman" panose="02020603050405020304" pitchFamily="18" charset="0"/>
                            </a:rPr>
                          </m:ctrlPr>
                        </m:dPr>
                        <m:e>
                          <m:r>
                            <a:rPr lang="en-US" sz="1800" b="0" i="1" smtClean="0">
                              <a:latin typeface="Cambria Math" panose="02040503050406030204" pitchFamily="18" charset="0"/>
                              <a:cs typeface="Times New Roman" panose="02020603050405020304" pitchFamily="18" charset="0"/>
                            </a:rPr>
                            <m:t>𝑘</m:t>
                          </m:r>
                        </m:e>
                      </m:d>
                      <m:r>
                        <a:rPr lang="en-US" sz="1800" b="0" i="1" smtClean="0">
                          <a:latin typeface="Cambria Math" panose="02040503050406030204" pitchFamily="18" charset="0"/>
                          <a:cs typeface="Times New Roman" panose="02020603050405020304" pitchFamily="18" charset="0"/>
                        </a:rPr>
                        <m:t> −</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𝑟</m:t>
                          </m:r>
                        </m:e>
                        <m:sub>
                          <m:r>
                            <a:rPr lang="en-US" sz="1800" b="0" i="1" smtClean="0">
                              <a:latin typeface="Cambria Math" panose="02040503050406030204" pitchFamily="18" charset="0"/>
                              <a:cs typeface="Times New Roman" panose="02020603050405020304" pitchFamily="18" charset="0"/>
                            </a:rPr>
                            <m:t>𝑝𝑚</m:t>
                          </m:r>
                        </m:sub>
                      </m:sSub>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𝑘</m:t>
                      </m:r>
                      <m:r>
                        <a:rPr lang="en-US" sz="1800" b="0" i="1" smtClean="0">
                          <a:latin typeface="Cambria Math" panose="02040503050406030204" pitchFamily="18" charset="0"/>
                          <a:cs typeface="Times New Roman" panose="020206030504050203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Motor</a:t>
                </a:r>
              </a:p>
              <a:p>
                <a:pPr marL="0" indent="0" algn="just">
                  <a:buNone/>
                </a:pPr>
                <a14:m>
                  <m:oMathPara xmlns:m="http://schemas.openxmlformats.org/officeDocument/2006/math">
                    <m:o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𝑝</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+1</m:t>
                          </m:r>
                        </m:e>
                      </m:d>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𝑓</m:t>
                      </m:r>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𝜆</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𝑝</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e>
                      </m:d>
                      <m:r>
                        <a:rPr lang="en-US" sz="1800" i="1">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𝑚</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e>
                      </m:d>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𝛽</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𝑝</m:t>
                          </m:r>
                        </m:e>
                        <m:sub>
                          <m:r>
                            <a:rPr lang="en-US" sz="1800" b="0" i="1" smtClean="0">
                              <a:latin typeface="Cambria Math" panose="02040503050406030204" pitchFamily="18" charset="0"/>
                              <a:cs typeface="Times New Roman" panose="02020603050405020304" pitchFamily="18" charset="0"/>
                            </a:rPr>
                            <m:t>𝑝𝑚</m:t>
                          </m:r>
                        </m:sub>
                      </m:sSub>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𝑛𝑜𝑖𝑠𝑒</m:t>
                      </m:r>
                      <m:r>
                        <a:rPr lang="en-US" sz="1800" i="1">
                          <a:latin typeface="Cambria Math" panose="02040503050406030204" pitchFamily="18" charset="0"/>
                          <a:cs typeface="Times New Roman" panose="020206030504050203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𝑚</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+1</m:t>
                          </m:r>
                        </m:e>
                      </m:d>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𝑓</m:t>
                      </m:r>
                      <m:d>
                        <m:dPr>
                          <m:ctrlPr>
                            <a:rPr lang="en-US" sz="1800" i="1">
                              <a:latin typeface="Cambria Math" panose="02040503050406030204" pitchFamily="18" charset="0"/>
                              <a:cs typeface="Times New Roman" panose="02020603050405020304" pitchFamily="18" charset="0"/>
                            </a:rPr>
                          </m:ctrlPr>
                        </m:dPr>
                        <m:e>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𝑝</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e>
                          </m:d>
                          <m:r>
                            <a:rPr lang="en-US" sz="1800" b="0" i="1" smtClean="0">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𝑑</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e>
                          </m:d>
                        </m:e>
                      </m:d>
                    </m:oMath>
                  </m:oMathPara>
                </a14:m>
                <a:endParaRPr lang="en-US"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𝑟</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+1</m:t>
                          </m:r>
                        </m:e>
                      </m:d>
                      <m:r>
                        <a:rPr lang="en-US" sz="1800" i="1">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𝑊</m:t>
                              </m:r>
                            </m:e>
                            <m:sub>
                              <m:r>
                                <a:rPr lang="en-US" sz="1800" i="1">
                                  <a:latin typeface="Cambria Math" panose="02040503050406030204" pitchFamily="18" charset="0"/>
                                  <a:cs typeface="Times New Roman" panose="02020603050405020304" pitchFamily="18" charset="0"/>
                                </a:rPr>
                                <m:t>𝑟</m:t>
                              </m:r>
                            </m:sub>
                          </m:sSub>
                        </m:e>
                        <m:sub>
                          <m:r>
                            <a:rPr lang="en-US" sz="1800" i="1">
                              <a:latin typeface="Cambria Math" panose="02040503050406030204" pitchFamily="18" charset="0"/>
                              <a:cs typeface="Times New Roman" panose="02020603050405020304" pitchFamily="18" charset="0"/>
                            </a:rPr>
                            <m:t>𝑚</m:t>
                          </m:r>
                        </m:sub>
                      </m:sSub>
                      <m:r>
                        <a:rPr lang="en-US" sz="1800" i="1">
                          <a:latin typeface="Cambria Math" panose="02040503050406030204" pitchFamily="18" charset="0"/>
                          <a:cs typeface="Times New Roman" panose="02020603050405020304" pitchFamily="18" charset="0"/>
                        </a:rPr>
                        <m:t>𝑓</m:t>
                      </m:r>
                      <m:r>
                        <a:rPr lang="en-US" sz="1800" i="1">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𝑝</m:t>
                          </m:r>
                        </m:e>
                        <m:sub>
                          <m:r>
                            <a:rPr lang="en-US" sz="1800" i="1">
                              <a:latin typeface="Cambria Math" panose="02040503050406030204" pitchFamily="18" charset="0"/>
                              <a:cs typeface="Times New Roman" panose="02020603050405020304" pitchFamily="18" charset="0"/>
                            </a:rPr>
                            <m:t>𝑚</m:t>
                          </m:r>
                        </m:sub>
                      </m:sSub>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+1</m:t>
                          </m:r>
                        </m:e>
                      </m:d>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𝑓</m:t>
                      </m:r>
                      <m:r>
                        <a:rPr lang="en-US" sz="1800" i="1">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𝑝</m:t>
                          </m:r>
                        </m:e>
                        <m:sub>
                          <m:r>
                            <a:rPr lang="en-US" sz="1800" i="1">
                              <a:latin typeface="Cambria Math" panose="02040503050406030204" pitchFamily="18" charset="0"/>
                              <a:cs typeface="Times New Roman" panose="02020603050405020304" pitchFamily="18" charset="0"/>
                            </a:rPr>
                            <m:t>𝑚</m:t>
                          </m:r>
                        </m:sub>
                      </m:sSub>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𝑑</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+1</m:t>
                          </m:r>
                        </m:e>
                      </m:d>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𝑓</m:t>
                      </m:r>
                      <m:r>
                        <a:rPr lang="en-US" sz="1800" i="1">
                          <a:latin typeface="Cambria Math" panose="02040503050406030204" pitchFamily="18" charset="0"/>
                          <a:cs typeface="Times New Roman" panose="02020603050405020304" pitchFamily="18" charset="0"/>
                        </a:rPr>
                        <m:t>(</m:t>
                      </m:r>
                      <m:sSub>
                        <m:sSubPr>
                          <m:ctrlPr>
                            <a:rPr lang="en-US" sz="1800" i="1">
                              <a:latin typeface="Cambria Math" panose="02040503050406030204" pitchFamily="18" charset="0"/>
                              <a:cs typeface="Times New Roman" panose="02020603050405020304" pitchFamily="18" charset="0"/>
                            </a:rPr>
                          </m:ctrlPr>
                        </m:sSubPr>
                        <m:e>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𝑊</m:t>
                              </m:r>
                            </m:e>
                            <m:sub>
                              <m:r>
                                <a:rPr lang="en-US" sz="1800" i="1">
                                  <a:latin typeface="Cambria Math" panose="02040503050406030204" pitchFamily="18" charset="0"/>
                                  <a:cs typeface="Times New Roman" panose="02020603050405020304" pitchFamily="18" charset="0"/>
                                </a:rPr>
                                <m:t>𝑑</m:t>
                              </m:r>
                            </m:sub>
                          </m:sSub>
                        </m:e>
                        <m:sub>
                          <m:r>
                            <a:rPr lang="en-US" sz="1800" i="1">
                              <a:latin typeface="Cambria Math" panose="02040503050406030204" pitchFamily="18" charset="0"/>
                              <a:cs typeface="Times New Roman" panose="02020603050405020304" pitchFamily="18" charset="0"/>
                            </a:rPr>
                            <m:t>𝑚</m:t>
                          </m:r>
                        </m:sub>
                      </m:sSub>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𝑛</m:t>
                          </m:r>
                        </m:e>
                        <m:sub>
                          <m:r>
                            <a:rPr lang="en-US" sz="1800" i="1">
                              <a:latin typeface="Cambria Math" panose="02040503050406030204" pitchFamily="18" charset="0"/>
                              <a:cs typeface="Times New Roman" panose="02020603050405020304" pitchFamily="18" charset="0"/>
                            </a:rPr>
                            <m:t>𝑚</m:t>
                          </m:r>
                        </m:sub>
                      </m:sSub>
                      <m:d>
                        <m:dPr>
                          <m:ctrlPr>
                            <a:rPr lang="en-US" sz="1800" i="1">
                              <a:latin typeface="Cambria Math" panose="02040503050406030204" pitchFamily="18" charset="0"/>
                              <a:cs typeface="Times New Roman" panose="02020603050405020304" pitchFamily="18" charset="0"/>
                            </a:rPr>
                          </m:ctrlPr>
                        </m:dPr>
                        <m:e>
                          <m:r>
                            <a:rPr lang="en-US" sz="1800" i="1">
                              <a:latin typeface="Cambria Math" panose="02040503050406030204" pitchFamily="18" charset="0"/>
                              <a:cs typeface="Times New Roman" panose="02020603050405020304" pitchFamily="18" charset="0"/>
                            </a:rPr>
                            <m:t>𝑘</m:t>
                          </m:r>
                        </m:e>
                      </m:d>
                      <m:r>
                        <a:rPr lang="en-US" sz="1800" i="1">
                          <a:latin typeface="Cambria Math" panose="02040503050406030204" pitchFamily="18" charset="0"/>
                          <a:cs typeface="Times New Roman" panose="02020603050405020304" pitchFamily="18" charset="0"/>
                        </a:rPr>
                        <m:t> −</m:t>
                      </m:r>
                      <m:sSub>
                        <m:sSubPr>
                          <m:ctrlPr>
                            <a:rPr lang="en-US" sz="1800" i="1">
                              <a:latin typeface="Cambria Math" panose="02040503050406030204" pitchFamily="18" charset="0"/>
                              <a:cs typeface="Times New Roman" panose="02020603050405020304" pitchFamily="18" charset="0"/>
                            </a:rPr>
                          </m:ctrlPr>
                        </m:sSubPr>
                        <m:e>
                          <m:r>
                            <a:rPr lang="en-US" sz="1800" i="1">
                              <a:latin typeface="Cambria Math" panose="02040503050406030204" pitchFamily="18" charset="0"/>
                              <a:cs typeface="Times New Roman" panose="02020603050405020304" pitchFamily="18" charset="0"/>
                            </a:rPr>
                            <m:t>𝑟</m:t>
                          </m:r>
                        </m:e>
                        <m:sub>
                          <m:r>
                            <a:rPr lang="en-US" sz="1800" i="1">
                              <a:latin typeface="Cambria Math" panose="02040503050406030204" pitchFamily="18" charset="0"/>
                              <a:cs typeface="Times New Roman" panose="02020603050405020304" pitchFamily="18" charset="0"/>
                            </a:rPr>
                            <m:t>𝑚</m:t>
                          </m:r>
                        </m:sub>
                      </m:sSub>
                      <m:r>
                        <a:rPr lang="en-US" sz="1800" i="1">
                          <a:latin typeface="Cambria Math" panose="02040503050406030204" pitchFamily="18" charset="0"/>
                          <a:cs typeface="Times New Roman" panose="02020603050405020304" pitchFamily="18" charset="0"/>
                        </a:rPr>
                        <m:t>(</m:t>
                      </m:r>
                      <m:r>
                        <a:rPr lang="en-US" sz="1800" i="1">
                          <a:latin typeface="Cambria Math" panose="02040503050406030204" pitchFamily="18" charset="0"/>
                          <a:cs typeface="Times New Roman" panose="02020603050405020304" pitchFamily="18" charset="0"/>
                        </a:rPr>
                        <m:t>𝑘</m:t>
                      </m:r>
                      <m:r>
                        <a:rPr lang="en-US" sz="1800" i="1">
                          <a:latin typeface="Cambria Math" panose="02040503050406030204" pitchFamily="18" charset="0"/>
                          <a:cs typeface="Times New Roman" panose="020206030504050203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f is activation function.</a:t>
                </a:r>
              </a:p>
              <a:p>
                <a:pPr marL="0" indent="0" algn="just">
                  <a:buNone/>
                </a:pPr>
                <a14:m>
                  <m:oMathPara xmlns:m="http://schemas.openxmlformats.org/officeDocument/2006/math">
                    <m:oMath>
                      <m:r>
                        <a:rPr lang="en-US" sz="1800" b="0" i="1" smtClean="0">
                          <a:latin typeface="Cambria Math" panose="02040503050406030204" pitchFamily="18" charset="0"/>
                          <a:cs typeface="Times New Roman" panose="02020603050405020304" pitchFamily="18" charset="0"/>
                        </a:rPr>
                        <m:t>𝑓</m:t>
                      </m:r>
                      <m:d>
                        <m:dPr>
                          <m:ctrlPr>
                            <a:rPr lang="en-US" sz="1800" b="0" i="1" smtClean="0">
                              <a:latin typeface="Cambria Math" panose="02040503050406030204" pitchFamily="18" charset="0"/>
                              <a:cs typeface="Times New Roman" panose="02020603050405020304" pitchFamily="18" charset="0"/>
                            </a:rPr>
                          </m:ctrlPr>
                        </m:dPr>
                        <m:e>
                          <m:r>
                            <a:rPr lang="en-US" sz="1800" b="0" i="1" smtClean="0">
                              <a:latin typeface="Cambria Math" panose="02040503050406030204" pitchFamily="18" charset="0"/>
                              <a:cs typeface="Times New Roman" panose="02020603050405020304" pitchFamily="18" charset="0"/>
                            </a:rPr>
                            <m:t>𝑥</m:t>
                          </m:r>
                        </m:e>
                      </m:d>
                      <m:r>
                        <a:rPr lang="en-US" sz="1800" b="0" i="1" smtClean="0">
                          <a:latin typeface="Cambria Math" panose="02040503050406030204" pitchFamily="18" charset="0"/>
                          <a:cs typeface="Times New Roman" panose="02020603050405020304" pitchFamily="18" charset="0"/>
                        </a:rPr>
                        <m:t>=</m:t>
                      </m:r>
                      <m:f>
                        <m:fPr>
                          <m:ctrlPr>
                            <a:rPr lang="en-US" sz="1800" b="0" i="1" smtClean="0">
                              <a:latin typeface="Cambria Math" panose="02040503050406030204" pitchFamily="18" charset="0"/>
                              <a:cs typeface="Times New Roman" panose="02020603050405020304" pitchFamily="18" charset="0"/>
                            </a:rPr>
                          </m:ctrlPr>
                        </m:fPr>
                        <m:num>
                          <m:r>
                            <a:rPr lang="en-US" sz="1800" b="0" i="1" smtClean="0">
                              <a:latin typeface="Cambria Math" panose="02040503050406030204" pitchFamily="18" charset="0"/>
                              <a:cs typeface="Times New Roman" panose="02020603050405020304" pitchFamily="18" charset="0"/>
                            </a:rPr>
                            <m:t>1+</m:t>
                          </m:r>
                          <m:r>
                            <m:rPr>
                              <m:sty m:val="p"/>
                            </m:rPr>
                            <a:rPr lang="en-US" sz="1800" b="0" i="0" smtClean="0">
                              <a:latin typeface="Cambria Math" panose="02040503050406030204" pitchFamily="18" charset="0"/>
                              <a:cs typeface="Times New Roman" panose="02020603050405020304" pitchFamily="18" charset="0"/>
                            </a:rPr>
                            <m:t>tanh</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𝑎</m:t>
                          </m:r>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𝑥</m:t>
                          </m:r>
                          <m:r>
                            <a:rPr lang="en-US" sz="1800" b="0" i="1" smtClean="0">
                              <a:latin typeface="Cambria Math" panose="02040503050406030204" pitchFamily="18" charset="0"/>
                              <a:cs typeface="Times New Roman" panose="02020603050405020304" pitchFamily="18" charset="0"/>
                            </a:rPr>
                            <m:t>−0.45))</m:t>
                          </m:r>
                        </m:num>
                        <m:den>
                          <m:r>
                            <a:rPr lang="en-US" sz="1800" b="0" i="1" smtClean="0">
                              <a:latin typeface="Cambria Math" panose="02040503050406030204" pitchFamily="18" charset="0"/>
                              <a:cs typeface="Times New Roman" panose="02020603050405020304" pitchFamily="18" charset="0"/>
                            </a:rPr>
                            <m:t>2</m:t>
                          </m:r>
                        </m:den>
                      </m:f>
                      <m:r>
                        <a:rPr lang="en-US" sz="1800" b="0" i="1" smtClean="0">
                          <a:latin typeface="Cambria Math" panose="02040503050406030204" pitchFamily="18" charset="0"/>
                          <a:cs typeface="Times New Roman" panose="02020603050405020304" pitchFamily="18" charset="0"/>
                        </a:rPr>
                        <m:t> </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mc:Choice>
        <mc:Fallback xmlns="">
          <p:sp>
            <p:nvSpPr>
              <p:cNvPr id="6" name="Content Placeholder 5">
                <a:extLst>
                  <a:ext uri="{FF2B5EF4-FFF2-40B4-BE49-F238E27FC236}">
                    <a16:creationId xmlns:a16="http://schemas.microsoft.com/office/drawing/2014/main" id="{96B83B1C-9AA3-6CB6-9C3C-101E890F62D5}"/>
                  </a:ext>
                </a:extLst>
              </p:cNvPr>
              <p:cNvSpPr>
                <a:spLocks noGrp="1" noRot="1" noChangeAspect="1" noMove="1" noResize="1" noEditPoints="1" noAdjustHandles="1" noChangeArrowheads="1" noChangeShapeType="1" noTextEdit="1"/>
              </p:cNvSpPr>
              <p:nvPr>
                <p:ph idx="1"/>
              </p:nvPr>
            </p:nvSpPr>
            <p:spPr>
              <a:xfrm>
                <a:off x="15455" y="1213171"/>
                <a:ext cx="8430925" cy="4982356"/>
              </a:xfrm>
              <a:blipFill>
                <a:blip r:embed="rId5"/>
                <a:stretch>
                  <a:fillRect l="-651" t="-612"/>
                </a:stretch>
              </a:blipFill>
            </p:spPr>
            <p:txBody>
              <a:bodyPr/>
              <a:lstStyle/>
              <a:p>
                <a:r>
                  <a:rPr lang="en-US">
                    <a:noFill/>
                  </a:rPr>
                  <a:t> </a:t>
                </a:r>
              </a:p>
            </p:txBody>
          </p:sp>
        </mc:Fallback>
      </mc:AlternateContent>
    </p:spTree>
    <p:extLst>
      <p:ext uri="{BB962C8B-B14F-4D97-AF65-F5344CB8AC3E}">
        <p14:creationId xmlns:p14="http://schemas.microsoft.com/office/powerpoint/2010/main" val="820384719"/>
      </p:ext>
    </p:extLst>
  </p:cSld>
  <p:clrMapOvr>
    <a:masterClrMapping/>
  </p:clrMapOvr>
  <mc:AlternateContent xmlns:mc="http://schemas.openxmlformats.org/markup-compatibility/2006" xmlns:p14="http://schemas.microsoft.com/office/powerpoint/2010/main">
    <mc:Choice Requires="p14">
      <p:transition spd="slow" p14:dur="2000" advTm="78058"/>
    </mc:Choice>
    <mc:Fallback xmlns="">
      <p:transition spd="slow" advTm="78058"/>
    </mc:Fallback>
  </mc:AlternateContent>
  <p:extLst>
    <p:ext uri="{3A86A75C-4F4B-4683-9AE1-C65F6400EC91}">
      <p14:laserTraceLst xmlns:p14="http://schemas.microsoft.com/office/powerpoint/2010/main">
        <p14:tracePtLst>
          <p14:tracePt t="39222" x="2354263" y="93663"/>
          <p14:tracePt t="39224" x="2430463" y="212725"/>
          <p14:tracePt t="39480" x="2795588" y="374650"/>
          <p14:tracePt t="39489" x="3297238" y="654050"/>
          <p14:tracePt t="39496" x="3756025" y="917575"/>
          <p14:tracePt t="39506" x="4300538" y="1266825"/>
          <p14:tracePt t="39507" x="4724400" y="1512888"/>
          <p14:tracePt t="39523" x="5380038" y="1920875"/>
          <p14:tracePt t="39540" x="5983288" y="2303463"/>
          <p14:tracePt t="39557" x="6330950" y="2541588"/>
          <p14:tracePt t="39574" x="6500813" y="2668588"/>
          <p14:tracePt t="39592" x="6611938" y="2752725"/>
          <p14:tracePt t="39607" x="6637338" y="2770188"/>
          <p14:tracePt t="39625" x="6645275" y="2787650"/>
          <p14:tracePt t="39662" x="6645275" y="2795588"/>
          <p14:tracePt t="39702" x="6637338" y="2795588"/>
          <p14:tracePt t="39710" x="6627813" y="2795588"/>
          <p14:tracePt t="39724" x="6619875" y="2795588"/>
          <p14:tracePt t="39741" x="6611938" y="2795588"/>
          <p14:tracePt t="39757" x="6602413" y="2795588"/>
          <p14:tracePt t="39774" x="6594475" y="2795588"/>
          <p14:tracePt t="39791" x="6577013" y="2795588"/>
          <p14:tracePt t="39808" x="6577013" y="2778125"/>
          <p14:tracePt t="39826" x="6577013" y="2762250"/>
          <p14:tracePt t="39841" x="6577013" y="2752725"/>
          <p14:tracePt t="39857" x="6569075" y="2736850"/>
          <p14:tracePt t="39876" x="6561138" y="2711450"/>
          <p14:tracePt t="39891" x="6551613" y="2676525"/>
          <p14:tracePt t="39909" x="6526213" y="2592388"/>
          <p14:tracePt t="39924" x="6510338" y="2541588"/>
          <p14:tracePt t="39941" x="6457950" y="2463800"/>
          <p14:tracePt t="39942" x="6442075" y="2430463"/>
          <p14:tracePt t="39957" x="6399213" y="2344738"/>
          <p14:tracePt t="39973" x="6365875" y="2278063"/>
          <p14:tracePt t="39991" x="6338888" y="2209800"/>
          <p14:tracePt t="40007" x="6323013" y="2174875"/>
          <p14:tracePt t="40025" x="6323013" y="2159000"/>
          <p14:tracePt t="40040" x="6323013" y="2141538"/>
          <p14:tracePt t="40056" x="6323013" y="2133600"/>
          <p14:tracePt t="40074" x="6330950" y="2116138"/>
          <p14:tracePt t="40090" x="6338888" y="2116138"/>
          <p14:tracePt t="40107" x="6338888" y="2108200"/>
          <p14:tracePt t="40109" x="6348413" y="2108200"/>
          <p14:tracePt t="40123" x="6348413" y="2098675"/>
          <p14:tracePt t="40178" x="6338888" y="2098675"/>
          <p14:tracePt t="40185" x="6330950" y="2098675"/>
          <p14:tracePt t="40198" x="6313488" y="2090738"/>
          <p14:tracePt t="40207" x="6305550" y="2090738"/>
          <p14:tracePt t="40224" x="6297613" y="2090738"/>
          <p14:tracePt t="40241" x="6288088" y="2073275"/>
          <p14:tracePt t="40257" x="6272213" y="2073275"/>
          <p14:tracePt t="40273" x="6272213" y="2055813"/>
          <p14:tracePt t="40302" x="6272213" y="2047875"/>
          <p14:tracePt t="40323" x="6280150" y="2039938"/>
          <p14:tracePt t="40358" x="6288088" y="2039938"/>
          <p14:tracePt t="56237" x="6254750" y="2073275"/>
          <p14:tracePt t="56247" x="6229350" y="2098675"/>
          <p14:tracePt t="56259" x="6153150" y="2159000"/>
          <p14:tracePt t="56275" x="6076950" y="2235200"/>
          <p14:tracePt t="56292" x="6034088" y="2303463"/>
          <p14:tracePt t="56308" x="6008688" y="2328863"/>
          <p14:tracePt t="56325" x="5983288" y="2362200"/>
          <p14:tracePt t="56326" x="5965825" y="2387600"/>
          <p14:tracePt t="56340" x="5940425" y="2405063"/>
          <p14:tracePt t="56357" x="5915025" y="2447925"/>
          <p14:tracePt t="56374" x="5864225" y="2498725"/>
          <p14:tracePt t="56391" x="5829300" y="2549525"/>
          <p14:tracePt t="56408" x="5803900" y="2574925"/>
          <p14:tracePt t="56410" x="5788025" y="2600325"/>
          <p14:tracePt t="56424" x="5761038" y="2633663"/>
          <p14:tracePt t="56441" x="5735638" y="2676525"/>
          <p14:tracePt t="56458" x="5694363" y="2736850"/>
          <p14:tracePt t="56474" x="5676900" y="2770188"/>
          <p14:tracePt t="56492" x="5659438" y="2820988"/>
          <p14:tracePt t="56508" x="5651500" y="2855913"/>
          <p14:tracePt t="56524" x="5634038" y="2897188"/>
          <p14:tracePt t="56541" x="5608638" y="2990850"/>
          <p14:tracePt t="56556" x="5565775" y="3170238"/>
          <p14:tracePt t="56573" x="5514975" y="3355975"/>
          <p14:tracePt t="56590" x="5413375" y="3603625"/>
          <p14:tracePt t="56607" x="5345113" y="3722688"/>
          <p14:tracePt t="56623" x="5302250" y="3806825"/>
          <p14:tracePt t="56640" x="5286375" y="3832225"/>
          <p14:tracePt t="56657" x="5260975" y="3875088"/>
          <p14:tracePt t="56674" x="5243513" y="3900488"/>
          <p14:tracePt t="56691" x="5226050" y="3935413"/>
          <p14:tracePt t="56707" x="5218113" y="3943350"/>
          <p14:tracePt t="56724" x="5200650" y="3960813"/>
          <p14:tracePt t="56726" x="5192713" y="3960813"/>
          <p14:tracePt t="56741" x="5183188" y="3976688"/>
          <p14:tracePt t="56758" x="5175250" y="3986213"/>
          <p14:tracePt t="56774" x="5157788" y="4011613"/>
          <p14:tracePt t="57062" x="5149850" y="4019550"/>
          <p14:tracePt t="57071" x="5132388" y="4037013"/>
          <p14:tracePt t="57081" x="5116513" y="4062413"/>
          <p14:tracePt t="57091" x="5081588" y="4095750"/>
          <p14:tracePt t="57108" x="5064125" y="4130675"/>
          <p14:tracePt t="57125" x="5038725" y="4156075"/>
          <p14:tracePt t="57140" x="5030788" y="4171950"/>
          <p14:tracePt t="57158" x="5022850" y="4189413"/>
          <p14:tracePt t="57175" x="5022850" y="4197350"/>
          <p14:tracePt t="57192" x="5013325" y="4206875"/>
          <p14:tracePt t="57208" x="5005388" y="4214813"/>
          <p14:tracePt t="57227" x="4997450" y="4224338"/>
          <p14:tracePt t="59323" x="4997450" y="4214813"/>
          <p14:tracePt t="59333" x="4997450" y="4206875"/>
          <p14:tracePt t="59341" x="4997450" y="4171950"/>
          <p14:tracePt t="59358" x="4997450" y="4062413"/>
          <p14:tracePt t="59374" x="4919663" y="3552825"/>
          <p14:tracePt t="59393" x="4827588" y="3279775"/>
          <p14:tracePt t="59409" x="4802188" y="3195638"/>
          <p14:tracePt t="59424" x="4775200" y="3135313"/>
          <p14:tracePt t="59442" x="4767263" y="3109913"/>
          <p14:tracePt t="59458" x="4749800" y="3094038"/>
          <p14:tracePt t="59475" x="4749800" y="3067050"/>
          <p14:tracePt t="59491" x="4741863" y="3051175"/>
          <p14:tracePt t="59516" x="4733925" y="3041650"/>
          <p14:tracePt t="59524" x="4724400" y="3033713"/>
          <p14:tracePt t="59541" x="4724400" y="3016250"/>
          <p14:tracePt t="59558" x="4724400" y="3008313"/>
          <p14:tracePt t="59574" x="4724400" y="2974975"/>
          <p14:tracePt t="59591" x="4724400" y="2940050"/>
          <p14:tracePt t="59592" x="4724400" y="2932113"/>
          <p14:tracePt t="59607" x="4724400" y="2914650"/>
          <p14:tracePt t="59623" x="4724400" y="2897188"/>
          <p14:tracePt t="59642" x="4724400" y="2881313"/>
          <p14:tracePt t="59657" x="4724400" y="2871788"/>
          <p14:tracePt t="59675" x="4724400" y="2863850"/>
          <p14:tracePt t="59691" x="4724400" y="2855913"/>
          <p14:tracePt t="59710" x="4724400" y="2846388"/>
          <p14:tracePt t="59738" x="4724400" y="2838450"/>
          <p14:tracePt t="59758" x="4716463" y="2830513"/>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3E4-E647-DF1D-FF42-1A2B1D238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F5C46-2497-EC09-FAB4-E8355BC5FB44}"/>
              </a:ext>
            </a:extLst>
          </p:cNvPr>
          <p:cNvSpPr>
            <a:spLocks noGrp="1"/>
          </p:cNvSpPr>
          <p:nvPr>
            <p:ph type="title"/>
          </p:nvPr>
        </p:nvSpPr>
        <p:spPr>
          <a:xfrm>
            <a:off x="15455" y="325965"/>
            <a:ext cx="7055380" cy="744704"/>
          </a:xfrm>
        </p:spPr>
        <p:txBody>
          <a:bodyPr/>
          <a:lstStyle/>
          <a:p>
            <a:r>
              <a:rPr lang="en-US" dirty="0">
                <a:latin typeface="Times New Roman" panose="02020603050405020304" pitchFamily="18" charset="0"/>
                <a:cs typeface="Times New Roman" panose="02020603050405020304" pitchFamily="18" charset="0"/>
              </a:rPr>
              <a:t>Action Selection Equations</a:t>
            </a:r>
          </a:p>
        </p:txBody>
      </p:sp>
      <p:pic>
        <p:nvPicPr>
          <p:cNvPr id="3" name="Picture 2">
            <a:extLst>
              <a:ext uri="{FF2B5EF4-FFF2-40B4-BE49-F238E27FC236}">
                <a16:creationId xmlns:a16="http://schemas.microsoft.com/office/drawing/2014/main" id="{3C0355B3-2280-DF88-F906-01D06863548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B41798A1-544B-E6AB-461D-9012DC44B545}"/>
                  </a:ext>
                </a:extLst>
              </p:cNvPr>
              <p:cNvSpPr>
                <a:spLocks noGrp="1"/>
              </p:cNvSpPr>
              <p:nvPr>
                <p:ph idx="1"/>
              </p:nvPr>
            </p:nvSpPr>
            <p:spPr>
              <a:xfrm>
                <a:off x="15455" y="1213171"/>
                <a:ext cx="8430925" cy="4982356"/>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The equations of the Action Selection Module, which include the Premotor and Motor loops, model the neural dynamics involved in behavioral decision-making. These equations use nonlinear activation functions (</a:t>
                </a:r>
                <a:r>
                  <a:rPr lang="en-US" sz="1800" i="1" dirty="0">
                    <a:latin typeface="Times New Roman" panose="02020603050405020304" pitchFamily="18" charset="0"/>
                    <a:cs typeface="Times New Roman" panose="02020603050405020304" pitchFamily="18" charset="0"/>
                  </a:rPr>
                  <a:t>f </a:t>
                </a:r>
                <a:r>
                  <a:rPr lang="en-US" sz="1800" dirty="0">
                    <a:latin typeface="Times New Roman" panose="02020603050405020304" pitchFamily="18" charset="0"/>
                    <a:cs typeface="Times New Roman" panose="02020603050405020304" pitchFamily="18" charset="0"/>
                  </a:rPr>
                  <a:t>) to simulate how sensory inputs (</a:t>
                </a:r>
                <a:r>
                  <a:rPr lang="en-US" sz="1800" i="1" dirty="0">
                    <a:latin typeface="Times New Roman" panose="02020603050405020304" pitchFamily="18" charset="0"/>
                    <a:cs typeface="Times New Roman" panose="02020603050405020304" pitchFamily="18" charset="0"/>
                  </a:rPr>
                  <a:t>I(k)</a:t>
                </a:r>
                <a:r>
                  <a:rPr lang="en-US" sz="1800" dirty="0">
                    <a:latin typeface="Times New Roman" panose="02020603050405020304" pitchFamily="18" charset="0"/>
                    <a:cs typeface="Times New Roman" panose="02020603050405020304" pitchFamily="18" charset="0"/>
                  </a:rPr>
                  <a:t>) are processed, how internal brain activities (such as </a:t>
                </a:r>
                <a14:m>
                  <m:oMath xmlns:m="http://schemas.openxmlformats.org/officeDocument/2006/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𝑝</m:t>
                        </m:r>
                      </m:e>
                      <m:sub>
                        <m:r>
                          <a:rPr lang="en-US" sz="1800" b="0" i="1" smtClean="0">
                            <a:latin typeface="Cambria Math" panose="02040503050406030204" pitchFamily="18" charset="0"/>
                            <a:cs typeface="Times New Roman" panose="02020603050405020304" pitchFamily="18" charset="0"/>
                          </a:rPr>
                          <m:t>𝑝𝑚</m:t>
                        </m:r>
                      </m:sub>
                    </m:sSub>
                  </m:oMath>
                </a14:m>
                <a:r>
                  <a:rPr lang="en-US" sz="18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𝑝</m:t>
                        </m:r>
                      </m:e>
                      <m:sub>
                        <m:r>
                          <a:rPr lang="en-US" sz="1800" b="0" i="1" smtClean="0">
                            <a:latin typeface="Cambria Math" panose="02040503050406030204" pitchFamily="18" charset="0"/>
                            <a:cs typeface="Times New Roman" panose="02020603050405020304" pitchFamily="18" charset="0"/>
                          </a:rPr>
                          <m:t>𝑚</m:t>
                        </m:r>
                      </m:sub>
                    </m:sSub>
                  </m:oMath>
                </a14:m>
                <a:r>
                  <a:rPr lang="en-US" sz="18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𝑚</m:t>
                        </m:r>
                      </m:e>
                      <m:sub>
                        <m:r>
                          <a:rPr lang="en-US" sz="1800" b="0" i="1" smtClean="0">
                            <a:latin typeface="Cambria Math" panose="02040503050406030204" pitchFamily="18" charset="0"/>
                            <a:cs typeface="Times New Roman" panose="02020603050405020304" pitchFamily="18" charset="0"/>
                          </a:rPr>
                          <m:t>𝑝𝑚</m:t>
                        </m:r>
                      </m:sub>
                    </m:sSub>
                  </m:oMath>
                </a14:m>
                <a:r>
                  <a:rPr lang="en-US" sz="18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𝑚</m:t>
                        </m:r>
                      </m:e>
                      <m:sub>
                        <m:r>
                          <a:rPr lang="en-US" sz="1800" b="0" i="1" smtClean="0">
                            <a:latin typeface="Cambria Math" panose="02040503050406030204" pitchFamily="18" charset="0"/>
                            <a:cs typeface="Times New Roman" panose="02020603050405020304" pitchFamily="18" charset="0"/>
                          </a:rPr>
                          <m:t>𝑚</m:t>
                        </m:r>
                      </m:sub>
                    </m:sSub>
                  </m:oMath>
                </a14:m>
                <a:r>
                  <a:rPr lang="en-US" sz="1800" dirty="0">
                    <a:latin typeface="Times New Roman" panose="02020603050405020304" pitchFamily="18" charset="0"/>
                    <a:cs typeface="Times New Roman" panose="02020603050405020304" pitchFamily="18" charset="0"/>
                  </a:rPr>
                  <a:t>) are regulated, and how various brain structures — such as the subthalamic nucleus (via </a:t>
                </a:r>
                <a14:m>
                  <m:oMath xmlns:m="http://schemas.openxmlformats.org/officeDocument/2006/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𝑊</m:t>
                        </m:r>
                      </m:e>
                      <m:sub>
                        <m:r>
                          <a:rPr lang="en-US" sz="1800" b="0" i="1" smtClean="0">
                            <a:latin typeface="Cambria Math" panose="02040503050406030204" pitchFamily="18" charset="0"/>
                            <a:cs typeface="Times New Roman" panose="02020603050405020304" pitchFamily="18" charset="0"/>
                          </a:rPr>
                          <m:t>𝑑</m:t>
                        </m:r>
                      </m:sub>
                    </m:sSub>
                  </m:oMath>
                </a14:m>
                <a:r>
                  <a:rPr lang="en-US" sz="1800" dirty="0">
                    <a:latin typeface="Times New Roman" panose="02020603050405020304" pitchFamily="18" charset="0"/>
                    <a:cs typeface="Times New Roman" panose="02020603050405020304" pitchFamily="18" charset="0"/>
                  </a:rPr>
                  <a:t>) and the striatum (via </a:t>
                </a:r>
                <a14:m>
                  <m:oMath xmlns:m="http://schemas.openxmlformats.org/officeDocument/2006/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𝑊</m:t>
                        </m:r>
                      </m:e>
                      <m:sub>
                        <m:r>
                          <a:rPr lang="en-US" sz="1800" b="0" i="1" smtClean="0">
                            <a:latin typeface="Cambria Math" panose="02040503050406030204" pitchFamily="18" charset="0"/>
                            <a:cs typeface="Times New Roman" panose="02020603050405020304" pitchFamily="18" charset="0"/>
                          </a:rPr>
                          <m:t>𝑟</m:t>
                        </m:r>
                      </m:sub>
                    </m:sSub>
                  </m:oMath>
                </a14:m>
                <a:r>
                  <a:rPr lang="en-US" sz="1800" dirty="0">
                    <a:latin typeface="Times New Roman" panose="02020603050405020304" pitchFamily="18" charset="0"/>
                    <a:cs typeface="Times New Roman" panose="02020603050405020304" pitchFamily="18" charset="0"/>
                  </a:rPr>
                  <a:t>) — exert their influence.</a:t>
                </a:r>
              </a:p>
              <a:p>
                <a:pPr marL="0" indent="0" algn="just">
                  <a:buNone/>
                </a:pPr>
                <a:r>
                  <a:rPr lang="en-US" sz="1800" dirty="0">
                    <a:latin typeface="Times New Roman" panose="02020603050405020304" pitchFamily="18" charset="0"/>
                    <a:cs typeface="Times New Roman" panose="02020603050405020304" pitchFamily="18" charset="0"/>
                  </a:rPr>
                  <a:t>The ultimate goal of these equations is to select an action (e.g., to smoke or not to smoke), with the decision determined by the output activity of </a:t>
                </a:r>
                <a14:m>
                  <m:oMath xmlns:m="http://schemas.openxmlformats.org/officeDocument/2006/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𝑝</m:t>
                        </m:r>
                      </m:e>
                      <m:sub>
                        <m:r>
                          <a:rPr lang="en-US" sz="1800" b="0" i="1" smtClean="0">
                            <a:latin typeface="Cambria Math" panose="02040503050406030204" pitchFamily="18" charset="0"/>
                            <a:cs typeface="Times New Roman" panose="02020603050405020304" pitchFamily="18" charset="0"/>
                          </a:rPr>
                          <m:t>𝑚</m:t>
                        </m:r>
                      </m:sub>
                    </m:sSub>
                    <m:r>
                      <a:rPr lang="en-US" sz="1800" b="0" i="1" smtClean="0">
                        <a:latin typeface="Cambria Math" panose="02040503050406030204" pitchFamily="18" charset="0"/>
                        <a:cs typeface="Times New Roman" panose="02020603050405020304" pitchFamily="18" charset="0"/>
                      </a:rPr>
                      <m:t>.</m:t>
                    </m:r>
                  </m:oMath>
                </a14:m>
                <a:endParaRPr lang="fa-IR"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The model parameters are as follows:</a:t>
                </a:r>
              </a:p>
              <a:p>
                <a:pPr marL="0" indent="0">
                  <a:buNone/>
                </a:pPr>
                <a:r>
                  <a:rPr lang="en-US" sz="1800" dirty="0">
                    <a:latin typeface="Times New Roman" panose="02020603050405020304" pitchFamily="18" charset="0"/>
                    <a:cs typeface="Times New Roman" panose="02020603050405020304" pitchFamily="18" charset="0"/>
                  </a:rPr>
                  <a:t>λ : This parameter (with a value of 0.5) controls the self-feedback of activities ppm and pm within the Premotor and Motor loops, respectively.</a:t>
                </a:r>
              </a:p>
              <a:p>
                <a:pPr marL="0" indent="0">
                  <a:buNone/>
                </a:pPr>
                <a:r>
                  <a:rPr lang="en-US" sz="1800" dirty="0">
                    <a:latin typeface="Times New Roman" panose="02020603050405020304" pitchFamily="18" charset="0"/>
                    <a:cs typeface="Times New Roman" panose="02020603050405020304" pitchFamily="18" charset="0"/>
                  </a:rPr>
                  <a:t>β </a:t>
                </a:r>
                <a:r>
                  <a:rPr lang="fa-IR"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This parameter (with a value of 0.03) determines the influence and connection of ppm activity (from the Premotor loop) on pm activity in the Motor loop</a:t>
                </a:r>
                <a:endParaRPr lang="fa-IR"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 This parameter (with a value of 3) adjusts the slope of the activation function f, which is used to introduce nonlinearity into the system.</a:t>
                </a:r>
              </a:p>
              <a:p>
                <a:pPr marL="0" indent="0" algn="just">
                  <a:buNone/>
                </a:pPr>
                <a:r>
                  <a:rPr lang="en-US" sz="1800" dirty="0">
                    <a:latin typeface="Times New Roman" panose="02020603050405020304" pitchFamily="18" charset="0"/>
                    <a:cs typeface="Times New Roman" panose="02020603050405020304" pitchFamily="18" charset="0"/>
                  </a:rPr>
                  <a:t> </a:t>
                </a:r>
              </a:p>
            </p:txBody>
          </p:sp>
        </mc:Choice>
        <mc:Fallback xmlns="">
          <p:sp>
            <p:nvSpPr>
              <p:cNvPr id="6" name="Content Placeholder 5">
                <a:extLst>
                  <a:ext uri="{FF2B5EF4-FFF2-40B4-BE49-F238E27FC236}">
                    <a16:creationId xmlns:a16="http://schemas.microsoft.com/office/drawing/2014/main" id="{B41798A1-544B-E6AB-461D-9012DC44B545}"/>
                  </a:ext>
                </a:extLst>
              </p:cNvPr>
              <p:cNvSpPr>
                <a:spLocks noGrp="1" noRot="1" noChangeAspect="1" noMove="1" noResize="1" noEditPoints="1" noAdjustHandles="1" noChangeArrowheads="1" noChangeShapeType="1" noTextEdit="1"/>
              </p:cNvSpPr>
              <p:nvPr>
                <p:ph idx="1"/>
              </p:nvPr>
            </p:nvSpPr>
            <p:spPr>
              <a:xfrm>
                <a:off x="15455" y="1213171"/>
                <a:ext cx="8430925" cy="4982356"/>
              </a:xfrm>
              <a:blipFill>
                <a:blip r:embed="rId5"/>
                <a:stretch>
                  <a:fillRect l="-651" t="-612" r="-578"/>
                </a:stretch>
              </a:blipFill>
            </p:spPr>
            <p:txBody>
              <a:bodyPr/>
              <a:lstStyle/>
              <a:p>
                <a:r>
                  <a:rPr lang="en-US">
                    <a:noFill/>
                  </a:rPr>
                  <a:t> </a:t>
                </a:r>
              </a:p>
            </p:txBody>
          </p:sp>
        </mc:Fallback>
      </mc:AlternateContent>
    </p:spTree>
    <p:extLst>
      <p:ext uri="{BB962C8B-B14F-4D97-AF65-F5344CB8AC3E}">
        <p14:creationId xmlns:p14="http://schemas.microsoft.com/office/powerpoint/2010/main" val="887035903"/>
      </p:ext>
    </p:extLst>
  </p:cSld>
  <p:clrMapOvr>
    <a:masterClrMapping/>
  </p:clrMapOvr>
  <mc:AlternateContent xmlns:mc="http://schemas.openxmlformats.org/markup-compatibility/2006" xmlns:p14="http://schemas.microsoft.com/office/powerpoint/2010/main">
    <mc:Choice Requires="p14">
      <p:transition spd="slow" p14:dur="2000" advTm="60342"/>
    </mc:Choice>
    <mc:Fallback xmlns="">
      <p:transition spd="slow" advTm="6034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8ABEA-43E6-5A04-76D5-FE7CCB720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15B91-829F-A539-D01F-87B61B099E28}"/>
              </a:ext>
            </a:extLst>
          </p:cNvPr>
          <p:cNvSpPr>
            <a:spLocks noGrp="1"/>
          </p:cNvSpPr>
          <p:nvPr>
            <p:ph type="title"/>
          </p:nvPr>
        </p:nvSpPr>
        <p:spPr>
          <a:xfrm>
            <a:off x="15455" y="325965"/>
            <a:ext cx="7691632" cy="887206"/>
          </a:xfrm>
        </p:spPr>
        <p:txBody>
          <a:bodyPr/>
          <a:lstStyle/>
          <a:p>
            <a:r>
              <a:rPr lang="en-US" sz="3600" dirty="0"/>
              <a:t>DA Signaling Module Equations</a:t>
            </a:r>
            <a:endParaRPr lang="en-US" sz="36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22F92A2-11EE-288C-1FFF-AF1A32AAAC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2265D0C-963B-6BFB-D444-8EB7AA4199F2}"/>
                  </a:ext>
                </a:extLst>
              </p:cNvPr>
              <p:cNvSpPr>
                <a:spLocks noGrp="1"/>
              </p:cNvSpPr>
              <p:nvPr>
                <p:ph idx="1"/>
              </p:nvPr>
            </p:nvSpPr>
            <p:spPr>
              <a:xfrm>
                <a:off x="15455" y="1213171"/>
                <a:ext cx="8430925" cy="5420894"/>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Dopamine Signaling Module (DA Signaling Module) in the proposed model is a crucial component responsible for processing reward signals and nicotine-related cues. This module, which is activated in the presence of nicotine, consists of two main components: Action Evaluation and Value Assignment.</a:t>
                </a:r>
              </a:p>
              <a:p>
                <a:pPr marL="0" indent="0" algn="just">
                  <a:buNone/>
                </a:pPr>
                <a:r>
                  <a:rPr lang="en-US" sz="1800" dirty="0">
                    <a:latin typeface="Times New Roman" panose="02020603050405020304" pitchFamily="18" charset="0"/>
                    <a:cs typeface="Times New Roman" panose="02020603050405020304" pitchFamily="18" charset="0"/>
                  </a:rPr>
                  <a:t>The Action Evaluation component operates based on the presence of nicotine, while the Value Assignment component calculates the rewards assigned to actions and the prediction error. This module guides the Action Selection (A-S) loop by representing the rewarding value of previously performed actions.</a:t>
                </a:r>
              </a:p>
              <a:p>
                <a:pPr marL="0" indent="0" algn="just">
                  <a:buNone/>
                </a:pPr>
                <a:r>
                  <a:rPr lang="en-US" sz="1800" dirty="0">
                    <a:latin typeface="Times New Roman" panose="02020603050405020304" pitchFamily="18" charset="0"/>
                    <a:cs typeface="Times New Roman" panose="02020603050405020304" pitchFamily="18" charset="0"/>
                  </a:rPr>
                  <a:t>Updates the phasic dopamine activity</a:t>
                </a:r>
              </a:p>
              <a:p>
                <a:pPr marL="0" indent="0" algn="just">
                  <a:buNone/>
                </a:pPr>
                <a14:m>
                  <m:oMathPara xmlns:m="http://schemas.openxmlformats.org/officeDocument/2006/math">
                    <m:oMath>
                      <m:sSub>
                        <m:sSubPr>
                          <m:ctrlPr>
                            <a:rPr lang="en-US" sz="1800">
                              <a:latin typeface="Cambria Math" panose="02040503050406030204" pitchFamily="18" charset="0"/>
                            </a:rPr>
                          </m:ctrlPr>
                        </m:sSubPr>
                        <m:e>
                          <m:r>
                            <a:rPr lang="en-US" sz="1800">
                              <a:latin typeface="Cambria Math" panose="02040503050406030204" pitchFamily="18" charset="0"/>
                            </a:rPr>
                            <m:t>𝑢</m:t>
                          </m:r>
                        </m:e>
                        <m:sub>
                          <m:r>
                            <a:rPr lang="en-US" sz="1800">
                              <a:latin typeface="Cambria Math" panose="02040503050406030204" pitchFamily="18" charset="0"/>
                            </a:rPr>
                            <m:t>𝐷𝐴</m:t>
                          </m:r>
                        </m:sub>
                      </m:sSub>
                      <m:d>
                        <m:dPr>
                          <m:ctrlPr>
                            <a:rPr lang="en-US" sz="1800">
                              <a:latin typeface="Cambria Math" panose="02040503050406030204" pitchFamily="18" charset="0"/>
                            </a:rPr>
                          </m:ctrlPr>
                        </m:dPr>
                        <m:e>
                          <m:r>
                            <a:rPr lang="en-US" sz="1800">
                              <a:latin typeface="Cambria Math" panose="02040503050406030204" pitchFamily="18" charset="0"/>
                            </a:rPr>
                            <m:t>𝑘</m:t>
                          </m:r>
                          <m:r>
                            <a:rPr lang="en-US" sz="1800">
                              <a:latin typeface="Cambria Math" panose="02040503050406030204" pitchFamily="18" charset="0"/>
                            </a:rPr>
                            <m:t>+1</m:t>
                          </m:r>
                        </m:e>
                      </m:d>
                      <m:r>
                        <a:rPr lang="en-US" sz="1800">
                          <a:latin typeface="Cambria Math" panose="02040503050406030204" pitchFamily="18" charset="0"/>
                        </a:rPr>
                        <m:t>=</m:t>
                      </m:r>
                      <m:sSub>
                        <m:sSubPr>
                          <m:ctrlPr>
                            <a:rPr lang="en-US" sz="1800">
                              <a:latin typeface="Cambria Math" panose="02040503050406030204" pitchFamily="18" charset="0"/>
                            </a:rPr>
                          </m:ctrlPr>
                        </m:sSubPr>
                        <m:e>
                          <m:r>
                            <a:rPr lang="en-US" sz="1800">
                              <a:latin typeface="Cambria Math" panose="02040503050406030204" pitchFamily="18" charset="0"/>
                            </a:rPr>
                            <m:t>𝑢</m:t>
                          </m:r>
                        </m:e>
                        <m:sub>
                          <m:r>
                            <a:rPr lang="en-US" sz="1800">
                              <a:latin typeface="Cambria Math" panose="02040503050406030204" pitchFamily="18" charset="0"/>
                            </a:rPr>
                            <m:t>𝐷𝐴</m:t>
                          </m:r>
                        </m:sub>
                      </m:sSub>
                      <m:d>
                        <m:dPr>
                          <m:ctrlPr>
                            <a:rPr lang="en-US" sz="1800">
                              <a:latin typeface="Cambria Math" panose="02040503050406030204" pitchFamily="18" charset="0"/>
                            </a:rPr>
                          </m:ctrlPr>
                        </m:dPr>
                        <m:e>
                          <m:r>
                            <a:rPr lang="en-US" sz="1800">
                              <a:latin typeface="Cambria Math" panose="02040503050406030204" pitchFamily="18" charset="0"/>
                            </a:rPr>
                            <m:t>𝑘</m:t>
                          </m:r>
                        </m:e>
                      </m:d>
                      <m:r>
                        <a:rPr lang="en-US" sz="1800">
                          <a:latin typeface="Cambria Math" panose="02040503050406030204" pitchFamily="18" charset="0"/>
                        </a:rPr>
                        <m:t>+</m:t>
                      </m:r>
                      <m:sSub>
                        <m:sSubPr>
                          <m:ctrlPr>
                            <a:rPr lang="en-US" sz="1800">
                              <a:latin typeface="Cambria Math" panose="02040503050406030204" pitchFamily="18" charset="0"/>
                            </a:rPr>
                          </m:ctrlPr>
                        </m:sSubPr>
                        <m:e>
                          <m:r>
                            <a:rPr lang="en-US" sz="1800">
                              <a:latin typeface="Cambria Math" panose="02040503050406030204" pitchFamily="18" charset="0"/>
                            </a:rPr>
                            <m:t>𝜇</m:t>
                          </m:r>
                        </m:e>
                        <m:sub>
                          <m:r>
                            <a:rPr lang="en-US" sz="1800">
                              <a:latin typeface="Cambria Math" panose="02040503050406030204" pitchFamily="18" charset="0"/>
                            </a:rPr>
                            <m:t>𝐷𝐴</m:t>
                          </m:r>
                        </m:sub>
                      </m:sSub>
                      <m:r>
                        <a:rPr lang="en-US" sz="1800">
                          <a:latin typeface="Cambria Math" panose="02040503050406030204" pitchFamily="18" charset="0"/>
                        </a:rPr>
                        <m:t>(−</m:t>
                      </m:r>
                      <m:sSub>
                        <m:sSubPr>
                          <m:ctrlPr>
                            <a:rPr lang="en-US" sz="1800">
                              <a:latin typeface="Cambria Math" panose="02040503050406030204" pitchFamily="18" charset="0"/>
                            </a:rPr>
                          </m:ctrlPr>
                        </m:sSubPr>
                        <m:e>
                          <m:r>
                            <a:rPr lang="en-US" sz="1800">
                              <a:latin typeface="Cambria Math" panose="02040503050406030204" pitchFamily="18" charset="0"/>
                            </a:rPr>
                            <m:t>𝑢</m:t>
                          </m:r>
                        </m:e>
                        <m:sub>
                          <m:r>
                            <a:rPr lang="en-US" sz="1800">
                              <a:latin typeface="Cambria Math" panose="02040503050406030204" pitchFamily="18" charset="0"/>
                            </a:rPr>
                            <m:t>𝐷𝐴</m:t>
                          </m:r>
                        </m:sub>
                      </m:sSub>
                      <m:d>
                        <m:dPr>
                          <m:ctrlPr>
                            <a:rPr lang="en-US" sz="1800">
                              <a:latin typeface="Cambria Math" panose="02040503050406030204" pitchFamily="18" charset="0"/>
                            </a:rPr>
                          </m:ctrlPr>
                        </m:dPr>
                        <m:e>
                          <m:r>
                            <a:rPr lang="en-US" sz="1800">
                              <a:latin typeface="Cambria Math" panose="02040503050406030204" pitchFamily="18" charset="0"/>
                            </a:rPr>
                            <m:t>𝑘</m:t>
                          </m:r>
                        </m:e>
                      </m:d>
                      <m:r>
                        <a:rPr lang="en-US" sz="1800">
                          <a:latin typeface="Cambria Math" panose="02040503050406030204" pitchFamily="18" charset="0"/>
                        </a:rPr>
                        <m:t>+</m:t>
                      </m:r>
                      <m:sSub>
                        <m:sSubPr>
                          <m:ctrlPr>
                            <a:rPr lang="en-US" sz="1800">
                              <a:latin typeface="Cambria Math" panose="02040503050406030204" pitchFamily="18" charset="0"/>
                            </a:rPr>
                          </m:ctrlPr>
                        </m:sSubPr>
                        <m:e>
                          <m:r>
                            <a:rPr lang="en-US" sz="1800">
                              <a:latin typeface="Cambria Math" panose="02040503050406030204" pitchFamily="18" charset="0"/>
                            </a:rPr>
                            <m:t>𝑠</m:t>
                          </m:r>
                        </m:e>
                        <m:sub>
                          <m:r>
                            <a:rPr lang="en-US" sz="1800">
                              <a:latin typeface="Cambria Math" panose="02040503050406030204" pitchFamily="18" charset="0"/>
                            </a:rPr>
                            <m:t>𝐷𝐴</m:t>
                          </m:r>
                        </m:sub>
                      </m:sSub>
                      <m:r>
                        <a:rPr lang="en-US" sz="1800">
                          <a:latin typeface="Cambria Math" panose="02040503050406030204" pitchFamily="18" charset="0"/>
                        </a:rPr>
                        <m:t>(</m:t>
                      </m:r>
                      <m:r>
                        <a:rPr lang="en-US" sz="1800">
                          <a:latin typeface="Cambria Math" panose="02040503050406030204" pitchFamily="18" charset="0"/>
                        </a:rPr>
                        <m:t>𝑟𝑖</m:t>
                      </m:r>
                      <m:r>
                        <a:rPr lang="en-US" sz="1800">
                          <a:latin typeface="Cambria Math" panose="02040503050406030204" pitchFamily="18" charset="0"/>
                        </a:rPr>
                        <m:t>,</m:t>
                      </m:r>
                      <m:r>
                        <a:rPr lang="en-US" sz="1800">
                          <a:latin typeface="Cambria Math" panose="02040503050406030204" pitchFamily="18" charset="0"/>
                        </a:rPr>
                        <m:t>𝑁𝑖</m:t>
                      </m:r>
                      <m:r>
                        <a:rPr lang="en-US" sz="1800">
                          <a:latin typeface="Cambria Math" panose="02040503050406030204" pitchFamily="18" charset="0"/>
                        </a:rPr>
                        <m:t>))</m:t>
                      </m:r>
                    </m:oMath>
                  </m:oMathPara>
                </a14:m>
                <a:endParaRPr lang="fa-IR" sz="18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
                      <m:sSub>
                        <m:sSubPr>
                          <m:ctrlPr>
                            <a:rPr lang="en-US" sz="1800">
                              <a:latin typeface="Cambria Math" panose="02040503050406030204" pitchFamily="18" charset="0"/>
                            </a:rPr>
                          </m:ctrlPr>
                        </m:sSubPr>
                        <m:e>
                          <m:r>
                            <a:rPr lang="en-US" sz="1800">
                              <a:latin typeface="Cambria Math" panose="02040503050406030204" pitchFamily="18" charset="0"/>
                            </a:rPr>
                            <m:t>𝑠</m:t>
                          </m:r>
                        </m:e>
                        <m:sub>
                          <m:r>
                            <a:rPr lang="en-US" sz="1800">
                              <a:latin typeface="Cambria Math" panose="02040503050406030204" pitchFamily="18" charset="0"/>
                            </a:rPr>
                            <m:t>𝐷𝐴</m:t>
                          </m:r>
                        </m:sub>
                      </m:sSub>
                      <m:r>
                        <a:rPr lang="en-US" sz="1800">
                          <a:latin typeface="Cambria Math" panose="02040503050406030204" pitchFamily="18" charset="0"/>
                        </a:rPr>
                        <m:t>=</m:t>
                      </m:r>
                      <m:f>
                        <m:fPr>
                          <m:ctrlPr>
                            <a:rPr lang="en-US" sz="1800">
                              <a:latin typeface="Cambria Math" panose="02040503050406030204" pitchFamily="18" charset="0"/>
                            </a:rPr>
                          </m:ctrlPr>
                        </m:fPr>
                        <m:num>
                          <m:r>
                            <a:rPr lang="en-US" sz="1800">
                              <a:latin typeface="Cambria Math" panose="02040503050406030204" pitchFamily="18" charset="0"/>
                            </a:rPr>
                            <m:t>1+</m:t>
                          </m:r>
                          <m:r>
                            <m:rPr>
                              <m:sty m:val="p"/>
                            </m:rPr>
                            <a:rPr lang="en-US" sz="1800">
                              <a:latin typeface="Cambria Math" panose="02040503050406030204" pitchFamily="18" charset="0"/>
                            </a:rPr>
                            <m:t>tanh</m:t>
                          </m:r>
                          <m:r>
                            <a:rPr lang="en-US" sz="1800">
                              <a:latin typeface="Cambria Math" panose="02040503050406030204" pitchFamily="18" charset="0"/>
                            </a:rPr>
                            <m:t>⁡(</m:t>
                          </m:r>
                          <m:r>
                            <a:rPr lang="en-US" sz="1800">
                              <a:latin typeface="Cambria Math" panose="02040503050406030204" pitchFamily="18" charset="0"/>
                            </a:rPr>
                            <m:t>𝑁𝑖</m:t>
                          </m:r>
                          <m:r>
                            <a:rPr lang="en-US" sz="1800">
                              <a:latin typeface="Cambria Math" panose="02040503050406030204" pitchFamily="18" charset="0"/>
                            </a:rPr>
                            <m:t>×</m:t>
                          </m:r>
                          <m:r>
                            <a:rPr lang="en-US" sz="1800">
                              <a:latin typeface="Cambria Math" panose="02040503050406030204" pitchFamily="18" charset="0"/>
                            </a:rPr>
                            <m:t>𝑟𝑖</m:t>
                          </m:r>
                          <m:r>
                            <a:rPr lang="en-US" sz="1800">
                              <a:latin typeface="Cambria Math" panose="02040503050406030204" pitchFamily="18" charset="0"/>
                            </a:rPr>
                            <m:t> −</m:t>
                          </m:r>
                          <m:sSub>
                            <m:sSubPr>
                              <m:ctrlPr>
                                <a:rPr lang="en-US" sz="1800">
                                  <a:latin typeface="Cambria Math" panose="02040503050406030204" pitchFamily="18" charset="0"/>
                                </a:rPr>
                              </m:ctrlPr>
                            </m:sSubPr>
                            <m:e>
                              <m:r>
                                <a:rPr lang="en-US" sz="1800">
                                  <a:latin typeface="Cambria Math" panose="02040503050406030204" pitchFamily="18" charset="0"/>
                                </a:rPr>
                                <m:t>𝜃</m:t>
                              </m:r>
                            </m:e>
                            <m:sub>
                              <m:r>
                                <a:rPr lang="en-US" sz="1800">
                                  <a:latin typeface="Cambria Math" panose="02040503050406030204" pitchFamily="18" charset="0"/>
                                </a:rPr>
                                <m:t>𝐷𝐴</m:t>
                              </m:r>
                            </m:sub>
                          </m:sSub>
                          <m:r>
                            <a:rPr lang="en-US" sz="1800">
                              <a:latin typeface="Cambria Math" panose="02040503050406030204" pitchFamily="18" charset="0"/>
                            </a:rPr>
                            <m:t>)</m:t>
                          </m:r>
                        </m:num>
                        <m:den>
                          <m:r>
                            <a:rPr lang="en-US" sz="1800">
                              <a:latin typeface="Cambria Math" panose="02040503050406030204" pitchFamily="18" charset="0"/>
                            </a:rPr>
                            <m:t>2</m:t>
                          </m:r>
                        </m:den>
                      </m:f>
                      <m:r>
                        <a:rPr lang="en-US" sz="1800">
                          <a:latin typeface="Cambria Math" panose="02040503050406030204" pitchFamily="18" charset="0"/>
                        </a:rPr>
                        <m:t> </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Value signal representing the system's evaluation of the current performed action</a:t>
                </a:r>
              </a:p>
              <a:p>
                <a:pPr marL="0" indent="0" algn="just">
                  <a:buNone/>
                </a:pPr>
                <a14:m>
                  <m:oMathPara xmlns:m="http://schemas.openxmlformats.org/officeDocument/2006/math">
                    <m:oMath>
                      <m:r>
                        <a:rPr lang="en-US" sz="1800">
                          <a:latin typeface="Cambria Math" panose="02040503050406030204" pitchFamily="18" charset="0"/>
                        </a:rPr>
                        <m:t>𝑉</m:t>
                      </m:r>
                      <m:d>
                        <m:dPr>
                          <m:ctrlPr>
                            <a:rPr lang="en-US" sz="1800">
                              <a:latin typeface="Cambria Math" panose="02040503050406030204" pitchFamily="18" charset="0"/>
                            </a:rPr>
                          </m:ctrlPr>
                        </m:dPr>
                        <m:e>
                          <m:r>
                            <a:rPr lang="en-US" sz="1800">
                              <a:latin typeface="Cambria Math" panose="02040503050406030204" pitchFamily="18" charset="0"/>
                            </a:rPr>
                            <m:t>𝑘</m:t>
                          </m:r>
                        </m:e>
                      </m:d>
                      <m:r>
                        <a:rPr lang="en-US" sz="1800">
                          <a:latin typeface="Cambria Math" panose="02040503050406030204" pitchFamily="18" charset="0"/>
                        </a:rPr>
                        <m:t>=</m:t>
                      </m:r>
                      <m:sSub>
                        <m:sSubPr>
                          <m:ctrlPr>
                            <a:rPr lang="en-US" sz="1800">
                              <a:latin typeface="Cambria Math" panose="02040503050406030204" pitchFamily="18" charset="0"/>
                            </a:rPr>
                          </m:ctrlPr>
                        </m:sSubPr>
                        <m:e>
                          <m:r>
                            <a:rPr lang="en-US" sz="1800">
                              <a:latin typeface="Cambria Math" panose="02040503050406030204" pitchFamily="18" charset="0"/>
                            </a:rPr>
                            <m:t>(</m:t>
                          </m:r>
                          <m:r>
                            <a:rPr lang="en-US" sz="1800">
                              <a:latin typeface="Cambria Math" panose="02040503050406030204" pitchFamily="18" charset="0"/>
                            </a:rPr>
                            <m:t>𝑊</m:t>
                          </m:r>
                        </m:e>
                        <m:sub>
                          <m:r>
                            <a:rPr lang="en-US" sz="1800">
                              <a:latin typeface="Cambria Math" panose="02040503050406030204" pitchFamily="18" charset="0"/>
                            </a:rPr>
                            <m:t>𝑣</m:t>
                          </m:r>
                        </m:sub>
                      </m:sSub>
                      <m:r>
                        <a:rPr lang="en-US" sz="1800">
                          <a:latin typeface="Cambria Math" panose="02040503050406030204" pitchFamily="18" charset="0"/>
                        </a:rPr>
                        <m:t>+</m:t>
                      </m:r>
                      <m:r>
                        <a:rPr lang="en-US" sz="1800">
                          <a:latin typeface="Cambria Math" panose="02040503050406030204" pitchFamily="18" charset="0"/>
                        </a:rPr>
                        <m:t>𝑏𝑎𝑠𝑒</m:t>
                      </m:r>
                      <m:r>
                        <a:rPr lang="en-US" sz="1800">
                          <a:latin typeface="Cambria Math" panose="02040503050406030204" pitchFamily="18" charset="0"/>
                        </a:rPr>
                        <m:t>)(</m:t>
                      </m:r>
                      <m:r>
                        <a:rPr lang="en-US" sz="1800">
                          <a:latin typeface="Cambria Math" panose="02040503050406030204" pitchFamily="18" charset="0"/>
                        </a:rPr>
                        <m:t>𝐼</m:t>
                      </m:r>
                      <m:r>
                        <a:rPr lang="en-US" sz="1800">
                          <a:latin typeface="Cambria Math" panose="02040503050406030204" pitchFamily="18" charset="0"/>
                        </a:rPr>
                        <m:t>(</m:t>
                      </m:r>
                      <m:r>
                        <a:rPr lang="en-US" sz="1800">
                          <a:latin typeface="Cambria Math" panose="02040503050406030204" pitchFamily="18" charset="0"/>
                        </a:rPr>
                        <m:t>𝑘</m:t>
                      </m:r>
                      <m:r>
                        <a:rPr lang="en-US" sz="1800">
                          <a:latin typeface="Cambria Math" panose="02040503050406030204" pitchFamily="18" charset="0"/>
                        </a:rPr>
                        <m:t>))</m:t>
                      </m:r>
                    </m:oMath>
                  </m:oMathPara>
                </a14:m>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Reward prediction error, which is the discrepancy between the immediate reward</a:t>
                </a:r>
              </a:p>
              <a:p>
                <a:pPr marL="0" indent="0" algn="just">
                  <a:buNone/>
                </a:pPr>
                <a14:m>
                  <m:oMathPara xmlns:m="http://schemas.openxmlformats.org/officeDocument/2006/math">
                    <m:oMath>
                      <m:r>
                        <a:rPr lang="en-US" sz="1800">
                          <a:latin typeface="Cambria Math" panose="02040503050406030204" pitchFamily="18" charset="0"/>
                        </a:rPr>
                        <m:t>𝛿</m:t>
                      </m:r>
                      <m:d>
                        <m:dPr>
                          <m:ctrlPr>
                            <a:rPr lang="en-US" sz="1800">
                              <a:latin typeface="Cambria Math" panose="02040503050406030204" pitchFamily="18" charset="0"/>
                            </a:rPr>
                          </m:ctrlPr>
                        </m:dPr>
                        <m:e>
                          <m:r>
                            <a:rPr lang="en-US" sz="1800">
                              <a:latin typeface="Cambria Math" panose="02040503050406030204" pitchFamily="18" charset="0"/>
                            </a:rPr>
                            <m:t>𝑘</m:t>
                          </m:r>
                        </m:e>
                      </m:d>
                      <m:r>
                        <a:rPr lang="en-US" sz="1800">
                          <a:latin typeface="Cambria Math" panose="02040503050406030204" pitchFamily="18" charset="0"/>
                        </a:rPr>
                        <m:t>=</m:t>
                      </m:r>
                      <m:r>
                        <a:rPr lang="en-US" sz="1800">
                          <a:latin typeface="Cambria Math" panose="02040503050406030204" pitchFamily="18" charset="0"/>
                        </a:rPr>
                        <m:t>𝑟𝑖</m:t>
                      </m:r>
                      <m:d>
                        <m:dPr>
                          <m:ctrlPr>
                            <a:rPr lang="en-US" sz="1800">
                              <a:latin typeface="Cambria Math" panose="02040503050406030204" pitchFamily="18" charset="0"/>
                            </a:rPr>
                          </m:ctrlPr>
                        </m:dPr>
                        <m:e>
                          <m:r>
                            <a:rPr lang="en-US" sz="1800">
                              <a:latin typeface="Cambria Math" panose="02040503050406030204" pitchFamily="18" charset="0"/>
                            </a:rPr>
                            <m:t>𝑘</m:t>
                          </m:r>
                        </m:e>
                      </m:d>
                      <m:r>
                        <a:rPr lang="en-US" sz="1800">
                          <a:latin typeface="Cambria Math" panose="02040503050406030204" pitchFamily="18" charset="0"/>
                        </a:rPr>
                        <m:t>+</m:t>
                      </m:r>
                      <m:r>
                        <a:rPr lang="en-US" sz="1800">
                          <a:latin typeface="Cambria Math" panose="02040503050406030204" pitchFamily="18" charset="0"/>
                        </a:rPr>
                        <m:t>𝜇</m:t>
                      </m:r>
                      <m:r>
                        <a:rPr lang="en-US" sz="1800">
                          <a:latin typeface="Cambria Math" panose="02040503050406030204" pitchFamily="18" charset="0"/>
                        </a:rPr>
                        <m:t>𝑉</m:t>
                      </m:r>
                      <m:d>
                        <m:dPr>
                          <m:ctrlPr>
                            <a:rPr lang="en-US" sz="1800">
                              <a:latin typeface="Cambria Math" panose="02040503050406030204" pitchFamily="18" charset="0"/>
                            </a:rPr>
                          </m:ctrlPr>
                        </m:dPr>
                        <m:e>
                          <m:r>
                            <a:rPr lang="en-US" sz="1800">
                              <a:latin typeface="Cambria Math" panose="02040503050406030204" pitchFamily="18" charset="0"/>
                            </a:rPr>
                            <m:t>𝐾</m:t>
                          </m:r>
                          <m:r>
                            <a:rPr lang="en-US" sz="1800">
                              <a:latin typeface="Cambria Math" panose="02040503050406030204" pitchFamily="18" charset="0"/>
                            </a:rPr>
                            <m:t>+1</m:t>
                          </m:r>
                        </m:e>
                      </m:d>
                      <m:r>
                        <a:rPr lang="en-US" sz="1800">
                          <a:latin typeface="Cambria Math" panose="02040503050406030204" pitchFamily="18" charset="0"/>
                        </a:rPr>
                        <m:t>−</m:t>
                      </m:r>
                      <m:r>
                        <a:rPr lang="en-US" sz="1800">
                          <a:latin typeface="Cambria Math" panose="02040503050406030204" pitchFamily="18" charset="0"/>
                        </a:rPr>
                        <m:t>𝑉</m:t>
                      </m:r>
                      <m:r>
                        <a:rPr lang="en-US" sz="1800">
                          <a:latin typeface="Cambria Math" panose="02040503050406030204" pitchFamily="18" charset="0"/>
                        </a:rPr>
                        <m:t>(</m:t>
                      </m:r>
                      <m:r>
                        <a:rPr lang="en-US" sz="1800">
                          <a:latin typeface="Cambria Math" panose="02040503050406030204" pitchFamily="18" charset="0"/>
                        </a:rPr>
                        <m:t>𝑘</m:t>
                      </m:r>
                      <m:r>
                        <a:rPr lang="en-US" sz="1800">
                          <a:latin typeface="Cambria Math" panose="02040503050406030204" pitchFamily="18" charset="0"/>
                        </a:rPr>
                        <m:t>)</m:t>
                      </m:r>
                    </m:oMath>
                  </m:oMathPara>
                </a14:m>
                <a:endParaRPr lang="en-US" sz="1800" dirty="0">
                  <a:latin typeface="Times New Roman" panose="02020603050405020304" pitchFamily="18" charset="0"/>
                  <a:cs typeface="Times New Roman" panose="02020603050405020304" pitchFamily="18" charset="0"/>
                </a:endParaRPr>
              </a:p>
            </p:txBody>
          </p:sp>
        </mc:Choice>
        <mc:Fallback xmlns="">
          <p:sp>
            <p:nvSpPr>
              <p:cNvPr id="6" name="Content Placeholder 5">
                <a:extLst>
                  <a:ext uri="{FF2B5EF4-FFF2-40B4-BE49-F238E27FC236}">
                    <a16:creationId xmlns:a16="http://schemas.microsoft.com/office/drawing/2014/main" id="{52265D0C-963B-6BFB-D444-8EB7AA4199F2}"/>
                  </a:ext>
                </a:extLst>
              </p:cNvPr>
              <p:cNvSpPr>
                <a:spLocks noGrp="1" noRot="1" noChangeAspect="1" noMove="1" noResize="1" noEditPoints="1" noAdjustHandles="1" noChangeArrowheads="1" noChangeShapeType="1" noTextEdit="1"/>
              </p:cNvSpPr>
              <p:nvPr>
                <p:ph idx="1"/>
              </p:nvPr>
            </p:nvSpPr>
            <p:spPr>
              <a:xfrm>
                <a:off x="15455" y="1213171"/>
                <a:ext cx="8430925" cy="5420894"/>
              </a:xfrm>
              <a:blipFill>
                <a:blip r:embed="rId5"/>
                <a:stretch>
                  <a:fillRect l="-651" t="-562" r="-578"/>
                </a:stretch>
              </a:blipFill>
            </p:spPr>
            <p:txBody>
              <a:bodyPr/>
              <a:lstStyle/>
              <a:p>
                <a:r>
                  <a:rPr lang="en-US">
                    <a:noFill/>
                  </a:rPr>
                  <a:t> </a:t>
                </a:r>
              </a:p>
            </p:txBody>
          </p:sp>
        </mc:Fallback>
      </mc:AlternateContent>
    </p:spTree>
    <p:extLst>
      <p:ext uri="{BB962C8B-B14F-4D97-AF65-F5344CB8AC3E}">
        <p14:creationId xmlns:p14="http://schemas.microsoft.com/office/powerpoint/2010/main" val="2197296130"/>
      </p:ext>
    </p:extLst>
  </p:cSld>
  <p:clrMapOvr>
    <a:masterClrMapping/>
  </p:clrMapOvr>
  <mc:AlternateContent xmlns:mc="http://schemas.openxmlformats.org/markup-compatibility/2006" xmlns:p14="http://schemas.microsoft.com/office/powerpoint/2010/main">
    <mc:Choice Requires="p14">
      <p:transition spd="slow" p14:dur="2000" advTm="125303"/>
    </mc:Choice>
    <mc:Fallback xmlns="">
      <p:transition spd="slow" advTm="125303"/>
    </mc:Fallback>
  </mc:AlternateContent>
  <p:extLst>
    <p:ext uri="{3A86A75C-4F4B-4683-9AE1-C65F6400EC91}">
      <p14:laserTraceLst xmlns:p14="http://schemas.microsoft.com/office/powerpoint/2010/main">
        <p14:tracePtLst>
          <p14:tracePt t="99059" x="3448050" y="6210300"/>
          <p14:tracePt t="99220" x="2990850" y="6807200"/>
          <p14:tracePt t="99232" x="2957513" y="6764338"/>
          <p14:tracePt t="99234" x="2949575" y="6756400"/>
          <p14:tracePt t="99250" x="2932113" y="6705600"/>
          <p14:tracePt t="99265" x="2897188" y="6670675"/>
          <p14:tracePt t="99283" x="2871788" y="6619875"/>
          <p14:tracePt t="99299" x="2846388" y="6594475"/>
          <p14:tracePt t="99318" x="2830513" y="6551613"/>
          <p14:tracePt t="99335" x="2820988" y="6526213"/>
          <p14:tracePt t="99350" x="2813050" y="6510338"/>
          <p14:tracePt t="99352" x="2805113" y="6492875"/>
          <p14:tracePt t="99368" x="2795588" y="6483350"/>
          <p14:tracePt t="99385" x="2778125" y="6467475"/>
          <p14:tracePt t="99387" x="2770188" y="6450013"/>
          <p14:tracePt t="99401" x="2752725" y="6442075"/>
          <p14:tracePt t="99418" x="2744788" y="6416675"/>
          <p14:tracePt t="99432" x="2727325" y="6399213"/>
          <p14:tracePt t="99450" x="2701925" y="6365875"/>
          <p14:tracePt t="99466" x="2686050" y="6348413"/>
          <p14:tracePt t="99483" x="2633663" y="6313488"/>
          <p14:tracePt t="99498" x="2625725" y="6305550"/>
          <p14:tracePt t="99515" x="2608263" y="6297613"/>
          <p14:tracePt t="99532" x="2600325" y="6280150"/>
          <p14:tracePt t="99549" x="2592388" y="6280150"/>
          <p14:tracePt t="99565" x="2592388" y="6272213"/>
          <p14:tracePt t="99594" x="2600325" y="6272213"/>
          <p14:tracePt t="99599" x="2608263" y="6272213"/>
          <p14:tracePt t="99615" x="2633663" y="6272213"/>
          <p14:tracePt t="99632" x="2676525" y="6272213"/>
          <p14:tracePt t="99649" x="2736850" y="6272213"/>
          <p14:tracePt t="99665" x="2752725" y="6272213"/>
          <p14:tracePt t="99683" x="2770188" y="6272213"/>
          <p14:tracePt t="99699" x="2787650" y="6272213"/>
          <p14:tracePt t="99732" x="2787650" y="6262688"/>
          <p14:tracePt t="99745" x="2770188" y="6254750"/>
          <p14:tracePt t="99752" x="2762250" y="6254750"/>
          <p14:tracePt t="99765" x="2744788" y="6254750"/>
          <p14:tracePt t="99766" x="2736850" y="6254750"/>
          <p14:tracePt t="99782" x="2693988" y="6246813"/>
          <p14:tracePt t="99799" x="2668588" y="6246813"/>
          <p14:tracePt t="99801" x="2660650" y="6246813"/>
          <p14:tracePt t="99815" x="2651125" y="6246813"/>
          <p14:tracePt t="99836" x="2633663" y="6246813"/>
          <p14:tracePt t="99869" x="2643188" y="6246813"/>
          <p14:tracePt t="99876" x="2651125" y="6246813"/>
          <p14:tracePt t="99884" x="2660650" y="6246813"/>
          <p14:tracePt t="99900" x="2686050" y="6246813"/>
          <p14:tracePt t="99915" x="2711450" y="6246813"/>
          <p14:tracePt t="99933" x="2727325" y="6246813"/>
          <p14:tracePt t="99948" x="2744788" y="6246813"/>
          <p14:tracePt t="99966" x="2752725" y="6246813"/>
          <p14:tracePt t="99982" x="2762250" y="6246813"/>
          <p14:tracePt t="100014" x="2752725" y="6246813"/>
          <p14:tracePt t="100021" x="2744788" y="6246813"/>
          <p14:tracePt t="100031" x="2736850" y="6246813"/>
          <p14:tracePt t="100050" x="2701925" y="6246813"/>
          <p14:tracePt t="100065" x="2693988" y="6246813"/>
          <p14:tracePt t="100084" x="2686050" y="6246813"/>
          <p14:tracePt t="100110" x="2701925" y="6246813"/>
          <p14:tracePt t="100118" x="2711450" y="6237288"/>
          <p14:tracePt t="100135" x="2752725" y="6229350"/>
          <p14:tracePt t="100150" x="2813050" y="6229350"/>
          <p14:tracePt t="100152" x="2846388" y="6221413"/>
          <p14:tracePt t="100166" x="2881313" y="6221413"/>
          <p14:tracePt t="100182" x="2897188" y="6221413"/>
          <p14:tracePt t="100199" x="2906713" y="6221413"/>
          <p14:tracePt t="100217" x="2914650" y="6221413"/>
          <p14:tracePt t="100277" x="2906713" y="6221413"/>
          <p14:tracePt t="100291" x="2897188" y="6221413"/>
          <p14:tracePt t="108493" x="2940050" y="6237288"/>
          <p14:tracePt t="108498" x="3016250" y="6254750"/>
          <p14:tracePt t="108504" x="3076575" y="6272213"/>
          <p14:tracePt t="108515" x="3144838" y="6280150"/>
          <p14:tracePt t="108534" x="3246438" y="6305550"/>
          <p14:tracePt t="108548" x="3279775" y="6313488"/>
          <p14:tracePt t="108568" x="3330575" y="6323013"/>
          <p14:tracePt t="108582" x="3355975" y="6323013"/>
          <p14:tracePt t="108602" x="3382963" y="6323013"/>
          <p14:tracePt t="108618" x="3390900" y="6323013"/>
          <p14:tracePt t="108636" x="3416300" y="6323013"/>
          <p14:tracePt t="108651" x="3424238" y="6323013"/>
          <p14:tracePt t="108668" x="3433763" y="6323013"/>
          <p14:tracePt t="108687" x="3449638" y="6323013"/>
          <p14:tracePt t="108701" x="3459163" y="6323013"/>
          <p14:tracePt t="108718" x="3467100" y="6313488"/>
          <p14:tracePt t="108739" x="3475038" y="6305550"/>
          <p14:tracePt t="108760" x="3484563" y="6297613"/>
          <p14:tracePt t="108781" x="3492500" y="6297613"/>
          <p14:tracePt t="108795" x="3492500" y="6288088"/>
          <p14:tracePt t="108815" x="3502025" y="6280150"/>
          <p14:tracePt t="108836" x="3509963" y="6280150"/>
          <p14:tracePt t="108856" x="3509963" y="6272213"/>
          <p14:tracePt t="108877" x="3509963" y="6262688"/>
          <p14:tracePt t="108892" x="3502025" y="6262688"/>
          <p14:tracePt t="108912" x="3492500" y="6262688"/>
          <p14:tracePt t="108919" x="3475038" y="6254750"/>
          <p14:tracePt t="108934" x="3459163" y="6254750"/>
          <p14:tracePt t="108949" x="3449638" y="6254750"/>
          <p14:tracePt t="108968" x="3433763" y="6246813"/>
          <p14:tracePt t="108984" x="3416300" y="6237288"/>
          <p14:tracePt t="109000" x="3416300" y="6229350"/>
          <p14:tracePt t="109002" x="3408363" y="6229350"/>
          <p14:tracePt t="109029" x="3416300" y="6229350"/>
          <p14:tracePt t="109042" x="3424238" y="6229350"/>
          <p14:tracePt t="109050" x="3433763" y="6229350"/>
          <p14:tracePt t="109065" x="3459163" y="6229350"/>
          <p14:tracePt t="109084" x="3502025" y="6229350"/>
          <p14:tracePt t="109102" x="3509963" y="6229350"/>
          <p14:tracePt t="109119" x="3527425" y="6229350"/>
          <p14:tracePt t="109135" x="3543300" y="6229350"/>
          <p14:tracePt t="109153" x="3552825" y="6229350"/>
          <p14:tracePt t="109209" x="3543300" y="6229350"/>
          <p14:tracePt t="109222" x="3543300" y="6221413"/>
          <p14:tracePt t="109236" x="3535363" y="6221413"/>
          <p14:tracePt t="109867" x="3646488" y="6211888"/>
          <p14:tracePt t="109873" x="3773488" y="6203950"/>
          <p14:tracePt t="109884" x="3908425" y="6186488"/>
          <p14:tracePt t="109902" x="4240213" y="6178550"/>
          <p14:tracePt t="109918" x="4410075" y="6178550"/>
          <p14:tracePt t="109936" x="4579938" y="6186488"/>
          <p14:tracePt t="109952" x="4640263" y="6186488"/>
          <p14:tracePt t="109967" x="4691063" y="6194425"/>
          <p14:tracePt t="109985" x="4749800" y="6194425"/>
          <p14:tracePt t="110002" x="4784725" y="6194425"/>
          <p14:tracePt t="110004" x="4792663" y="6194425"/>
          <p14:tracePt t="110016" x="4810125" y="6194425"/>
          <p14:tracePt t="110035" x="4818063" y="6194425"/>
          <p14:tracePt t="110048" x="4827588" y="6194425"/>
          <p14:tracePt t="110068" x="4835525" y="6194425"/>
          <p14:tracePt t="110137" x="4827588" y="6194425"/>
          <p14:tracePt t="110143" x="4818063" y="6194425"/>
          <p14:tracePt t="110155" x="4802188" y="6194425"/>
          <p14:tracePt t="110169" x="4775200" y="6194425"/>
          <p14:tracePt t="110186" x="4741863" y="6194425"/>
          <p14:tracePt t="110198" x="4716463" y="6194425"/>
          <p14:tracePt t="110219" x="4673600" y="6194425"/>
          <p14:tracePt t="110235" x="4657725" y="6194425"/>
          <p14:tracePt t="110251" x="4640263" y="6194425"/>
          <p14:tracePt t="110269" x="4622800" y="6194425"/>
          <p14:tracePt t="110282" x="4614863" y="6194425"/>
          <p14:tracePt t="110322" x="4630738" y="6194425"/>
          <p14:tracePt t="110330" x="4648200" y="6186488"/>
          <p14:tracePt t="110335" x="4691063" y="6178550"/>
          <p14:tracePt t="110352" x="4886325" y="6153150"/>
          <p14:tracePt t="110366" x="5438775" y="6110288"/>
          <p14:tracePt t="110385" x="5803900" y="6110288"/>
          <p14:tracePt t="110401" x="5838825" y="6110288"/>
          <p14:tracePt t="110416" x="5854700" y="6110288"/>
          <p14:tracePt t="110435" x="5864225" y="6110288"/>
          <p14:tracePt t="110494" x="5854700" y="6110288"/>
          <p14:tracePt t="110500" x="5846763" y="6110288"/>
          <p14:tracePt t="110516" x="5803900" y="6110288"/>
          <p14:tracePt t="110532" x="5676900" y="6118225"/>
          <p14:tracePt t="110550" x="5013325" y="6135688"/>
          <p14:tracePt t="110565" x="4673600" y="6161088"/>
          <p14:tracePt t="110582" x="4546600" y="6169025"/>
          <p14:tracePt t="110584" x="4529138" y="6169025"/>
          <p14:tracePt t="110600" x="4521200" y="6169025"/>
          <p14:tracePt t="110616" x="4513263" y="6169025"/>
          <p14:tracePt t="110660" x="4529138" y="6169025"/>
          <p14:tracePt t="110666" x="4538663" y="6169025"/>
          <p14:tracePt t="110673" x="4554538" y="6169025"/>
          <p14:tracePt t="110683" x="4579938" y="6169025"/>
          <p14:tracePt t="110702" x="4640263" y="6169025"/>
          <p14:tracePt t="110704" x="4699000" y="6169025"/>
          <p14:tracePt t="110718" x="4860925" y="6169025"/>
          <p14:tracePt t="110734" x="4962525" y="6169025"/>
          <p14:tracePt t="110736" x="5005388" y="6169025"/>
          <p14:tracePt t="110752" x="5038725" y="6169025"/>
          <p14:tracePt t="110766" x="5064125" y="6169025"/>
          <p14:tracePt t="110782" x="5091113" y="6169025"/>
          <p14:tracePt t="110798" x="5099050" y="6169025"/>
          <p14:tracePt t="110816" x="5106988" y="6169025"/>
          <p14:tracePt t="112580" x="5099050" y="6169025"/>
          <p14:tracePt t="112585" x="5073650" y="6169025"/>
          <p14:tracePt t="112602" x="5005388" y="6178550"/>
          <p14:tracePt t="112616" x="4929188" y="6178550"/>
          <p14:tracePt t="112635" x="4810125" y="6186488"/>
          <p14:tracePt t="112651" x="4733925" y="6186488"/>
          <p14:tracePt t="112668" x="4640263" y="6186488"/>
          <p14:tracePt t="112670" x="4564063" y="6186488"/>
          <p14:tracePt t="112686" x="4376738" y="6194425"/>
          <p14:tracePt t="112702" x="4181475" y="6211888"/>
          <p14:tracePt t="112703" x="4079875" y="6211888"/>
          <p14:tracePt t="112715" x="4011613" y="6211888"/>
          <p14:tracePt t="112717" x="3968750" y="6211888"/>
          <p14:tracePt t="112735" x="3892550" y="6211888"/>
          <p14:tracePt t="112748" x="3798888" y="6203950"/>
          <p14:tracePt t="112766" x="3722688" y="6194425"/>
          <p14:tracePt t="112782" x="3671888" y="6186488"/>
          <p14:tracePt t="112799" x="3619500" y="6178550"/>
          <p14:tracePt t="112799" x="3586163" y="6178550"/>
          <p14:tracePt t="112815" x="3543300" y="6178550"/>
          <p14:tracePt t="112834" x="3484563" y="6161088"/>
          <p14:tracePt t="112835" x="3467100" y="6153150"/>
          <p14:tracePt t="112850" x="3416300" y="6143625"/>
          <p14:tracePt t="112868" x="3382963" y="6135688"/>
          <p14:tracePt t="112869" x="3355975" y="6135688"/>
          <p14:tracePt t="112884" x="3322638" y="6127750"/>
          <p14:tracePt t="112899" x="3279775" y="6118225"/>
          <p14:tracePt t="112920" x="3211513" y="6118225"/>
          <p14:tracePt t="112933" x="3152775" y="6118225"/>
          <p14:tracePt t="112938" x="3119438" y="6110288"/>
          <p14:tracePt t="112952" x="3051175" y="6110288"/>
          <p14:tracePt t="112966" x="3008313" y="6110288"/>
          <p14:tracePt t="112982" x="2957513" y="6110288"/>
          <p14:tracePt t="113001" x="2871788" y="6127750"/>
          <p14:tracePt t="113015" x="2838450" y="6135688"/>
          <p14:tracePt t="113032" x="2805113" y="6143625"/>
          <p14:tracePt t="113049" x="2770188" y="6153150"/>
          <p14:tracePt t="113066" x="2736850" y="6153150"/>
          <p14:tracePt t="113085" x="2711450" y="6161088"/>
          <p14:tracePt t="113100" x="2693988" y="6161088"/>
          <p14:tracePt t="113119" x="2668588" y="6178550"/>
          <p14:tracePt t="113134" x="2651125" y="6186488"/>
          <p14:tracePt t="113152" x="2633663" y="6186488"/>
          <p14:tracePt t="113169" x="2617788" y="6186488"/>
          <p14:tracePt t="113184" x="2608263" y="6194425"/>
          <p14:tracePt t="113199" x="2600325" y="6194425"/>
          <p14:tracePt t="113215" x="2592388" y="6194425"/>
          <p14:tracePt t="113249" x="2582863" y="6194425"/>
          <p14:tracePt t="113255" x="2574925" y="6194425"/>
          <p14:tracePt t="113370" x="2582863" y="6194425"/>
          <p14:tracePt t="124234" x="2387600" y="5965825"/>
          <p14:tracePt t="124241" x="1920875" y="5380038"/>
          <p14:tracePt t="124249" x="1597025" y="4997450"/>
          <p14:tracePt t="124268" x="1044575" y="4291013"/>
          <p14:tracePt t="124283" x="544513" y="3619500"/>
          <p14:tracePt t="124288" x="271463" y="3246438"/>
          <p14:tracePt t="125303" x="2447925" y="585788"/>
          <p14:tracePt t="125303" x="2965450" y="952500"/>
          <p14:tracePt t="125303" x="3875088" y="1665288"/>
          <p14:tracePt t="125303" x="5005388" y="2676525"/>
          <p14:tracePt t="125303" x="5327650" y="2965450"/>
          <p14:tracePt t="125303" x="5565775" y="3195638"/>
          <p14:tracePt t="125303" x="5641975" y="3263900"/>
          <p14:tracePt t="125303" x="5761038" y="3365500"/>
          <p14:tracePt t="125303" x="5788025" y="3373438"/>
          <p14:tracePt t="125303" x="5641975" y="3790950"/>
          <p14:tracePt t="125303" x="5456238" y="4283075"/>
          <p14:tracePt t="125303" x="5302250" y="4640263"/>
          <p14:tracePt t="125303" x="5192713" y="4860925"/>
          <p14:tracePt t="125303" x="5030788" y="5175250"/>
          <p14:tracePt t="125303" x="4886325" y="5380038"/>
          <p14:tracePt t="125303" x="4802188" y="5524500"/>
          <p14:tracePt t="125303" x="4767263" y="5591175"/>
          <p14:tracePt t="125303" x="4733925" y="5634038"/>
          <p14:tracePt t="125303" x="4724400" y="5651500"/>
          <p14:tracePt t="125303" x="4699000" y="5659438"/>
          <p14:tracePt t="125303" x="4683125" y="5668963"/>
          <p14:tracePt t="125303" x="4657725" y="5676900"/>
          <p14:tracePt t="125303" x="4630738" y="5676900"/>
          <p14:tracePt t="125303" x="4614863" y="5676900"/>
          <p14:tracePt t="125303" x="4572000" y="5600700"/>
          <p14:tracePt t="125303" x="4503738" y="5302250"/>
          <p14:tracePt t="125303" x="4478338" y="5048250"/>
          <p14:tracePt t="125303" x="4478338" y="4979988"/>
          <p14:tracePt t="125303" x="4478338" y="4929188"/>
          <p14:tracePt t="125303" x="4478338" y="4911725"/>
          <p14:tracePt t="125303" x="4478338" y="4894263"/>
          <p14:tracePt t="125303" x="4478338" y="4878388"/>
          <p14:tracePt t="125303" x="4486275" y="4878388"/>
          <p14:tracePt t="125303" x="4495800" y="4878388"/>
          <p14:tracePt t="125303" x="4521200" y="4878388"/>
          <p14:tracePt t="125303" x="4622800" y="4919663"/>
          <p14:tracePt t="125303" x="5294313" y="5226050"/>
          <p14:tracePt t="125303" x="5727700" y="5514975"/>
          <p14:tracePt t="125303" x="6492875" y="6143625"/>
          <p14:tracePt t="125303" x="7205663" y="6799263"/>
          <p14:tracePt t="125303" x="8056563" y="6746875"/>
          <p14:tracePt t="125303" x="8047038" y="6721475"/>
          <p14:tracePt t="125303" x="7996238" y="6619875"/>
          <p14:tracePt t="125303" x="7894638" y="6475413"/>
          <p14:tracePt t="125303" x="7478713" y="5922963"/>
          <p14:tracePt t="125303" x="7045325" y="5524500"/>
          <p14:tracePt t="125303" x="6543675" y="5141913"/>
          <p14:tracePt t="125303" x="6288088" y="5005388"/>
          <p14:tracePt t="125303" x="5872163" y="4835525"/>
          <p14:tracePt t="125303" x="5507038" y="4716463"/>
          <p14:tracePt t="125303" x="5353050" y="4648200"/>
          <p14:tracePt t="125303" x="5064125" y="4521200"/>
          <p14:tracePt t="125303" x="4597400" y="4224338"/>
          <p14:tracePt t="125303" x="4384675" y="4037013"/>
          <p14:tracePt t="125303" x="4257675" y="3951288"/>
          <p14:tracePt t="125303" x="4206875" y="3908425"/>
          <p14:tracePt t="125303" x="3900488" y="3687763"/>
          <p14:tracePt t="125303" x="3492500" y="3355975"/>
          <p14:tracePt t="125303" x="2668588" y="2676525"/>
          <p14:tracePt t="125303" x="2082800" y="2243138"/>
          <p14:tracePt t="125303" x="1665288" y="1920875"/>
          <p14:tracePt t="125303" x="1368425" y="1674813"/>
          <p14:tracePt t="125303" x="917575" y="1325563"/>
          <p14:tracePt t="125303" x="519113" y="917575"/>
          <p14:tracePt t="125303" x="161925" y="271463"/>
          <p14:tracePt t="125303" x="101600" y="7938"/>
          <p14:tracePt t="125303" x="119063" y="993775"/>
          <p14:tracePt t="125303" x="347663" y="1216025"/>
          <p14:tracePt t="125303" x="552450" y="1360488"/>
          <p14:tracePt t="125303" x="654050" y="1419225"/>
          <p14:tracePt t="125303" x="849313" y="1520825"/>
          <p14:tracePt t="125303" x="968375" y="1571625"/>
          <p14:tracePt t="125303" x="1223963" y="1665288"/>
          <p14:tracePt t="125303" x="1477963" y="1725613"/>
          <p14:tracePt t="125303" x="1520825" y="1725613"/>
          <p14:tracePt t="125303" x="1555750" y="1725613"/>
          <p14:tracePt t="125303" x="1563688" y="1716088"/>
          <p14:tracePt t="125303" x="1563688" y="1690688"/>
          <p14:tracePt t="125303" x="1563688" y="1674813"/>
          <p14:tracePt t="125303" x="1555750" y="1657350"/>
          <p14:tracePt t="125303" x="1555750" y="1649413"/>
          <p14:tracePt t="125303" x="1546225" y="1639888"/>
          <p14:tracePt t="125303" x="1546225" y="1631950"/>
          <p14:tracePt t="125303" x="1538288" y="1622425"/>
          <p14:tracePt t="125303" x="1487488" y="1597025"/>
          <p14:tracePt t="125303" x="1096963" y="1350963"/>
          <p14:tracePt t="125303" x="441325" y="935038"/>
          <p14:tracePt t="125303" x="255588" y="849313"/>
          <p14:tracePt t="125303" x="42863" y="747713"/>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52AE8-E69F-512A-8926-43A2999A2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4B724B-170D-96C3-5613-4BE3385B6E45}"/>
              </a:ext>
            </a:extLst>
          </p:cNvPr>
          <p:cNvSpPr>
            <a:spLocks noGrp="1"/>
          </p:cNvSpPr>
          <p:nvPr>
            <p:ph type="title"/>
          </p:nvPr>
        </p:nvSpPr>
        <p:spPr>
          <a:xfrm>
            <a:off x="15455" y="325965"/>
            <a:ext cx="7691632" cy="887206"/>
          </a:xfrm>
        </p:spPr>
        <p:txBody>
          <a:bodyPr/>
          <a:lstStyle/>
          <a:p>
            <a:r>
              <a:rPr lang="en-US" dirty="0">
                <a:latin typeface="Times New Roman" panose="02020603050405020304" pitchFamily="18" charset="0"/>
                <a:cs typeface="Times New Roman" panose="02020603050405020304" pitchFamily="18" charset="0"/>
              </a:rPr>
              <a:t>N-S-C Dynamics</a:t>
            </a:r>
          </a:p>
        </p:txBody>
      </p:sp>
      <p:pic>
        <p:nvPicPr>
          <p:cNvPr id="3" name="Picture 2">
            <a:extLst>
              <a:ext uri="{FF2B5EF4-FFF2-40B4-BE49-F238E27FC236}">
                <a16:creationId xmlns:a16="http://schemas.microsoft.com/office/drawing/2014/main" id="{DACC2558-855A-E044-E820-3C22F79514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A5811CC-C329-7292-7DA9-B1FB405DA160}"/>
                  </a:ext>
                </a:extLst>
              </p:cNvPr>
              <p:cNvSpPr>
                <a:spLocks noGrp="1"/>
              </p:cNvSpPr>
              <p:nvPr>
                <p:ph idx="1"/>
              </p:nvPr>
            </p:nvSpPr>
            <p:spPr>
              <a:xfrm>
                <a:off x="15455" y="1213171"/>
                <a:ext cx="8430925" cy="5420894"/>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N-S-C dynamics is an internal subsystem within the model, consisting of three state variables: n(k), s(k), and c(k). This system forms a set of nonlinear difference equations that model the changes in these variables over time. These variables are automatically updated in response to both the external nicotine level and the complex interactions among themselves. The primary goal of this component is to simulate the fundamental neural processes involved in the absorption and processing of nicotine in the brain.</a:t>
                </a:r>
              </a:p>
              <a:p>
                <a:pPr marL="0" indent="0" algn="just">
                  <a:buNone/>
                </a:pPr>
                <a:r>
                  <a:rPr lang="en-US" sz="1800" dirty="0">
                    <a:latin typeface="Times New Roman" panose="02020603050405020304" pitchFamily="18" charset="0"/>
                    <a:cs typeface="Times New Roman" panose="02020603050405020304" pitchFamily="18" charset="0"/>
                  </a:rPr>
                  <a:t>The N-S-C dynamics is directly connected to the dopamine signaling (DA) module, as its output serves as a critical input for that module. Specifically, the variable Ni (nicotine absorption), which is used to compute the dopamine activation signal (</a:t>
                </a:r>
                <a14:m>
                  <m:oMath xmlns:m="http://schemas.openxmlformats.org/officeDocument/2006/math">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𝑠</m:t>
                        </m:r>
                      </m:e>
                      <m:sub>
                        <m:r>
                          <a:rPr lang="en-US" sz="1800" b="0" i="1" smtClean="0">
                            <a:latin typeface="Cambria Math" panose="02040503050406030204" pitchFamily="18" charset="0"/>
                            <a:cs typeface="Times New Roman" panose="02020603050405020304" pitchFamily="18" charset="0"/>
                          </a:rPr>
                          <m:t>𝐷𝐴</m:t>
                        </m:r>
                      </m:sub>
                    </m:sSub>
                  </m:oMath>
                </a14:m>
                <a:r>
                  <a:rPr lang="en-US" sz="1800" dirty="0">
                    <a:latin typeface="Times New Roman" panose="02020603050405020304" pitchFamily="18" charset="0"/>
                    <a:cs typeface="Times New Roman" panose="02020603050405020304" pitchFamily="18" charset="0"/>
                  </a:rPr>
                  <a:t>), is derived from the product of n and s (when nicotine administration is stopped). This connection ensures that the presence and processing of nicotine in the neural system directly influence dopamine activity, and thus impact reward processing and reinforcement learning. In this way, the N-S-C Dynamics provides the physiological foundation for nicotine’s effect on the brain's reward mechanisms and links it to the DA module.</a:t>
                </a:r>
              </a:p>
              <a:p>
                <a:pPr marL="0" indent="0" algn="just">
                  <a:buNone/>
                </a:pPr>
                <a:endParaRPr lang="en-US" sz="1800" dirty="0">
                  <a:latin typeface="Times New Roman" panose="02020603050405020304" pitchFamily="18" charset="0"/>
                  <a:cs typeface="Times New Roman" panose="02020603050405020304" pitchFamily="18" charset="0"/>
                </a:endParaRPr>
              </a:p>
            </p:txBody>
          </p:sp>
        </mc:Choice>
        <mc:Fallback xmlns="">
          <p:sp>
            <p:nvSpPr>
              <p:cNvPr id="6" name="Content Placeholder 5">
                <a:extLst>
                  <a:ext uri="{FF2B5EF4-FFF2-40B4-BE49-F238E27FC236}">
                    <a16:creationId xmlns:a16="http://schemas.microsoft.com/office/drawing/2014/main" id="{FA5811CC-C329-7292-7DA9-B1FB405DA160}"/>
                  </a:ext>
                </a:extLst>
              </p:cNvPr>
              <p:cNvSpPr>
                <a:spLocks noGrp="1" noRot="1" noChangeAspect="1" noMove="1" noResize="1" noEditPoints="1" noAdjustHandles="1" noChangeArrowheads="1" noChangeShapeType="1" noTextEdit="1"/>
              </p:cNvSpPr>
              <p:nvPr>
                <p:ph idx="1"/>
              </p:nvPr>
            </p:nvSpPr>
            <p:spPr>
              <a:xfrm>
                <a:off x="15455" y="1213171"/>
                <a:ext cx="8430925" cy="5420894"/>
              </a:xfrm>
              <a:blipFill>
                <a:blip r:embed="rId5"/>
                <a:stretch>
                  <a:fillRect l="-651" t="-562" r="-578"/>
                </a:stretch>
              </a:blipFill>
            </p:spPr>
            <p:txBody>
              <a:bodyPr/>
              <a:lstStyle/>
              <a:p>
                <a:r>
                  <a:rPr lang="en-US">
                    <a:noFill/>
                  </a:rPr>
                  <a:t> </a:t>
                </a:r>
              </a:p>
            </p:txBody>
          </p:sp>
        </mc:Fallback>
      </mc:AlternateContent>
    </p:spTree>
    <p:extLst>
      <p:ext uri="{BB962C8B-B14F-4D97-AF65-F5344CB8AC3E}">
        <p14:creationId xmlns:p14="http://schemas.microsoft.com/office/powerpoint/2010/main" val="2665077545"/>
      </p:ext>
    </p:extLst>
  </p:cSld>
  <p:clrMapOvr>
    <a:masterClrMapping/>
  </p:clrMapOvr>
  <mc:AlternateContent xmlns:mc="http://schemas.openxmlformats.org/markup-compatibility/2006" xmlns:p14="http://schemas.microsoft.com/office/powerpoint/2010/main">
    <mc:Choice Requires="p14">
      <p:transition spd="slow" p14:dur="2000" advTm="95983"/>
    </mc:Choice>
    <mc:Fallback xmlns="">
      <p:transition spd="slow" advTm="9598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83B9A-9CB4-84B9-8233-CCC066311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FF3B5-C321-3546-CBCD-B4B33D13A9C5}"/>
              </a:ext>
            </a:extLst>
          </p:cNvPr>
          <p:cNvSpPr>
            <a:spLocks noGrp="1"/>
          </p:cNvSpPr>
          <p:nvPr>
            <p:ph type="title"/>
          </p:nvPr>
        </p:nvSpPr>
        <p:spPr>
          <a:xfrm>
            <a:off x="15455" y="325965"/>
            <a:ext cx="7691632" cy="887206"/>
          </a:xfrm>
        </p:spPr>
        <p:txBody>
          <a:bodyPr/>
          <a:lstStyle/>
          <a:p>
            <a:r>
              <a:rPr lang="en-US" dirty="0">
                <a:latin typeface="Times New Roman" panose="02020603050405020304" pitchFamily="18" charset="0"/>
                <a:cs typeface="Times New Roman" panose="02020603050405020304" pitchFamily="18" charset="0"/>
              </a:rPr>
              <a:t>N-S-C Dynamics Equations</a:t>
            </a:r>
          </a:p>
        </p:txBody>
      </p:sp>
      <p:pic>
        <p:nvPicPr>
          <p:cNvPr id="3" name="Picture 2">
            <a:extLst>
              <a:ext uri="{FF2B5EF4-FFF2-40B4-BE49-F238E27FC236}">
                <a16:creationId xmlns:a16="http://schemas.microsoft.com/office/drawing/2014/main" id="{C7941335-16AF-0B86-05C7-FA8C735DBB6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08F9519-3973-29FD-AD18-79631089551B}"/>
                  </a:ext>
                </a:extLst>
              </p:cNvPr>
              <p:cNvSpPr>
                <a:spLocks noGrp="1"/>
              </p:cNvSpPr>
              <p:nvPr>
                <p:ph idx="1"/>
              </p:nvPr>
            </p:nvSpPr>
            <p:spPr>
              <a:xfrm>
                <a:off x="15455" y="1213171"/>
                <a:ext cx="8430925" cy="5420894"/>
              </a:xfrm>
            </p:spPr>
            <p:txBody>
              <a:bodyPr>
                <a:normAutofit/>
              </a:bodyPr>
              <a:lstStyle/>
              <a:p>
                <a:pPr marL="0" indent="0">
                  <a:buNone/>
                </a:pPr>
                <a14:m>
                  <m:oMathPara xmlns:m="http://schemas.openxmlformats.org/officeDocument/2006/math">
                    <m:oMath>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𝜇</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𝑛</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)(1 −</m:t>
                      </m:r>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𝑐</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m:t>
                      </m:r>
                    </m:oMath>
                  </m:oMathPara>
                </a14:m>
                <a:endParaRPr lang="en-US" i="1" dirty="0"/>
              </a:p>
              <a:p>
                <a:pPr marL="0" indent="0">
                  <a:buNone/>
                </a:pPr>
                <a14:m>
                  <m:oMathPara xmlns:m="http://schemas.openxmlformats.org/officeDocument/2006/math">
                    <m:oMath>
                      <m:r>
                        <m:rPr>
                          <m:sty m:val="p"/>
                        </m:rPr>
                        <a:rPr lang="en-US" i="1">
                          <a:latin typeface="Cambria Math" panose="02040503050406030204" pitchFamily="18" charset="0"/>
                        </a:rPr>
                        <m:t>s</m:t>
                      </m:r>
                      <m:d>
                        <m:dPr>
                          <m:ctrlPr>
                            <a:rPr lang="en-US"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+1</m:t>
                          </m:r>
                        </m:e>
                      </m:d>
                      <m:r>
                        <a:rPr lang="en-US" i="1">
                          <a:latin typeface="Cambria Math" panose="02040503050406030204" pitchFamily="18" charset="0"/>
                        </a:rPr>
                        <m:t>=</m:t>
                      </m:r>
                      <m:r>
                        <a:rPr lang="en-US" b="0" i="1" smtClean="0">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𝜇</m:t>
                          </m:r>
                        </m:num>
                        <m:den>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b="0" i="1" smtClean="0">
                                  <a:latin typeface="Cambria Math" panose="02040503050406030204" pitchFamily="18" charset="0"/>
                                </a:rPr>
                                <m:t>𝑠</m:t>
                              </m:r>
                            </m:sub>
                          </m:sSub>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𝑠</m:t>
                          </m:r>
                        </m:sub>
                      </m:sSub>
                      <m:r>
                        <a:rPr lang="en-US" b="0" i="1" smtClean="0">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𝑠</m:t>
                          </m:r>
                        </m:sub>
                      </m:sSub>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)(1 −</m:t>
                      </m:r>
                      <m:r>
                        <a:rPr lang="en-US" b="0" i="1" smtClean="0">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oMath>
                  </m:oMathPara>
                </a14:m>
                <a:endParaRPr lang="en-US" i="1" dirty="0"/>
              </a:p>
              <a:p>
                <a:pPr marL="0" indent="0">
                  <a:buNone/>
                </a:pPr>
                <a14:m>
                  <m:oMathPara xmlns:m="http://schemas.openxmlformats.org/officeDocument/2006/math">
                    <m:oMath>
                      <m:r>
                        <m:rPr>
                          <m:sty m:val="p"/>
                        </m:rPr>
                        <a:rPr lang="en-US" i="1" smtClean="0">
                          <a:latin typeface="Cambria Math" panose="02040503050406030204" pitchFamily="18" charset="0"/>
                        </a:rPr>
                        <m:t>c</m:t>
                      </m:r>
                      <m:d>
                        <m:dPr>
                          <m:ctrlPr>
                            <a:rPr lang="en-US"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+1</m:t>
                          </m:r>
                        </m:e>
                      </m:d>
                      <m:r>
                        <a:rPr lang="en-US" i="1">
                          <a:latin typeface="Cambria Math" panose="02040503050406030204" pitchFamily="18" charset="0"/>
                        </a:rPr>
                        <m:t>=</m:t>
                      </m:r>
                      <m:r>
                        <a:rPr lang="en-US" b="0" i="1" smtClean="0">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𝜇</m:t>
                          </m:r>
                        </m:num>
                        <m:den>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b="0" i="1" smtClean="0">
                                  <a:latin typeface="Cambria Math" panose="02040503050406030204" pitchFamily="18" charset="0"/>
                                </a:rPr>
                                <m:t>𝑐</m:t>
                              </m:r>
                            </m:sub>
                          </m:sSub>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𝑐</m:t>
                          </m:r>
                        </m:sub>
                      </m:sSub>
                      <m:r>
                        <a:rPr lang="en-US" b="0" i="1" smtClean="0">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𝑐</m:t>
                          </m:r>
                        </m:sub>
                      </m:sSub>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)(1 −</m:t>
                      </m:r>
                      <m:r>
                        <a:rPr lang="en-US" b="0" i="1" smtClean="0">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m:t>
                      </m:r>
                    </m:oMath>
                  </m:oMathPara>
                </a14:m>
                <a:endParaRPr lang="fa-IR" i="1" dirty="0"/>
              </a:p>
              <a:p>
                <a:pPr marL="0" indent="0">
                  <a:buNone/>
                </a:pPr>
                <a:r>
                  <a:rPr lang="en-US" sz="1800" dirty="0">
                    <a:latin typeface="Times New Roman" panose="02020603050405020304" pitchFamily="18" charset="0"/>
                    <a:cs typeface="Times New Roman" panose="02020603050405020304" pitchFamily="18" charset="0"/>
                  </a:rPr>
                  <a:t>Activation functions:</a:t>
                </a:r>
                <a:endParaRPr lang="fa-IR" sz="18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=0.5(1+</m:t>
                      </m:r>
                      <m:r>
                        <m:rPr>
                          <m:sty m:val="p"/>
                        </m:rPr>
                        <a:rPr lang="en-US" b="0" i="0" smtClean="0">
                          <a:latin typeface="Cambria Math" panose="02040503050406030204" pitchFamily="18" charset="0"/>
                        </a:rPr>
                        <m:t>tanh</m:t>
                      </m:r>
                      <m:r>
                        <a:rPr lang="en-US" b="0" i="1" smtClean="0">
                          <a:latin typeface="Cambria Math" panose="02040503050406030204" pitchFamily="18" charset="0"/>
                        </a:rPr>
                        <m:t>⁡(</m:t>
                      </m:r>
                      <m:r>
                        <a:rPr lang="en-US" b="0" i="1" smtClean="0">
                          <a:latin typeface="Cambria Math" panose="02040503050406030204" pitchFamily="18" charset="0"/>
                        </a:rPr>
                        <m:t>𝑛𝑖𝑐𝑜𝑡𝑖𝑛𝑒</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m:oMathPara>
                </a14:m>
                <a:endParaRPr lang="en-US" i="1" dirty="0"/>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𝑠</m:t>
                          </m:r>
                        </m:sub>
                      </m:sSub>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=0.5(1+</m:t>
                      </m:r>
                      <m:r>
                        <m:rPr>
                          <m:sty m:val="p"/>
                        </m:rPr>
                        <a:rPr lang="en-US">
                          <a:latin typeface="Cambria Math" panose="02040503050406030204" pitchFamily="18" charset="0"/>
                        </a:rPr>
                        <m:t>tanh</m:t>
                      </m:r>
                      <m:r>
                        <a:rPr lang="en-US" i="1">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𝑠</m:t>
                          </m:r>
                        </m:sub>
                      </m:sSub>
                      <m:r>
                        <a:rPr lang="en-US" i="1">
                          <a:latin typeface="Cambria Math" panose="02040503050406030204" pitchFamily="18" charset="0"/>
                        </a:rPr>
                        <m:t>))</m:t>
                      </m:r>
                    </m:oMath>
                  </m:oMathPara>
                </a14:m>
                <a:endParaRPr lang="en-US" i="1" dirty="0"/>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𝑐</m:t>
                          </m:r>
                        </m:sub>
                      </m:sSub>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=0.5(1+</m:t>
                      </m:r>
                      <m:r>
                        <m:rPr>
                          <m:sty m:val="p"/>
                        </m:rPr>
                        <a:rPr lang="en-US">
                          <a:latin typeface="Cambria Math" panose="02040503050406030204" pitchFamily="18" charset="0"/>
                        </a:rPr>
                        <m:t>tanh</m:t>
                      </m:r>
                      <m:r>
                        <a:rPr lang="en-US" i="1">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𝑐</m:t>
                          </m:r>
                        </m:sub>
                      </m:sSub>
                      <m:r>
                        <a:rPr lang="en-US" i="1">
                          <a:latin typeface="Cambria Math" panose="02040503050406030204" pitchFamily="18" charset="0"/>
                        </a:rPr>
                        <m:t>))</m:t>
                      </m:r>
                    </m:oMath>
                  </m:oMathPara>
                </a14:m>
                <a:endParaRPr lang="en-US" i="1"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i="1">
                              <a:latin typeface="Cambria Math" panose="02040503050406030204" pitchFamily="18" charset="0"/>
                            </a:rPr>
                            <m:t>𝑛</m:t>
                          </m:r>
                        </m:sub>
                      </m:sSub>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=0.5(1+</m:t>
                      </m:r>
                      <m:r>
                        <m:rPr>
                          <m:sty m:val="p"/>
                        </m:rPr>
                        <a:rPr lang="en-US">
                          <a:latin typeface="Cambria Math" panose="02040503050406030204" pitchFamily="18" charset="0"/>
                        </a:rPr>
                        <m:t>tanh</m:t>
                      </m:r>
                      <m:r>
                        <a:rPr lang="en-US" i="1">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𝑛</m:t>
                          </m:r>
                        </m:sub>
                      </m:sSub>
                      <m:r>
                        <a:rPr lang="en-US" i="1">
                          <a:latin typeface="Cambria Math" panose="02040503050406030204" pitchFamily="18" charset="0"/>
                        </a:rPr>
                        <m:t>))</m:t>
                      </m:r>
                    </m:oMath>
                  </m:oMathPara>
                </a14:m>
                <a:endParaRPr lang="en-US" i="1" dirty="0"/>
              </a:p>
              <a:p>
                <a:pPr marL="0" indent="0">
                  <a:buNone/>
                </a:pPr>
                <a:r>
                  <a:rPr lang="en-US" sz="1800" dirty="0">
                    <a:latin typeface="Times New Roman" panose="02020603050405020304" pitchFamily="18" charset="0"/>
                    <a:cs typeface="Times New Roman" panose="02020603050405020304" pitchFamily="18" charset="0"/>
                  </a:rPr>
                  <a:t>We present a table of the parameters and their initial values below.</a:t>
                </a:r>
                <a:endParaRPr lang="en-US" sz="1800" i="1" dirty="0">
                  <a:latin typeface="Times New Roman" panose="02020603050405020304" pitchFamily="18" charset="0"/>
                  <a:cs typeface="Times New Roman" panose="02020603050405020304" pitchFamily="18" charset="0"/>
                </a:endParaRPr>
              </a:p>
            </p:txBody>
          </p:sp>
        </mc:Choice>
        <mc:Fallback xmlns="">
          <p:sp>
            <p:nvSpPr>
              <p:cNvPr id="6" name="Content Placeholder 5">
                <a:extLst>
                  <a:ext uri="{FF2B5EF4-FFF2-40B4-BE49-F238E27FC236}">
                    <a16:creationId xmlns:a16="http://schemas.microsoft.com/office/drawing/2014/main" id="{308F9519-3973-29FD-AD18-79631089551B}"/>
                  </a:ext>
                </a:extLst>
              </p:cNvPr>
              <p:cNvSpPr>
                <a:spLocks noGrp="1" noRot="1" noChangeAspect="1" noMove="1" noResize="1" noEditPoints="1" noAdjustHandles="1" noChangeArrowheads="1" noChangeShapeType="1" noTextEdit="1"/>
              </p:cNvSpPr>
              <p:nvPr>
                <p:ph idx="1"/>
              </p:nvPr>
            </p:nvSpPr>
            <p:spPr>
              <a:xfrm>
                <a:off x="15455" y="1213171"/>
                <a:ext cx="8430925" cy="5420894"/>
              </a:xfrm>
              <a:blipFill>
                <a:blip r:embed="rId5"/>
                <a:stretch>
                  <a:fillRect l="-651"/>
                </a:stretch>
              </a:blipFill>
            </p:spPr>
            <p:txBody>
              <a:bodyPr/>
              <a:lstStyle/>
              <a:p>
                <a:r>
                  <a:rPr lang="en-US">
                    <a:noFill/>
                  </a:rPr>
                  <a:t> </a:t>
                </a:r>
              </a:p>
            </p:txBody>
          </p:sp>
        </mc:Fallback>
      </mc:AlternateContent>
    </p:spTree>
    <p:extLst>
      <p:ext uri="{BB962C8B-B14F-4D97-AF65-F5344CB8AC3E}">
        <p14:creationId xmlns:p14="http://schemas.microsoft.com/office/powerpoint/2010/main" val="1517059941"/>
      </p:ext>
    </p:extLst>
  </p:cSld>
  <p:clrMapOvr>
    <a:masterClrMapping/>
  </p:clrMapOvr>
  <mc:AlternateContent xmlns:mc="http://schemas.openxmlformats.org/markup-compatibility/2006" xmlns:p14="http://schemas.microsoft.com/office/powerpoint/2010/main">
    <mc:Choice Requires="p14">
      <p:transition spd="slow" p14:dur="2000" advTm="19563"/>
    </mc:Choice>
    <mc:Fallback xmlns="">
      <p:transition spd="slow" advTm="1956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CD58F-46BA-2A00-921E-F0D73167C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06616-E190-8B08-95C8-1C33F3587CBB}"/>
              </a:ext>
            </a:extLst>
          </p:cNvPr>
          <p:cNvSpPr>
            <a:spLocks noGrp="1"/>
          </p:cNvSpPr>
          <p:nvPr>
            <p:ph type="title"/>
          </p:nvPr>
        </p:nvSpPr>
        <p:spPr>
          <a:xfrm>
            <a:off x="15455" y="325965"/>
            <a:ext cx="7691632" cy="887206"/>
          </a:xfrm>
        </p:spPr>
        <p:txBody>
          <a:bodyPr/>
          <a:lstStyle/>
          <a:p>
            <a:r>
              <a:rPr lang="en-US" dirty="0">
                <a:latin typeface="Times New Roman" panose="02020603050405020304" pitchFamily="18" charset="0"/>
                <a:cs typeface="Times New Roman" panose="02020603050405020304" pitchFamily="18" charset="0"/>
              </a:rPr>
              <a:t>Variable &amp; Parameters Table</a:t>
            </a:r>
          </a:p>
        </p:txBody>
      </p:sp>
      <p:pic>
        <p:nvPicPr>
          <p:cNvPr id="3" name="Picture 2">
            <a:extLst>
              <a:ext uri="{FF2B5EF4-FFF2-40B4-BE49-F238E27FC236}">
                <a16:creationId xmlns:a16="http://schemas.microsoft.com/office/drawing/2014/main" id="{21B6EC59-6815-35C8-4171-805AD49EE9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8DFD7CE0-BA7C-5CC8-9320-A2F017DC366C}"/>
              </a:ext>
            </a:extLst>
          </p:cNvPr>
          <p:cNvSpPr>
            <a:spLocks noGrp="1"/>
          </p:cNvSpPr>
          <p:nvPr>
            <p:ph idx="1"/>
          </p:nvPr>
        </p:nvSpPr>
        <p:spPr>
          <a:xfrm>
            <a:off x="15455" y="1213171"/>
            <a:ext cx="8430925" cy="5420894"/>
          </a:xfrm>
        </p:spPr>
        <p:txBody>
          <a:bodyPr>
            <a:normAutofit/>
          </a:bodyPr>
          <a:lstStyle/>
          <a:p>
            <a:pPr marL="0" indent="0">
              <a:buNone/>
            </a:pPr>
            <a:endParaRPr lang="en-US" sz="1800"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21C23AE-1C84-E0E0-8EC7-E3838351BE9E}"/>
                  </a:ext>
                </a:extLst>
              </p:cNvPr>
              <p:cNvGraphicFramePr>
                <a:graphicFrameLocks noGrp="1"/>
              </p:cNvGraphicFramePr>
              <p:nvPr>
                <p:extLst>
                  <p:ext uri="{D42A27DB-BD31-4B8C-83A1-F6EECF244321}">
                    <p14:modId xmlns:p14="http://schemas.microsoft.com/office/powerpoint/2010/main" val="692129756"/>
                  </p:ext>
                </p:extLst>
              </p:nvPr>
            </p:nvGraphicFramePr>
            <p:xfrm>
              <a:off x="348810" y="1234761"/>
              <a:ext cx="8446379" cy="4905981"/>
            </p:xfrm>
            <a:graphic>
              <a:graphicData uri="http://schemas.openxmlformats.org/drawingml/2006/table">
                <a:tbl>
                  <a:tblPr firstRow="1" firstCol="1" bandRow="1">
                    <a:tableStyleId>{5C22544A-7EE6-4342-B048-85BDC9FD1C3A}</a:tableStyleId>
                  </a:tblPr>
                  <a:tblGrid>
                    <a:gridCol w="2815191">
                      <a:extLst>
                        <a:ext uri="{9D8B030D-6E8A-4147-A177-3AD203B41FA5}">
                          <a16:colId xmlns:a16="http://schemas.microsoft.com/office/drawing/2014/main" val="1223306664"/>
                        </a:ext>
                      </a:extLst>
                    </a:gridCol>
                    <a:gridCol w="2815191">
                      <a:extLst>
                        <a:ext uri="{9D8B030D-6E8A-4147-A177-3AD203B41FA5}">
                          <a16:colId xmlns:a16="http://schemas.microsoft.com/office/drawing/2014/main" val="3872105295"/>
                        </a:ext>
                      </a:extLst>
                    </a:gridCol>
                    <a:gridCol w="2815997">
                      <a:extLst>
                        <a:ext uri="{9D8B030D-6E8A-4147-A177-3AD203B41FA5}">
                          <a16:colId xmlns:a16="http://schemas.microsoft.com/office/drawing/2014/main" val="690540499"/>
                        </a:ext>
                      </a:extLst>
                    </a:gridCol>
                  </a:tblGrid>
                  <a:tr h="108985">
                    <a:tc>
                      <a:txBody>
                        <a:bodyPr/>
                        <a:lstStyle/>
                        <a:p>
                          <a:pPr marL="0" marR="0" algn="ctr">
                            <a:lnSpc>
                              <a:spcPct val="107000"/>
                            </a:lnSpc>
                            <a:spcAft>
                              <a:spcPts val="800"/>
                            </a:spcAft>
                            <a:buNone/>
                          </a:pPr>
                          <a:r>
                            <a:rPr lang="en-US" sz="600">
                              <a:effectLst/>
                            </a:rPr>
                            <a:t>Parameter / Variable</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Explanation</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Value</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3254863778"/>
                      </a:ext>
                    </a:extLst>
                  </a:tr>
                  <a:tr h="330574">
                    <a:tc>
                      <a:txBody>
                        <a:bodyPr/>
                        <a:lstStyle/>
                        <a:p>
                          <a:pPr marL="0" marR="0" algn="ctr">
                            <a:lnSpc>
                              <a:spcPct val="107000"/>
                            </a:lnSpc>
                            <a:spcAft>
                              <a:spcPts val="800"/>
                            </a:spcAft>
                            <a:buNone/>
                          </a:pPr>
                          <a14:m>
                            <m:oMathPara xmlns:m="http://schemas.openxmlformats.org/officeDocument/2006/math">
                              <m:oMath>
                                <m:r>
                                  <a:rPr lang="en-US" sz="600">
                                    <a:effectLst/>
                                    <a:latin typeface="Cambria Math" panose="02040503050406030204" pitchFamily="18" charset="0"/>
                                  </a:rPr>
                                  <m:t>𝝀</m:t>
                                </m:r>
                              </m:oMath>
                            </m:oMathPara>
                          </a14:m>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Stability coefficient in premotor/motor loop dynamics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0.5</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90356957"/>
                      </a:ext>
                    </a:extLst>
                  </a:tr>
                  <a:tr h="228507">
                    <a:tc>
                      <a:txBody>
                        <a:bodyPr/>
                        <a:lstStyle/>
                        <a:p>
                          <a:pPr marL="0" marR="0" algn="ctr">
                            <a:lnSpc>
                              <a:spcPct val="107000"/>
                            </a:lnSpc>
                            <a:spcAft>
                              <a:spcPts val="800"/>
                            </a:spcAft>
                            <a:buNone/>
                          </a:pPr>
                          <a14:m>
                            <m:oMathPara xmlns:m="http://schemas.openxmlformats.org/officeDocument/2006/math">
                              <m:oMath>
                                <m:r>
                                  <a:rPr lang="en-US" sz="600">
                                    <a:effectLst/>
                                    <a:latin typeface="Cambria Math" panose="02040503050406030204" pitchFamily="18" charset="0"/>
                                  </a:rPr>
                                  <m:t>𝜷</m:t>
                                </m:r>
                              </m:oMath>
                            </m:oMathPara>
                          </a14:m>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Weight of premotor signal into motor loop</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0.03</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14109575"/>
                      </a:ext>
                    </a:extLst>
                  </a:tr>
                  <a:tr h="223584">
                    <a:tc>
                      <a:txBody>
                        <a:bodyPr/>
                        <a:lstStyle/>
                        <a:p>
                          <a:pPr marL="0" marR="0" algn="ctr">
                            <a:lnSpc>
                              <a:spcPct val="107000"/>
                            </a:lnSpc>
                            <a:spcAft>
                              <a:spcPts val="800"/>
                            </a:spcAft>
                            <a:buNone/>
                          </a:pPr>
                          <a:r>
                            <a:rPr lang="en-US" sz="600" dirty="0">
                              <a:effectLst/>
                            </a:rPr>
                            <a:t>a</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Sharpness of the sigmoid activation function</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3</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546016577"/>
                      </a:ext>
                    </a:extLst>
                  </a:tr>
                  <a:tr h="22850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𝝁</m:t>
                                    </m:r>
                                  </m:e>
                                  <m:sub>
                                    <m:r>
                                      <a:rPr lang="en-US" sz="600">
                                        <a:effectLst/>
                                        <a:latin typeface="Cambria Math" panose="02040503050406030204" pitchFamily="18" charset="0"/>
                                      </a:rPr>
                                      <m:t>𝑫𝑨</m:t>
                                    </m:r>
                                  </m:sub>
                                </m:sSub>
                              </m:oMath>
                            </m:oMathPara>
                          </a14:m>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Learning rate in dopamine (DA) subsystem</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123442476"/>
                      </a:ext>
                    </a:extLst>
                  </a:tr>
                  <a:tr h="232434">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𝜼</m:t>
                                    </m:r>
                                  </m:e>
                                  <m:sub>
                                    <m:r>
                                      <a:rPr lang="en-US" sz="600">
                                        <a:effectLst/>
                                        <a:latin typeface="Cambria Math" panose="02040503050406030204" pitchFamily="18" charset="0"/>
                                      </a:rPr>
                                      <m:t>𝒄</m:t>
                                    </m:r>
                                  </m:sub>
                                </m:sSub>
                              </m:oMath>
                            </m:oMathPara>
                          </a14:m>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Learning rate for </a:t>
                          </a:r>
                          <a14:m>
                            <m:oMath xmlns:m="http://schemas.openxmlformats.org/officeDocument/2006/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𝑊</m:t>
                                  </m:r>
                                </m:e>
                                <m:sub>
                                  <m:r>
                                    <a:rPr lang="en-US" sz="600">
                                      <a:effectLst/>
                                      <a:latin typeface="Cambria Math" panose="02040503050406030204" pitchFamily="18" charset="0"/>
                                    </a:rPr>
                                    <m:t>𝑐𝑝𝑚</m:t>
                                  </m:r>
                                </m:sub>
                              </m:sSub>
                            </m:oMath>
                          </a14:m>
                          <a:r>
                            <a:rPr lang="en-US" sz="600">
                              <a:effectLst/>
                            </a:rPr>
                            <a:t> (cortex → premotor weights)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795301798"/>
                      </a:ext>
                    </a:extLst>
                  </a:tr>
                  <a:tr h="22850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𝜼</m:t>
                                    </m:r>
                                  </m:e>
                                  <m:sub>
                                    <m:r>
                                      <a:rPr lang="en-US" sz="600">
                                        <a:effectLst/>
                                        <a:latin typeface="Cambria Math" panose="02040503050406030204" pitchFamily="18" charset="0"/>
                                      </a:rPr>
                                      <m:t>𝒗</m:t>
                                    </m:r>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Learning rate for </a:t>
                          </a:r>
                          <a14:m>
                            <m:oMath xmlns:m="http://schemas.openxmlformats.org/officeDocument/2006/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𝑊</m:t>
                                  </m:r>
                                </m:e>
                                <m:sub>
                                  <m:r>
                                    <a:rPr lang="en-US" sz="600">
                                      <a:effectLst/>
                                      <a:latin typeface="Cambria Math" panose="02040503050406030204" pitchFamily="18" charset="0"/>
                                    </a:rPr>
                                    <m:t>𝑣</m:t>
                                  </m:r>
                                </m:sub>
                              </m:sSub>
                            </m:oMath>
                          </a14:m>
                          <a:r>
                            <a:rPr lang="en-US" sz="600">
                              <a:effectLst/>
                            </a:rPr>
                            <a:t> (stimulus value weights)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220286356"/>
                      </a:ext>
                    </a:extLst>
                  </a:tr>
                  <a:tr h="232434">
                    <a:tc>
                      <a:txBody>
                        <a:bodyPr/>
                        <a:lstStyle/>
                        <a:p>
                          <a:pPr marL="0" marR="0" algn="ctr">
                            <a:lnSpc>
                              <a:spcPct val="107000"/>
                            </a:lnSpc>
                            <a:spcAft>
                              <a:spcPts val="800"/>
                            </a:spcAft>
                            <a:buNone/>
                          </a:pPr>
                          <a14:m>
                            <m:oMath xmlns:m="http://schemas.openxmlformats.org/officeDocument/2006/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𝜼</m:t>
                                  </m:r>
                                </m:e>
                                <m:sub>
                                  <m:r>
                                    <a:rPr lang="en-US" sz="600">
                                      <a:effectLst/>
                                      <a:latin typeface="Cambria Math" panose="02040503050406030204" pitchFamily="18" charset="0"/>
                                    </a:rPr>
                                    <m:t>𝒓</m:t>
                                  </m:r>
                                </m:sub>
                              </m:sSub>
                            </m:oMath>
                          </a14:m>
                          <a:r>
                            <a:rPr lang="en-US" sz="600">
                              <a:effectLst/>
                            </a:rPr>
                            <a:t>​</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Learning rate for </a:t>
                          </a:r>
                          <a14:m>
                            <m:oMath xmlns:m="http://schemas.openxmlformats.org/officeDocument/2006/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𝑊</m:t>
                                  </m:r>
                                </m:e>
                                <m:sub>
                                  <m:r>
                                    <a:rPr lang="en-US" sz="600">
                                      <a:effectLst/>
                                      <a:latin typeface="Cambria Math" panose="02040503050406030204" pitchFamily="18" charset="0"/>
                                    </a:rPr>
                                    <m:t>𝑟𝑝𝑚</m:t>
                                  </m:r>
                                </m:sub>
                              </m:sSub>
                            </m:oMath>
                          </a14:m>
                          <a:r>
                            <a:rPr lang="en-US" sz="600" dirty="0">
                              <a:effectLst/>
                            </a:rPr>
                            <a:t> (ventral → dorsal striatum)</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151745589"/>
                      </a:ext>
                    </a:extLst>
                  </a:tr>
                  <a:tr h="22850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𝜽</m:t>
                                    </m:r>
                                  </m:e>
                                  <m:sub>
                                    <m:r>
                                      <a:rPr lang="en-US" sz="600">
                                        <a:effectLst/>
                                        <a:latin typeface="Cambria Math" panose="02040503050406030204" pitchFamily="18" charset="0"/>
                                      </a:rPr>
                                      <m:t>𝑫𝑨</m:t>
                                    </m:r>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Threshold for tonic dopamine (DA tonic)</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398157386"/>
                      </a:ext>
                    </a:extLst>
                  </a:tr>
                  <a:tr h="228507">
                    <a:tc>
                      <a:txBody>
                        <a:bodyPr/>
                        <a:lstStyle/>
                        <a:p>
                          <a:pPr marL="0" marR="0" algn="ctr">
                            <a:lnSpc>
                              <a:spcPct val="107000"/>
                            </a:lnSpc>
                            <a:spcAft>
                              <a:spcPts val="800"/>
                            </a:spcAft>
                            <a:buNone/>
                          </a:pPr>
                          <a14:m>
                            <m:oMathPara xmlns:m="http://schemas.openxmlformats.org/officeDocument/2006/math">
                              <m:oMath>
                                <m:r>
                                  <a:rPr lang="en-US" sz="600">
                                    <a:effectLst/>
                                    <a:latin typeface="Cambria Math" panose="02040503050406030204" pitchFamily="18" charset="0"/>
                                  </a:rPr>
                                  <m:t>𝜽</m:t>
                                </m:r>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Threshold for premotor signal pm</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10% of pm</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174745046"/>
                      </a:ext>
                    </a:extLst>
                  </a:tr>
                  <a:tr h="232434">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𝜽</m:t>
                                    </m:r>
                                  </m:e>
                                  <m:sub>
                                    <m:r>
                                      <a:rPr lang="en-US" sz="600">
                                        <a:effectLst/>
                                        <a:latin typeface="Cambria Math" panose="02040503050406030204" pitchFamily="18" charset="0"/>
                                      </a:rPr>
                                      <m:t>𝒘𝑫𝑨</m:t>
                                    </m:r>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Threshold for DA in </a:t>
                          </a:r>
                          <a14:m>
                            <m:oMath xmlns:m="http://schemas.openxmlformats.org/officeDocument/2006/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𝑊</m:t>
                                  </m:r>
                                </m:e>
                                <m:sub>
                                  <m:r>
                                    <a:rPr lang="en-US" sz="600">
                                      <a:effectLst/>
                                      <a:latin typeface="Cambria Math" panose="02040503050406030204" pitchFamily="18" charset="0"/>
                                    </a:rPr>
                                    <m:t>𝑟𝑝𝑚</m:t>
                                  </m:r>
                                </m:sub>
                              </m:sSub>
                              <m:r>
                                <a:rPr lang="en-US" sz="600">
                                  <a:effectLst/>
                                  <a:latin typeface="Cambria Math" panose="02040503050406030204" pitchFamily="18" charset="0"/>
                                </a:rPr>
                                <m:t> </m:t>
                              </m:r>
                            </m:oMath>
                          </a14:m>
                          <a:r>
                            <a:rPr lang="en-US" sz="600">
                              <a:effectLst/>
                            </a:rPr>
                            <a:t> learning</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10% of </a:t>
                          </a:r>
                          <a14:m>
                            <m:oMath xmlns:m="http://schemas.openxmlformats.org/officeDocument/2006/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𝑈</m:t>
                                  </m:r>
                                </m:e>
                                <m:sub>
                                  <m:r>
                                    <a:rPr lang="en-US" sz="600">
                                      <a:effectLst/>
                                      <a:latin typeface="Cambria Math" panose="02040503050406030204" pitchFamily="18" charset="0"/>
                                    </a:rPr>
                                    <m:t>𝐷𝐴</m:t>
                                  </m:r>
                                </m:sub>
                              </m:sSub>
                            </m:oMath>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165183157"/>
                      </a:ext>
                    </a:extLst>
                  </a:tr>
                  <a:tr h="108985">
                    <a:tc>
                      <a:txBody>
                        <a:bodyPr/>
                        <a:lstStyle/>
                        <a:p>
                          <a:pPr marL="0" marR="0" algn="ctr">
                            <a:lnSpc>
                              <a:spcPct val="107000"/>
                            </a:lnSpc>
                            <a:spcAft>
                              <a:spcPts val="800"/>
                            </a:spcAft>
                            <a:buNone/>
                          </a:pPr>
                          <a:r>
                            <a:rPr lang="en-US" sz="600">
                              <a:effectLst/>
                            </a:rPr>
                            <a:t>n, s, c (0)</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Initial nicotine-related signals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 each</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207276713"/>
                      </a:ext>
                    </a:extLst>
                  </a:tr>
                  <a:tr h="22850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𝜽</m:t>
                                    </m:r>
                                  </m:e>
                                  <m:sub>
                                    <m:r>
                                      <a:rPr lang="en-US" sz="600">
                                        <a:effectLst/>
                                        <a:latin typeface="Cambria Math" panose="02040503050406030204" pitchFamily="18" charset="0"/>
                                      </a:rPr>
                                      <m:t>𝒏</m:t>
                                    </m:r>
                                  </m:sub>
                                </m:sSub>
                                <m:r>
                                  <a:rPr lang="en-US" sz="600">
                                    <a:effectLst/>
                                    <a:latin typeface="Cambria Math" panose="02040503050406030204" pitchFamily="18" charset="0"/>
                                  </a:rPr>
                                  <m:t>,</m:t>
                                </m:r>
                                <m:sSub>
                                  <m:sSubPr>
                                    <m:ctrlPr>
                                      <a:rPr lang="en-US" sz="600">
                                        <a:effectLst/>
                                        <a:latin typeface="Cambria Math" panose="02040503050406030204" pitchFamily="18" charset="0"/>
                                      </a:rPr>
                                    </m:ctrlPr>
                                  </m:sSubPr>
                                  <m:e>
                                    <m:r>
                                      <a:rPr lang="en-US" sz="600">
                                        <a:effectLst/>
                                        <a:latin typeface="Cambria Math" panose="02040503050406030204" pitchFamily="18" charset="0"/>
                                      </a:rPr>
                                      <m:t>𝜽</m:t>
                                    </m:r>
                                  </m:e>
                                  <m:sub>
                                    <m:r>
                                      <a:rPr lang="en-US" sz="600">
                                        <a:effectLst/>
                                        <a:latin typeface="Cambria Math" panose="02040503050406030204" pitchFamily="18" charset="0"/>
                                      </a:rPr>
                                      <m:t>𝒔</m:t>
                                    </m:r>
                                  </m:sub>
                                </m:sSub>
                                <m:r>
                                  <a:rPr lang="en-US" sz="600">
                                    <a:effectLst/>
                                    <a:latin typeface="Cambria Math" panose="02040503050406030204" pitchFamily="18" charset="0"/>
                                  </a:rPr>
                                  <m:t>,</m:t>
                                </m:r>
                                <m:sSub>
                                  <m:sSubPr>
                                    <m:ctrlPr>
                                      <a:rPr lang="en-US" sz="600">
                                        <a:effectLst/>
                                        <a:latin typeface="Cambria Math" panose="02040503050406030204" pitchFamily="18" charset="0"/>
                                      </a:rPr>
                                    </m:ctrlPr>
                                  </m:sSubPr>
                                  <m:e>
                                    <m:r>
                                      <a:rPr lang="en-US" sz="600">
                                        <a:effectLst/>
                                        <a:latin typeface="Cambria Math" panose="02040503050406030204" pitchFamily="18" charset="0"/>
                                      </a:rPr>
                                      <m:t>𝜽</m:t>
                                    </m:r>
                                  </m:e>
                                  <m:sub>
                                    <m:r>
                                      <a:rPr lang="en-US" sz="600">
                                        <a:effectLst/>
                                        <a:latin typeface="Cambria Math" panose="02040503050406030204" pitchFamily="18" charset="0"/>
                                      </a:rPr>
                                      <m:t>𝒄</m:t>
                                    </m:r>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Activation thresholds for n-s-c system</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0.6, 0.7, 0.7 respectively</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368439636"/>
                      </a:ext>
                    </a:extLst>
                  </a:tr>
                  <a:tr h="22850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𝜷</m:t>
                                    </m:r>
                                  </m:e>
                                  <m:sub>
                                    <m:r>
                                      <a:rPr lang="en-US" sz="600">
                                        <a:effectLst/>
                                        <a:latin typeface="Cambria Math" panose="02040503050406030204" pitchFamily="18" charset="0"/>
                                      </a:rPr>
                                      <m:t>𝒔</m:t>
                                    </m:r>
                                  </m:sub>
                                </m:sSub>
                                <m:r>
                                  <a:rPr lang="en-US" sz="600">
                                    <a:effectLst/>
                                    <a:latin typeface="Cambria Math" panose="02040503050406030204" pitchFamily="18" charset="0"/>
                                  </a:rPr>
                                  <m:t>,</m:t>
                                </m:r>
                                <m:sSub>
                                  <m:sSubPr>
                                    <m:ctrlPr>
                                      <a:rPr lang="en-US" sz="600">
                                        <a:effectLst/>
                                        <a:latin typeface="Cambria Math" panose="02040503050406030204" pitchFamily="18" charset="0"/>
                                      </a:rPr>
                                    </m:ctrlPr>
                                  </m:sSubPr>
                                  <m:e>
                                    <m:r>
                                      <a:rPr lang="en-US" sz="600">
                                        <a:effectLst/>
                                        <a:latin typeface="Cambria Math" panose="02040503050406030204" pitchFamily="18" charset="0"/>
                                      </a:rPr>
                                      <m:t>𝜷</m:t>
                                    </m:r>
                                  </m:e>
                                  <m:sub>
                                    <m:r>
                                      <a:rPr lang="en-US" sz="600">
                                        <a:effectLst/>
                                        <a:latin typeface="Cambria Math" panose="02040503050406030204" pitchFamily="18" charset="0"/>
                                      </a:rPr>
                                      <m:t>𝒄</m:t>
                                    </m:r>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Decay factors in s and c equations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0.4</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385176358"/>
                      </a:ext>
                    </a:extLst>
                  </a:tr>
                  <a:tr h="228507">
                    <a:tc>
                      <a:txBody>
                        <a:bodyPr/>
                        <a:lstStyle/>
                        <a:p>
                          <a:pPr marL="0" marR="0" algn="ctr">
                            <a:lnSpc>
                              <a:spcPct val="107000"/>
                            </a:lnSpc>
                            <a:spcAft>
                              <a:spcPts val="800"/>
                            </a:spcAft>
                            <a:buNone/>
                          </a:pPr>
                          <a14:m>
                            <m:oMathPara xmlns:m="http://schemas.openxmlformats.org/officeDocument/2006/math">
                              <m:oMath>
                                <m:r>
                                  <a:rPr lang="en-US" sz="600">
                                    <a:effectLst/>
                                    <a:latin typeface="Cambria Math" panose="02040503050406030204" pitchFamily="18" charset="0"/>
                                  </a:rPr>
                                  <m:t>𝝁</m:t>
                                </m:r>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Update rate for n-s-c system</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715812622"/>
                      </a:ext>
                    </a:extLst>
                  </a:tr>
                  <a:tr h="22850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𝛕</m:t>
                                    </m:r>
                                  </m:e>
                                  <m:sub>
                                    <m:r>
                                      <a:rPr lang="en-US" sz="600">
                                        <a:effectLst/>
                                        <a:latin typeface="Cambria Math" panose="02040503050406030204" pitchFamily="18" charset="0"/>
                                      </a:rPr>
                                      <m:t>𝐧</m:t>
                                    </m:r>
                                  </m:sub>
                                </m:sSub>
                                <m:r>
                                  <a:rPr lang="en-US" sz="600">
                                    <a:effectLst/>
                                    <a:latin typeface="Cambria Math" panose="02040503050406030204" pitchFamily="18" charset="0"/>
                                  </a:rPr>
                                  <m:t>, </m:t>
                                </m:r>
                                <m:sSub>
                                  <m:sSubPr>
                                    <m:ctrlPr>
                                      <a:rPr lang="en-US" sz="600">
                                        <a:effectLst/>
                                        <a:latin typeface="Cambria Math" panose="02040503050406030204" pitchFamily="18" charset="0"/>
                                      </a:rPr>
                                    </m:ctrlPr>
                                  </m:sSubPr>
                                  <m:e>
                                    <m:r>
                                      <a:rPr lang="en-US" sz="600">
                                        <a:effectLst/>
                                        <a:latin typeface="Cambria Math" panose="02040503050406030204" pitchFamily="18" charset="0"/>
                                      </a:rPr>
                                      <m:t>𝛕</m:t>
                                    </m:r>
                                  </m:e>
                                  <m:sub>
                                    <m:r>
                                      <a:rPr lang="en-US" sz="600">
                                        <a:effectLst/>
                                        <a:latin typeface="Cambria Math" panose="02040503050406030204" pitchFamily="18" charset="0"/>
                                      </a:rPr>
                                      <m:t>𝐬</m:t>
                                    </m:r>
                                  </m:sub>
                                </m:sSub>
                                <m:r>
                                  <a:rPr lang="en-US" sz="600">
                                    <a:effectLst/>
                                    <a:latin typeface="Cambria Math" panose="02040503050406030204" pitchFamily="18" charset="0"/>
                                  </a:rPr>
                                  <m:t>, </m:t>
                                </m:r>
                                <m:sSub>
                                  <m:sSubPr>
                                    <m:ctrlPr>
                                      <a:rPr lang="en-US" sz="600">
                                        <a:effectLst/>
                                        <a:latin typeface="Cambria Math" panose="02040503050406030204" pitchFamily="18" charset="0"/>
                                      </a:rPr>
                                    </m:ctrlPr>
                                  </m:sSubPr>
                                  <m:e>
                                    <m:r>
                                      <a:rPr lang="en-US" sz="600">
                                        <a:effectLst/>
                                        <a:latin typeface="Cambria Math" panose="02040503050406030204" pitchFamily="18" charset="0"/>
                                      </a:rPr>
                                      <m:t>𝛕</m:t>
                                    </m:r>
                                  </m:e>
                                  <m:sub>
                                    <m:r>
                                      <a:rPr lang="en-US" sz="600">
                                        <a:effectLst/>
                                        <a:latin typeface="Cambria Math" panose="02040503050406030204" pitchFamily="18" charset="0"/>
                                      </a:rPr>
                                      <m:t>𝐜</m:t>
                                    </m:r>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Time constants for n, s, and c</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0.25, 1, 2 respectively</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33875034"/>
                      </a:ext>
                    </a:extLst>
                  </a:tr>
                  <a:tr h="13741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𝒓</m:t>
                                    </m:r>
                                  </m:e>
                                  <m:sub>
                                    <m:r>
                                      <a:rPr lang="en-US" sz="600">
                                        <a:effectLst/>
                                        <a:latin typeface="Cambria Math" panose="02040503050406030204" pitchFamily="18" charset="0"/>
                                      </a:rPr>
                                      <m:t>𝒊</m:t>
                                    </m:r>
                                  </m:sub>
                                </m:sSub>
                                <m:r>
                                  <a:rPr lang="en-US" sz="600">
                                    <a:effectLst/>
                                    <a:latin typeface="Cambria Math" panose="02040503050406030204" pitchFamily="18" charset="0"/>
                                  </a:rPr>
                                  <m:t>(</m:t>
                                </m:r>
                                <m:r>
                                  <a:rPr lang="en-US" sz="600">
                                    <a:effectLst/>
                                    <a:latin typeface="Cambria Math" panose="02040503050406030204" pitchFamily="18" charset="0"/>
                                  </a:rPr>
                                  <m:t>𝟎</m:t>
                                </m:r>
                                <m:r>
                                  <a:rPr lang="en-US" sz="600">
                                    <a:effectLst/>
                                    <a:latin typeface="Cambria Math" panose="02040503050406030204" pitchFamily="18" charset="0"/>
                                  </a:rPr>
                                  <m:t>)</m:t>
                                </m:r>
                              </m:oMath>
                            </m:oMathPara>
                          </a14:m>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Initial reward value Each time "smoke" is selected Multiplied by 2 until it reaches 1 </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0.01</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008159420"/>
                      </a:ext>
                    </a:extLst>
                  </a:tr>
                  <a:tr h="223584">
                    <a:tc>
                      <a:txBody>
                        <a:bodyPr/>
                        <a:lstStyle/>
                        <a:p>
                          <a:pPr marL="0" marR="0" algn="ctr">
                            <a:lnSpc>
                              <a:spcPct val="107000"/>
                            </a:lnSpc>
                            <a:spcAft>
                              <a:spcPts val="800"/>
                            </a:spcAft>
                            <a:buNone/>
                          </a:pPr>
                          <a:r>
                            <a:rPr lang="en-US" sz="600">
                              <a:effectLst/>
                            </a:rPr>
                            <a:t>Action encoding</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"Smoke", "Not smoke", "Undecided"</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[1 0], [0 1], [1 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081133767"/>
                      </a:ext>
                    </a:extLst>
                  </a:tr>
                  <a:tr h="22850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𝑾</m:t>
                                    </m:r>
                                  </m:e>
                                  <m:sub>
                                    <m:r>
                                      <a:rPr lang="en-US" sz="600">
                                        <a:effectLst/>
                                        <a:latin typeface="Cambria Math" panose="02040503050406030204" pitchFamily="18" charset="0"/>
                                      </a:rPr>
                                      <m:t>𝒗</m:t>
                                    </m:r>
                                  </m:sub>
                                </m:sSub>
                                <m:r>
                                  <a:rPr lang="en-US" sz="600">
                                    <a:effectLst/>
                                    <a:latin typeface="Cambria Math" panose="02040503050406030204" pitchFamily="18" charset="0"/>
                                  </a:rPr>
                                  <m:t>,</m:t>
                                </m:r>
                                <m:sSub>
                                  <m:sSubPr>
                                    <m:ctrlPr>
                                      <a:rPr lang="en-US" sz="600">
                                        <a:effectLst/>
                                        <a:latin typeface="Cambria Math" panose="02040503050406030204" pitchFamily="18" charset="0"/>
                                      </a:rPr>
                                    </m:ctrlPr>
                                  </m:sSubPr>
                                  <m:e>
                                    <m:r>
                                      <a:rPr lang="en-US" sz="600">
                                        <a:effectLst/>
                                        <a:latin typeface="Cambria Math" panose="02040503050406030204" pitchFamily="18" charset="0"/>
                                      </a:rPr>
                                      <m:t>𝑾</m:t>
                                    </m:r>
                                  </m:e>
                                  <m:sub>
                                    <m:r>
                                      <a:rPr lang="en-US" sz="600">
                                        <a:effectLst/>
                                        <a:latin typeface="Cambria Math" panose="02040503050406030204" pitchFamily="18" charset="0"/>
                                      </a:rPr>
                                      <m:t>𝒄</m:t>
                                    </m:r>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Initial value weights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Small positive random values</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64118771"/>
                      </a:ext>
                    </a:extLst>
                  </a:tr>
                  <a:tr h="249895">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𝑾</m:t>
                                    </m:r>
                                  </m:e>
                                  <m:sub>
                                    <m:sSub>
                                      <m:sSubPr>
                                        <m:ctrlPr>
                                          <a:rPr lang="en-US" sz="600">
                                            <a:effectLst/>
                                            <a:latin typeface="Cambria Math" panose="02040503050406030204" pitchFamily="18" charset="0"/>
                                          </a:rPr>
                                        </m:ctrlPr>
                                      </m:sSubPr>
                                      <m:e>
                                        <m:r>
                                          <a:rPr lang="en-US" sz="600">
                                            <a:effectLst/>
                                            <a:latin typeface="Cambria Math" panose="02040503050406030204" pitchFamily="18" charset="0"/>
                                          </a:rPr>
                                          <m:t>𝒓</m:t>
                                        </m:r>
                                      </m:e>
                                      <m:sub>
                                        <m:r>
                                          <a:rPr lang="en-US" sz="600">
                                            <a:effectLst/>
                                            <a:latin typeface="Cambria Math" panose="02040503050406030204" pitchFamily="18" charset="0"/>
                                          </a:rPr>
                                          <m:t>𝒑𝒎</m:t>
                                        </m:r>
                                      </m:sub>
                                    </m:sSub>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Initial ventral to dorsal striatum weights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Diagonal matrix of ones</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585916753"/>
                      </a:ext>
                    </a:extLst>
                  </a:tr>
                  <a:tr h="250041">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𝑾</m:t>
                                    </m:r>
                                  </m:e>
                                  <m:sub>
                                    <m:sSub>
                                      <m:sSubPr>
                                        <m:ctrlPr>
                                          <a:rPr lang="en-US" sz="600">
                                            <a:effectLst/>
                                            <a:latin typeface="Cambria Math" panose="02040503050406030204" pitchFamily="18" charset="0"/>
                                          </a:rPr>
                                        </m:ctrlPr>
                                      </m:sSubPr>
                                      <m:e>
                                        <m:r>
                                          <a:rPr lang="en-US" sz="600">
                                            <a:effectLst/>
                                            <a:latin typeface="Cambria Math" panose="02040503050406030204" pitchFamily="18" charset="0"/>
                                          </a:rPr>
                                          <m:t>𝒅</m:t>
                                        </m:r>
                                      </m:e>
                                      <m:sub>
                                        <m:r>
                                          <a:rPr lang="en-US" sz="600">
                                            <a:effectLst/>
                                            <a:latin typeface="Cambria Math" panose="02040503050406030204" pitchFamily="18" charset="0"/>
                                          </a:rPr>
                                          <m:t>𝒑𝒎</m:t>
                                        </m:r>
                                        <m:r>
                                          <a:rPr lang="en-US" sz="600">
                                            <a:effectLst/>
                                            <a:latin typeface="Cambria Math" panose="02040503050406030204" pitchFamily="18" charset="0"/>
                                          </a:rPr>
                                          <m:t>/</m:t>
                                        </m:r>
                                        <m:r>
                                          <a:rPr lang="en-US" sz="600">
                                            <a:effectLst/>
                                            <a:latin typeface="Cambria Math" panose="02040503050406030204" pitchFamily="18" charset="0"/>
                                          </a:rPr>
                                          <m:t>𝒎</m:t>
                                        </m:r>
                                      </m:sub>
                                    </m:sSub>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STN diffusive effect matrices (fixed) and </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Matrix with 0.5 values</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3666894686"/>
                      </a:ext>
                    </a:extLst>
                  </a:tr>
                  <a:tr h="228507">
                    <a:tc>
                      <a:txBody>
                        <a:bodyPr/>
                        <a:lstStyle/>
                        <a:p>
                          <a:pPr marL="0" marR="0" algn="ctr">
                            <a:lnSpc>
                              <a:spcPct val="107000"/>
                            </a:lnSpc>
                            <a:spcAft>
                              <a:spcPts val="800"/>
                            </a:spcAft>
                            <a:buNone/>
                          </a:pPr>
                          <a14:m>
                            <m:oMathPara xmlns:m="http://schemas.openxmlformats.org/officeDocument/2006/math">
                              <m:oMath>
                                <m:sSub>
                                  <m:sSubPr>
                                    <m:ctrlPr>
                                      <a:rPr lang="en-US" sz="600">
                                        <a:effectLst/>
                                        <a:latin typeface="Cambria Math" panose="02040503050406030204" pitchFamily="18" charset="0"/>
                                      </a:rPr>
                                    </m:ctrlPr>
                                  </m:sSubPr>
                                  <m:e>
                                    <m:r>
                                      <a:rPr lang="en-US" sz="600">
                                        <a:effectLst/>
                                        <a:latin typeface="Cambria Math" panose="02040503050406030204" pitchFamily="18" charset="0"/>
                                      </a:rPr>
                                      <m:t>𝑾</m:t>
                                    </m:r>
                                  </m:e>
                                  <m:sub>
                                    <m:r>
                                      <a:rPr lang="en-US" sz="600">
                                        <a:effectLst/>
                                        <a:latin typeface="Cambria Math" panose="02040503050406030204" pitchFamily="18" charset="0"/>
                                      </a:rPr>
                                      <m:t>𝒓𝒎</m:t>
                                    </m:r>
                                  </m:sub>
                                </m:sSub>
                              </m:oMath>
                            </m:oMathPara>
                          </a14:m>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Feedback effect from motor to decision (fixed)</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Matrix with 0.5 values</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3250571831"/>
                      </a:ext>
                    </a:extLst>
                  </a:tr>
                </a:tbl>
              </a:graphicData>
            </a:graphic>
          </p:graphicFrame>
        </mc:Choice>
        <mc:Fallback xmlns="">
          <p:graphicFrame>
            <p:nvGraphicFramePr>
              <p:cNvPr id="4" name="Table 3">
                <a:extLst>
                  <a:ext uri="{FF2B5EF4-FFF2-40B4-BE49-F238E27FC236}">
                    <a16:creationId xmlns:a16="http://schemas.microsoft.com/office/drawing/2014/main" id="{B21C23AE-1C84-E0E0-8EC7-E3838351BE9E}"/>
                  </a:ext>
                </a:extLst>
              </p:cNvPr>
              <p:cNvGraphicFramePr>
                <a:graphicFrameLocks noGrp="1"/>
              </p:cNvGraphicFramePr>
              <p:nvPr>
                <p:extLst>
                  <p:ext uri="{D42A27DB-BD31-4B8C-83A1-F6EECF244321}">
                    <p14:modId xmlns:p14="http://schemas.microsoft.com/office/powerpoint/2010/main" val="692129756"/>
                  </p:ext>
                </p:extLst>
              </p:nvPr>
            </p:nvGraphicFramePr>
            <p:xfrm>
              <a:off x="348810" y="1234761"/>
              <a:ext cx="8446379" cy="4905981"/>
            </p:xfrm>
            <a:graphic>
              <a:graphicData uri="http://schemas.openxmlformats.org/drawingml/2006/table">
                <a:tbl>
                  <a:tblPr firstRow="1" firstCol="1" bandRow="1">
                    <a:tableStyleId>{5C22544A-7EE6-4342-B048-85BDC9FD1C3A}</a:tableStyleId>
                  </a:tblPr>
                  <a:tblGrid>
                    <a:gridCol w="2815191">
                      <a:extLst>
                        <a:ext uri="{9D8B030D-6E8A-4147-A177-3AD203B41FA5}">
                          <a16:colId xmlns:a16="http://schemas.microsoft.com/office/drawing/2014/main" val="1223306664"/>
                        </a:ext>
                      </a:extLst>
                    </a:gridCol>
                    <a:gridCol w="2815191">
                      <a:extLst>
                        <a:ext uri="{9D8B030D-6E8A-4147-A177-3AD203B41FA5}">
                          <a16:colId xmlns:a16="http://schemas.microsoft.com/office/drawing/2014/main" val="3872105295"/>
                        </a:ext>
                      </a:extLst>
                    </a:gridCol>
                    <a:gridCol w="2815997">
                      <a:extLst>
                        <a:ext uri="{9D8B030D-6E8A-4147-A177-3AD203B41FA5}">
                          <a16:colId xmlns:a16="http://schemas.microsoft.com/office/drawing/2014/main" val="690540499"/>
                        </a:ext>
                      </a:extLst>
                    </a:gridCol>
                  </a:tblGrid>
                  <a:tr h="108985">
                    <a:tc>
                      <a:txBody>
                        <a:bodyPr/>
                        <a:lstStyle/>
                        <a:p>
                          <a:pPr marL="0" marR="0" algn="ctr">
                            <a:lnSpc>
                              <a:spcPct val="107000"/>
                            </a:lnSpc>
                            <a:spcAft>
                              <a:spcPts val="800"/>
                            </a:spcAft>
                            <a:buNone/>
                          </a:pPr>
                          <a:r>
                            <a:rPr lang="en-US" sz="600">
                              <a:effectLst/>
                            </a:rPr>
                            <a:t>Parameter / Variable</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Explanation</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Value</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3254863778"/>
                      </a:ext>
                    </a:extLst>
                  </a:tr>
                  <a:tr h="330574">
                    <a:tc>
                      <a:txBody>
                        <a:bodyPr/>
                        <a:lstStyle/>
                        <a:p>
                          <a:endParaRPr lang="en-US"/>
                        </a:p>
                      </a:txBody>
                      <a:tcPr marL="35052" marR="35052" marT="0" marB="0" anchor="ctr">
                        <a:blipFill>
                          <a:blip r:embed="rId5"/>
                          <a:stretch>
                            <a:fillRect l="-216" t="-40741" r="-200866" b="-1362963"/>
                          </a:stretch>
                        </a:blipFill>
                      </a:tcPr>
                    </a:tc>
                    <a:tc>
                      <a:txBody>
                        <a:bodyPr/>
                        <a:lstStyle/>
                        <a:p>
                          <a:pPr marL="0" marR="0" algn="ctr">
                            <a:lnSpc>
                              <a:spcPct val="107000"/>
                            </a:lnSpc>
                            <a:spcAft>
                              <a:spcPts val="800"/>
                            </a:spcAft>
                            <a:buNone/>
                          </a:pPr>
                          <a:r>
                            <a:rPr lang="en-US" sz="600">
                              <a:effectLst/>
                            </a:rPr>
                            <a:t>Stability coefficient in premotor/motor loop dynamics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0.5</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90356957"/>
                      </a:ext>
                    </a:extLst>
                  </a:tr>
                  <a:tr h="228507">
                    <a:tc>
                      <a:txBody>
                        <a:bodyPr/>
                        <a:lstStyle/>
                        <a:p>
                          <a:endParaRPr lang="en-US"/>
                        </a:p>
                      </a:txBody>
                      <a:tcPr marL="35052" marR="35052" marT="0" marB="0" anchor="ctr">
                        <a:blipFill>
                          <a:blip r:embed="rId5"/>
                          <a:stretch>
                            <a:fillRect l="-216" t="-200000" r="-200866" b="-1836842"/>
                          </a:stretch>
                        </a:blipFill>
                      </a:tcPr>
                    </a:tc>
                    <a:tc>
                      <a:txBody>
                        <a:bodyPr/>
                        <a:lstStyle/>
                        <a:p>
                          <a:pPr marL="0" marR="0" algn="ctr">
                            <a:lnSpc>
                              <a:spcPct val="107000"/>
                            </a:lnSpc>
                            <a:spcAft>
                              <a:spcPts val="800"/>
                            </a:spcAft>
                            <a:buNone/>
                          </a:pPr>
                          <a:r>
                            <a:rPr lang="en-US" sz="600" dirty="0">
                              <a:effectLst/>
                            </a:rPr>
                            <a:t>Weight of premotor signal into motor loop</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0.03</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14109575"/>
                      </a:ext>
                    </a:extLst>
                  </a:tr>
                  <a:tr h="223584">
                    <a:tc>
                      <a:txBody>
                        <a:bodyPr/>
                        <a:lstStyle/>
                        <a:p>
                          <a:pPr marL="0" marR="0" algn="ctr">
                            <a:lnSpc>
                              <a:spcPct val="107000"/>
                            </a:lnSpc>
                            <a:spcAft>
                              <a:spcPts val="800"/>
                            </a:spcAft>
                            <a:buNone/>
                          </a:pPr>
                          <a:r>
                            <a:rPr lang="en-US" sz="600" dirty="0">
                              <a:effectLst/>
                            </a:rPr>
                            <a:t>a</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Sharpness of the sigmoid activation function</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3</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546016577"/>
                      </a:ext>
                    </a:extLst>
                  </a:tr>
                  <a:tr h="228507">
                    <a:tc>
                      <a:txBody>
                        <a:bodyPr/>
                        <a:lstStyle/>
                        <a:p>
                          <a:endParaRPr lang="en-US"/>
                        </a:p>
                      </a:txBody>
                      <a:tcPr marL="35052" marR="35052" marT="0" marB="0" anchor="ctr">
                        <a:blipFill>
                          <a:blip r:embed="rId5"/>
                          <a:stretch>
                            <a:fillRect l="-216" t="-394737" r="-200866" b="-1642105"/>
                          </a:stretch>
                        </a:blipFill>
                      </a:tcPr>
                    </a:tc>
                    <a:tc>
                      <a:txBody>
                        <a:bodyPr/>
                        <a:lstStyle/>
                        <a:p>
                          <a:pPr marL="0" marR="0" algn="ctr">
                            <a:lnSpc>
                              <a:spcPct val="107000"/>
                            </a:lnSpc>
                            <a:spcAft>
                              <a:spcPts val="800"/>
                            </a:spcAft>
                            <a:buNone/>
                          </a:pPr>
                          <a:r>
                            <a:rPr lang="en-US" sz="600">
                              <a:effectLst/>
                            </a:rPr>
                            <a:t>Learning rate in dopamine (DA) subsystem</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123442476"/>
                      </a:ext>
                    </a:extLst>
                  </a:tr>
                  <a:tr h="232434">
                    <a:tc>
                      <a:txBody>
                        <a:bodyPr/>
                        <a:lstStyle/>
                        <a:p>
                          <a:endParaRPr lang="en-US"/>
                        </a:p>
                      </a:txBody>
                      <a:tcPr marL="35052" marR="35052" marT="0" marB="0" anchor="ctr">
                        <a:blipFill>
                          <a:blip r:embed="rId5"/>
                          <a:stretch>
                            <a:fillRect l="-216" t="-494737" r="-200866" b="-1542105"/>
                          </a:stretch>
                        </a:blipFill>
                      </a:tcPr>
                    </a:tc>
                    <a:tc>
                      <a:txBody>
                        <a:bodyPr/>
                        <a:lstStyle/>
                        <a:p>
                          <a:endParaRPr lang="en-US"/>
                        </a:p>
                      </a:txBody>
                      <a:tcPr marL="35052" marR="35052" marT="0" marB="0" anchor="ctr">
                        <a:blipFill>
                          <a:blip r:embed="rId5"/>
                          <a:stretch>
                            <a:fillRect l="-100216" t="-494737" r="-100866" b="-1542105"/>
                          </a:stretch>
                        </a:blipFill>
                      </a:tcP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795301798"/>
                      </a:ext>
                    </a:extLst>
                  </a:tr>
                  <a:tr h="228507">
                    <a:tc>
                      <a:txBody>
                        <a:bodyPr/>
                        <a:lstStyle/>
                        <a:p>
                          <a:endParaRPr lang="en-US"/>
                        </a:p>
                      </a:txBody>
                      <a:tcPr marL="35052" marR="35052" marT="0" marB="0" anchor="ctr">
                        <a:blipFill>
                          <a:blip r:embed="rId5"/>
                          <a:stretch>
                            <a:fillRect l="-216" t="-594737" r="-200866" b="-1442105"/>
                          </a:stretch>
                        </a:blipFill>
                      </a:tcPr>
                    </a:tc>
                    <a:tc>
                      <a:txBody>
                        <a:bodyPr/>
                        <a:lstStyle/>
                        <a:p>
                          <a:endParaRPr lang="en-US"/>
                        </a:p>
                      </a:txBody>
                      <a:tcPr marL="35052" marR="35052" marT="0" marB="0" anchor="ctr">
                        <a:blipFill>
                          <a:blip r:embed="rId5"/>
                          <a:stretch>
                            <a:fillRect l="-100216" t="-594737" r="-100866" b="-1442105"/>
                          </a:stretch>
                        </a:blipFill>
                      </a:tcP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220286356"/>
                      </a:ext>
                    </a:extLst>
                  </a:tr>
                  <a:tr h="232434">
                    <a:tc>
                      <a:txBody>
                        <a:bodyPr/>
                        <a:lstStyle/>
                        <a:p>
                          <a:endParaRPr lang="en-US"/>
                        </a:p>
                      </a:txBody>
                      <a:tcPr marL="35052" marR="35052" marT="0" marB="0" anchor="ctr">
                        <a:blipFill>
                          <a:blip r:embed="rId5"/>
                          <a:stretch>
                            <a:fillRect l="-216" t="-694737" r="-200866" b="-1342105"/>
                          </a:stretch>
                        </a:blipFill>
                      </a:tcPr>
                    </a:tc>
                    <a:tc>
                      <a:txBody>
                        <a:bodyPr/>
                        <a:lstStyle/>
                        <a:p>
                          <a:endParaRPr lang="en-US"/>
                        </a:p>
                      </a:txBody>
                      <a:tcPr marL="35052" marR="35052" marT="0" marB="0" anchor="ctr">
                        <a:blipFill>
                          <a:blip r:embed="rId5"/>
                          <a:stretch>
                            <a:fillRect l="-100216" t="-694737" r="-100866" b="-1342105"/>
                          </a:stretch>
                        </a:blipFill>
                      </a:tcP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151745589"/>
                      </a:ext>
                    </a:extLst>
                  </a:tr>
                  <a:tr h="228507">
                    <a:tc>
                      <a:txBody>
                        <a:bodyPr/>
                        <a:lstStyle/>
                        <a:p>
                          <a:endParaRPr lang="en-US"/>
                        </a:p>
                      </a:txBody>
                      <a:tcPr marL="35052" marR="35052" marT="0" marB="0" anchor="ctr">
                        <a:blipFill>
                          <a:blip r:embed="rId5"/>
                          <a:stretch>
                            <a:fillRect l="-216" t="-816216" r="-200866" b="-1278378"/>
                          </a:stretch>
                        </a:blipFill>
                      </a:tcPr>
                    </a:tc>
                    <a:tc>
                      <a:txBody>
                        <a:bodyPr/>
                        <a:lstStyle/>
                        <a:p>
                          <a:pPr marL="0" marR="0" algn="ctr">
                            <a:lnSpc>
                              <a:spcPct val="107000"/>
                            </a:lnSpc>
                            <a:spcAft>
                              <a:spcPts val="800"/>
                            </a:spcAft>
                            <a:buNone/>
                          </a:pPr>
                          <a:r>
                            <a:rPr lang="en-US" sz="600">
                              <a:effectLst/>
                            </a:rPr>
                            <a:t>Threshold for tonic dopamine (DA tonic)</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398157386"/>
                      </a:ext>
                    </a:extLst>
                  </a:tr>
                  <a:tr h="228507">
                    <a:tc>
                      <a:txBody>
                        <a:bodyPr/>
                        <a:lstStyle/>
                        <a:p>
                          <a:endParaRPr lang="en-US"/>
                        </a:p>
                      </a:txBody>
                      <a:tcPr marL="35052" marR="35052" marT="0" marB="0" anchor="ctr">
                        <a:blipFill>
                          <a:blip r:embed="rId5"/>
                          <a:stretch>
                            <a:fillRect l="-216" t="-892105" r="-200866" b="-1144737"/>
                          </a:stretch>
                        </a:blipFill>
                      </a:tcPr>
                    </a:tc>
                    <a:tc>
                      <a:txBody>
                        <a:bodyPr/>
                        <a:lstStyle/>
                        <a:p>
                          <a:pPr marL="0" marR="0" algn="ctr">
                            <a:lnSpc>
                              <a:spcPct val="107000"/>
                            </a:lnSpc>
                            <a:spcAft>
                              <a:spcPts val="800"/>
                            </a:spcAft>
                            <a:buNone/>
                          </a:pPr>
                          <a:r>
                            <a:rPr lang="en-US" sz="600" dirty="0">
                              <a:effectLst/>
                            </a:rPr>
                            <a:t>Threshold for premotor signal pm</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10% of pm</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174745046"/>
                      </a:ext>
                    </a:extLst>
                  </a:tr>
                  <a:tr h="232434">
                    <a:tc>
                      <a:txBody>
                        <a:bodyPr/>
                        <a:lstStyle/>
                        <a:p>
                          <a:endParaRPr lang="en-US"/>
                        </a:p>
                      </a:txBody>
                      <a:tcPr marL="35052" marR="35052" marT="0" marB="0" anchor="ctr">
                        <a:blipFill>
                          <a:blip r:embed="rId5"/>
                          <a:stretch>
                            <a:fillRect l="-216" t="-992105" r="-200866" b="-1044737"/>
                          </a:stretch>
                        </a:blipFill>
                      </a:tcPr>
                    </a:tc>
                    <a:tc>
                      <a:txBody>
                        <a:bodyPr/>
                        <a:lstStyle/>
                        <a:p>
                          <a:endParaRPr lang="en-US"/>
                        </a:p>
                      </a:txBody>
                      <a:tcPr marL="35052" marR="35052" marT="0" marB="0" anchor="ctr">
                        <a:blipFill>
                          <a:blip r:embed="rId5"/>
                          <a:stretch>
                            <a:fillRect l="-100216" t="-992105" r="-100866" b="-1044737"/>
                          </a:stretch>
                        </a:blipFill>
                      </a:tcPr>
                    </a:tc>
                    <a:tc>
                      <a:txBody>
                        <a:bodyPr/>
                        <a:lstStyle/>
                        <a:p>
                          <a:endParaRPr lang="en-US"/>
                        </a:p>
                      </a:txBody>
                      <a:tcPr marL="35052" marR="35052" marT="0" marB="0" anchor="ctr">
                        <a:blipFill>
                          <a:blip r:embed="rId5"/>
                          <a:stretch>
                            <a:fillRect l="-200216" t="-992105" r="-866" b="-1044737"/>
                          </a:stretch>
                        </a:blipFill>
                      </a:tcPr>
                    </a:tc>
                    <a:extLst>
                      <a:ext uri="{0D108BD9-81ED-4DB2-BD59-A6C34878D82A}">
                        <a16:rowId xmlns:a16="http://schemas.microsoft.com/office/drawing/2014/main" val="1165183157"/>
                      </a:ext>
                    </a:extLst>
                  </a:tr>
                  <a:tr h="108985">
                    <a:tc>
                      <a:txBody>
                        <a:bodyPr/>
                        <a:lstStyle/>
                        <a:p>
                          <a:pPr marL="0" marR="0" algn="ctr">
                            <a:lnSpc>
                              <a:spcPct val="107000"/>
                            </a:lnSpc>
                            <a:spcAft>
                              <a:spcPts val="800"/>
                            </a:spcAft>
                            <a:buNone/>
                          </a:pPr>
                          <a:r>
                            <a:rPr lang="en-US" sz="600">
                              <a:effectLst/>
                            </a:rPr>
                            <a:t>n, s, c (0)</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Initial nicotine-related signals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 each</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207276713"/>
                      </a:ext>
                    </a:extLst>
                  </a:tr>
                  <a:tr h="228507">
                    <a:tc>
                      <a:txBody>
                        <a:bodyPr/>
                        <a:lstStyle/>
                        <a:p>
                          <a:endParaRPr lang="en-US"/>
                        </a:p>
                      </a:txBody>
                      <a:tcPr marL="35052" marR="35052" marT="0" marB="0" anchor="ctr">
                        <a:blipFill>
                          <a:blip r:embed="rId5"/>
                          <a:stretch>
                            <a:fillRect l="-216" t="-1139474" r="-200866" b="-897368"/>
                          </a:stretch>
                        </a:blipFill>
                      </a:tcPr>
                    </a:tc>
                    <a:tc>
                      <a:txBody>
                        <a:bodyPr/>
                        <a:lstStyle/>
                        <a:p>
                          <a:pPr marL="0" marR="0" algn="ctr">
                            <a:lnSpc>
                              <a:spcPct val="107000"/>
                            </a:lnSpc>
                            <a:spcAft>
                              <a:spcPts val="800"/>
                            </a:spcAft>
                            <a:buNone/>
                          </a:pPr>
                          <a:r>
                            <a:rPr lang="en-US" sz="600" dirty="0">
                              <a:effectLst/>
                            </a:rPr>
                            <a:t>Activation thresholds for n-s-c system</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0.6, 0.7, 0.7 respectively</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368439636"/>
                      </a:ext>
                    </a:extLst>
                  </a:tr>
                  <a:tr h="228507">
                    <a:tc>
                      <a:txBody>
                        <a:bodyPr/>
                        <a:lstStyle/>
                        <a:p>
                          <a:endParaRPr lang="en-US"/>
                        </a:p>
                      </a:txBody>
                      <a:tcPr marL="35052" marR="35052" marT="0" marB="0" anchor="ctr">
                        <a:blipFill>
                          <a:blip r:embed="rId5"/>
                          <a:stretch>
                            <a:fillRect l="-216" t="-1272973" r="-200866" b="-821622"/>
                          </a:stretch>
                        </a:blipFill>
                      </a:tcPr>
                    </a:tc>
                    <a:tc>
                      <a:txBody>
                        <a:bodyPr/>
                        <a:lstStyle/>
                        <a:p>
                          <a:pPr marL="0" marR="0" algn="ctr">
                            <a:lnSpc>
                              <a:spcPct val="107000"/>
                            </a:lnSpc>
                            <a:spcAft>
                              <a:spcPts val="800"/>
                            </a:spcAft>
                            <a:buNone/>
                          </a:pPr>
                          <a:r>
                            <a:rPr lang="en-US" sz="600">
                              <a:effectLst/>
                            </a:rPr>
                            <a:t>Decay factors in s and c equations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0.4</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385176358"/>
                      </a:ext>
                    </a:extLst>
                  </a:tr>
                  <a:tr h="228507">
                    <a:tc>
                      <a:txBody>
                        <a:bodyPr/>
                        <a:lstStyle/>
                        <a:p>
                          <a:endParaRPr lang="en-US"/>
                        </a:p>
                      </a:txBody>
                      <a:tcPr marL="35052" marR="35052" marT="0" marB="0" anchor="ctr">
                        <a:blipFill>
                          <a:blip r:embed="rId5"/>
                          <a:stretch>
                            <a:fillRect l="-216" t="-1336842" r="-200866" b="-700000"/>
                          </a:stretch>
                        </a:blipFill>
                      </a:tcPr>
                    </a:tc>
                    <a:tc>
                      <a:txBody>
                        <a:bodyPr/>
                        <a:lstStyle/>
                        <a:p>
                          <a:pPr marL="0" marR="0" algn="ctr">
                            <a:lnSpc>
                              <a:spcPct val="107000"/>
                            </a:lnSpc>
                            <a:spcAft>
                              <a:spcPts val="800"/>
                            </a:spcAft>
                            <a:buNone/>
                          </a:pPr>
                          <a:r>
                            <a:rPr lang="en-US" sz="600" dirty="0">
                              <a:effectLst/>
                            </a:rPr>
                            <a:t>Update rate for n-s-c system</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715812622"/>
                      </a:ext>
                    </a:extLst>
                  </a:tr>
                  <a:tr h="228507">
                    <a:tc>
                      <a:txBody>
                        <a:bodyPr/>
                        <a:lstStyle/>
                        <a:p>
                          <a:endParaRPr lang="en-US"/>
                        </a:p>
                      </a:txBody>
                      <a:tcPr marL="35052" marR="35052" marT="0" marB="0" anchor="ctr">
                        <a:blipFill>
                          <a:blip r:embed="rId5"/>
                          <a:stretch>
                            <a:fillRect l="-216" t="-1475676" r="-200866" b="-618919"/>
                          </a:stretch>
                        </a:blipFill>
                      </a:tcPr>
                    </a:tc>
                    <a:tc>
                      <a:txBody>
                        <a:bodyPr/>
                        <a:lstStyle/>
                        <a:p>
                          <a:pPr marL="0" marR="0" algn="ctr">
                            <a:lnSpc>
                              <a:spcPct val="107000"/>
                            </a:lnSpc>
                            <a:spcAft>
                              <a:spcPts val="800"/>
                            </a:spcAft>
                            <a:buNone/>
                          </a:pPr>
                          <a:r>
                            <a:rPr lang="en-US" sz="600">
                              <a:effectLst/>
                            </a:rPr>
                            <a:t>Time constants for n, s, and c</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0.25, 1, 2 respectively</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33875034"/>
                      </a:ext>
                    </a:extLst>
                  </a:tr>
                  <a:tr h="199454">
                    <a:tc>
                      <a:txBody>
                        <a:bodyPr/>
                        <a:lstStyle/>
                        <a:p>
                          <a:endParaRPr lang="en-US"/>
                        </a:p>
                      </a:txBody>
                      <a:tcPr marL="35052" marR="35052" marT="0" marB="0" anchor="ctr">
                        <a:blipFill>
                          <a:blip r:embed="rId5"/>
                          <a:stretch>
                            <a:fillRect l="-216" t="-1766667" r="-200866" b="-593939"/>
                          </a:stretch>
                        </a:blipFill>
                      </a:tcPr>
                    </a:tc>
                    <a:tc>
                      <a:txBody>
                        <a:bodyPr/>
                        <a:lstStyle/>
                        <a:p>
                          <a:pPr marL="0" marR="0" algn="ctr">
                            <a:lnSpc>
                              <a:spcPct val="107000"/>
                            </a:lnSpc>
                            <a:spcAft>
                              <a:spcPts val="800"/>
                            </a:spcAft>
                            <a:buNone/>
                          </a:pPr>
                          <a:r>
                            <a:rPr lang="en-US" sz="600" dirty="0">
                              <a:effectLst/>
                            </a:rPr>
                            <a:t>Initial reward value Each time "smoke" is selected Multiplied by 2 until it reaches 1 </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0.01</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008159420"/>
                      </a:ext>
                    </a:extLst>
                  </a:tr>
                  <a:tr h="223584">
                    <a:tc>
                      <a:txBody>
                        <a:bodyPr/>
                        <a:lstStyle/>
                        <a:p>
                          <a:pPr marL="0" marR="0" algn="ctr">
                            <a:lnSpc>
                              <a:spcPct val="107000"/>
                            </a:lnSpc>
                            <a:spcAft>
                              <a:spcPts val="800"/>
                            </a:spcAft>
                            <a:buNone/>
                          </a:pPr>
                          <a:r>
                            <a:rPr lang="en-US" sz="600">
                              <a:effectLst/>
                            </a:rPr>
                            <a:t>Action encoding</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"Smoke", "Not smoke", "Undecided"</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a:effectLst/>
                            </a:rPr>
                            <a:t>[1 0], [0 1], [1 1]</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4081133767"/>
                      </a:ext>
                    </a:extLst>
                  </a:tr>
                  <a:tr h="228507">
                    <a:tc>
                      <a:txBody>
                        <a:bodyPr/>
                        <a:lstStyle/>
                        <a:p>
                          <a:endParaRPr lang="en-US"/>
                        </a:p>
                      </a:txBody>
                      <a:tcPr marL="35052" marR="35052" marT="0" marB="0" anchor="ctr">
                        <a:blipFill>
                          <a:blip r:embed="rId5"/>
                          <a:stretch>
                            <a:fillRect l="-216" t="-1764865" r="-200866" b="-329730"/>
                          </a:stretch>
                        </a:blipFill>
                      </a:tcPr>
                    </a:tc>
                    <a:tc>
                      <a:txBody>
                        <a:bodyPr/>
                        <a:lstStyle/>
                        <a:p>
                          <a:pPr marL="0" marR="0" algn="ctr">
                            <a:lnSpc>
                              <a:spcPct val="107000"/>
                            </a:lnSpc>
                            <a:spcAft>
                              <a:spcPts val="800"/>
                            </a:spcAft>
                            <a:buNone/>
                          </a:pPr>
                          <a:r>
                            <a:rPr lang="en-US" sz="600">
                              <a:effectLst/>
                            </a:rPr>
                            <a:t>Initial value weights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Small positive random values</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164118771"/>
                      </a:ext>
                    </a:extLst>
                  </a:tr>
                  <a:tr h="249895">
                    <a:tc>
                      <a:txBody>
                        <a:bodyPr/>
                        <a:lstStyle/>
                        <a:p>
                          <a:endParaRPr lang="en-US"/>
                        </a:p>
                      </a:txBody>
                      <a:tcPr marL="35052" marR="35052" marT="0" marB="0" anchor="ctr">
                        <a:blipFill>
                          <a:blip r:embed="rId5"/>
                          <a:stretch>
                            <a:fillRect l="-216" t="-1682927" r="-200866" b="-197561"/>
                          </a:stretch>
                        </a:blipFill>
                      </a:tcPr>
                    </a:tc>
                    <a:tc>
                      <a:txBody>
                        <a:bodyPr/>
                        <a:lstStyle/>
                        <a:p>
                          <a:pPr marL="0" marR="0" algn="ctr">
                            <a:lnSpc>
                              <a:spcPct val="107000"/>
                            </a:lnSpc>
                            <a:spcAft>
                              <a:spcPts val="800"/>
                            </a:spcAft>
                            <a:buNone/>
                          </a:pPr>
                          <a:r>
                            <a:rPr lang="en-US" sz="600">
                              <a:effectLst/>
                            </a:rPr>
                            <a:t>Initial ventral to dorsal striatum weights</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Diagonal matrix of ones</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2585916753"/>
                      </a:ext>
                    </a:extLst>
                  </a:tr>
                  <a:tr h="250041">
                    <a:tc>
                      <a:txBody>
                        <a:bodyPr/>
                        <a:lstStyle/>
                        <a:p>
                          <a:endParaRPr lang="en-US"/>
                        </a:p>
                      </a:txBody>
                      <a:tcPr marL="35052" marR="35052" marT="0" marB="0" anchor="ctr">
                        <a:blipFill>
                          <a:blip r:embed="rId5"/>
                          <a:stretch>
                            <a:fillRect l="-216" t="-1782927" r="-200866" b="-97561"/>
                          </a:stretch>
                        </a:blipFill>
                      </a:tcPr>
                    </a:tc>
                    <a:tc>
                      <a:txBody>
                        <a:bodyPr/>
                        <a:lstStyle/>
                        <a:p>
                          <a:pPr marL="0" marR="0" algn="ctr">
                            <a:lnSpc>
                              <a:spcPct val="107000"/>
                            </a:lnSpc>
                            <a:spcAft>
                              <a:spcPts val="800"/>
                            </a:spcAft>
                            <a:buNone/>
                          </a:pPr>
                          <a:r>
                            <a:rPr lang="en-US" sz="600">
                              <a:effectLst/>
                            </a:rPr>
                            <a:t>STN diffusive effect matrices (fixed) and </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Matrix with 0.5 values</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3666894686"/>
                      </a:ext>
                    </a:extLst>
                  </a:tr>
                  <a:tr h="228507">
                    <a:tc>
                      <a:txBody>
                        <a:bodyPr/>
                        <a:lstStyle/>
                        <a:p>
                          <a:endParaRPr lang="en-US"/>
                        </a:p>
                      </a:txBody>
                      <a:tcPr marL="35052" marR="35052" marT="0" marB="0" anchor="ctr">
                        <a:blipFill>
                          <a:blip r:embed="rId5"/>
                          <a:stretch>
                            <a:fillRect l="-216" t="-2031579" r="-200866" b="-5263"/>
                          </a:stretch>
                        </a:blipFill>
                      </a:tcPr>
                    </a:tc>
                    <a:tc>
                      <a:txBody>
                        <a:bodyPr/>
                        <a:lstStyle/>
                        <a:p>
                          <a:pPr marL="0" marR="0" algn="ctr">
                            <a:lnSpc>
                              <a:spcPct val="107000"/>
                            </a:lnSpc>
                            <a:spcAft>
                              <a:spcPts val="800"/>
                            </a:spcAft>
                            <a:buNone/>
                          </a:pPr>
                          <a:r>
                            <a:rPr lang="en-US" sz="600">
                              <a:effectLst/>
                            </a:rPr>
                            <a:t>Feedback effect from motor to decision (fixed)</a:t>
                          </a:r>
                          <a:endParaRPr lang="en-US" sz="60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tc>
                      <a:txBody>
                        <a:bodyPr/>
                        <a:lstStyle/>
                        <a:p>
                          <a:pPr marL="0" marR="0" algn="ctr">
                            <a:lnSpc>
                              <a:spcPct val="107000"/>
                            </a:lnSpc>
                            <a:spcAft>
                              <a:spcPts val="800"/>
                            </a:spcAft>
                            <a:buNone/>
                          </a:pPr>
                          <a:r>
                            <a:rPr lang="en-US" sz="600" dirty="0">
                              <a:effectLst/>
                            </a:rPr>
                            <a:t>Matrix with 0.5 values</a:t>
                          </a:r>
                          <a:endParaRPr lang="en-US" sz="600" dirty="0">
                            <a:effectLst/>
                            <a:latin typeface="Calibri" panose="020F0502020204030204" pitchFamily="34" charset="0"/>
                            <a:ea typeface="Calibri" panose="020F0502020204030204" pitchFamily="34" charset="0"/>
                            <a:cs typeface="Arial" panose="020B0604020202020204" pitchFamily="34" charset="0"/>
                          </a:endParaRPr>
                        </a:p>
                      </a:txBody>
                      <a:tcPr marL="35052" marR="35052" marT="0" marB="0" anchor="ctr"/>
                    </a:tc>
                    <a:extLst>
                      <a:ext uri="{0D108BD9-81ED-4DB2-BD59-A6C34878D82A}">
                        <a16:rowId xmlns:a16="http://schemas.microsoft.com/office/drawing/2014/main" val="3250571831"/>
                      </a:ext>
                    </a:extLst>
                  </a:tr>
                </a:tbl>
              </a:graphicData>
            </a:graphic>
          </p:graphicFrame>
        </mc:Fallback>
      </mc:AlternateContent>
    </p:spTree>
    <p:extLst>
      <p:ext uri="{BB962C8B-B14F-4D97-AF65-F5344CB8AC3E}">
        <p14:creationId xmlns:p14="http://schemas.microsoft.com/office/powerpoint/2010/main" val="2040266430"/>
      </p:ext>
    </p:extLst>
  </p:cSld>
  <p:clrMapOvr>
    <a:masterClrMapping/>
  </p:clrMapOvr>
  <mc:AlternateContent xmlns:mc="http://schemas.openxmlformats.org/markup-compatibility/2006" xmlns:p14="http://schemas.microsoft.com/office/powerpoint/2010/main">
    <mc:Choice Requires="p14">
      <p:transition spd="slow" p14:dur="2000" advTm="31167"/>
    </mc:Choice>
    <mc:Fallback xmlns="">
      <p:transition spd="slow" advTm="3116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38A9E-4EDF-D48B-2D8B-D19239E4D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BD416-68E9-4748-01E2-5F15AA6E995F}"/>
              </a:ext>
            </a:extLst>
          </p:cNvPr>
          <p:cNvSpPr>
            <a:spLocks noGrp="1"/>
          </p:cNvSpPr>
          <p:nvPr>
            <p:ph type="title"/>
          </p:nvPr>
        </p:nvSpPr>
        <p:spPr>
          <a:xfrm>
            <a:off x="15455" y="325965"/>
            <a:ext cx="7691632" cy="887206"/>
          </a:xfrm>
        </p:spPr>
        <p:txBody>
          <a:bodyPr/>
          <a:lstStyle/>
          <a:p>
            <a:r>
              <a:rPr lang="en-US" dirty="0">
                <a:latin typeface="Times New Roman" panose="02020603050405020304" pitchFamily="18" charset="0"/>
                <a:cs typeface="Times New Roman" panose="02020603050405020304" pitchFamily="18" charset="0"/>
              </a:rPr>
              <a:t>Result </a:t>
            </a:r>
          </a:p>
        </p:txBody>
      </p:sp>
      <p:pic>
        <p:nvPicPr>
          <p:cNvPr id="3" name="Picture 2">
            <a:extLst>
              <a:ext uri="{FF2B5EF4-FFF2-40B4-BE49-F238E27FC236}">
                <a16:creationId xmlns:a16="http://schemas.microsoft.com/office/drawing/2014/main" id="{A9F1F613-DABB-5211-BF56-6EF7975244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359B17E3-C5A1-7A72-5816-3AAD38C6A1F3}"/>
              </a:ext>
            </a:extLst>
          </p:cNvPr>
          <p:cNvSpPr>
            <a:spLocks noGrp="1"/>
          </p:cNvSpPr>
          <p:nvPr>
            <p:ph idx="1"/>
          </p:nvPr>
        </p:nvSpPr>
        <p:spPr>
          <a:xfrm>
            <a:off x="15455" y="1213171"/>
            <a:ext cx="8430925" cy="5420894"/>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To evaluate the performance of the proposed nicotine addiction model, the system's response to nicotine uptake was simulated. The initial reward value was set very low and increased with each selection of the "smoking" action until it reached 1. The simulation stops when the smoking action is selected 20 times in a row, which is considered an indication of addiction. In 20 out of 50 runs, addiction was established. The average number of trials required to reach addiction was 346, with a standard deviation of 265.7. These results indicate that the model is capable of representing the process of addiction development.</a:t>
            </a: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ctr">
              <a:buNone/>
            </a:pPr>
            <a:endParaRPr lang="fa-IR" sz="1800" dirty="0">
              <a:latin typeface="Times New Roman" panose="02020603050405020304" pitchFamily="18" charset="0"/>
              <a:cs typeface="Times New Roman" panose="02020603050405020304" pitchFamily="18" charset="0"/>
            </a:endParaRPr>
          </a:p>
          <a:p>
            <a:pPr marL="0" indent="0" algn="ctr">
              <a:buNone/>
            </a:pPr>
            <a:r>
              <a:rPr lang="en-US" sz="1100" dirty="0"/>
              <a:t>Reinforcement error signal </a:t>
            </a:r>
            <a:r>
              <a:rPr lang="en-US" sz="1100" i="1" dirty="0"/>
              <a:t>δ </a:t>
            </a:r>
            <a:r>
              <a:rPr lang="en-US" sz="1100" dirty="0"/>
              <a:t>when addiction is a) set up b) not set up</a:t>
            </a:r>
            <a:endParaRPr lang="fa-IR" sz="1050" dirty="0">
              <a:latin typeface="Times New Roman" panose="02020603050405020304" pitchFamily="18" charset="0"/>
            </a:endParaRPr>
          </a:p>
          <a:p>
            <a:pPr marL="0" indent="0" algn="just">
              <a:buNone/>
            </a:pPr>
            <a:endParaRPr lang="en-US" sz="1800" i="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734EB6C-0334-A311-601E-96DCBF2F0EDD}"/>
              </a:ext>
            </a:extLst>
          </p:cNvPr>
          <p:cNvPicPr>
            <a:picLocks noChangeAspect="1"/>
          </p:cNvPicPr>
          <p:nvPr/>
        </p:nvPicPr>
        <p:blipFill>
          <a:blip r:embed="rId3"/>
          <a:stretch>
            <a:fillRect/>
          </a:stretch>
        </p:blipFill>
        <p:spPr>
          <a:xfrm>
            <a:off x="1487717" y="3578158"/>
            <a:ext cx="5486400" cy="1287887"/>
          </a:xfrm>
          <a:prstGeom prst="rect">
            <a:avLst/>
          </a:prstGeom>
        </p:spPr>
      </p:pic>
      <p:pic>
        <p:nvPicPr>
          <p:cNvPr id="8" name="Picture 7">
            <a:extLst>
              <a:ext uri="{FF2B5EF4-FFF2-40B4-BE49-F238E27FC236}">
                <a16:creationId xmlns:a16="http://schemas.microsoft.com/office/drawing/2014/main" id="{18A63F61-6F57-3683-4B39-81356DB463DE}"/>
              </a:ext>
            </a:extLst>
          </p:cNvPr>
          <p:cNvPicPr>
            <a:picLocks noChangeAspect="1"/>
          </p:cNvPicPr>
          <p:nvPr/>
        </p:nvPicPr>
        <p:blipFill>
          <a:blip r:embed="rId4"/>
          <a:stretch>
            <a:fillRect/>
          </a:stretch>
        </p:blipFill>
        <p:spPr>
          <a:xfrm>
            <a:off x="1487717" y="4866045"/>
            <a:ext cx="5486400" cy="1287887"/>
          </a:xfrm>
          <a:prstGeom prst="rect">
            <a:avLst/>
          </a:prstGeom>
        </p:spPr>
      </p:pic>
    </p:spTree>
    <p:extLst>
      <p:ext uri="{BB962C8B-B14F-4D97-AF65-F5344CB8AC3E}">
        <p14:creationId xmlns:p14="http://schemas.microsoft.com/office/powerpoint/2010/main" val="1586281231"/>
      </p:ext>
    </p:extLst>
  </p:cSld>
  <p:clrMapOvr>
    <a:masterClrMapping/>
  </p:clrMapOvr>
  <mc:AlternateContent xmlns:mc="http://schemas.openxmlformats.org/markup-compatibility/2006" xmlns:p14="http://schemas.microsoft.com/office/powerpoint/2010/main">
    <mc:Choice Requires="p14">
      <p:transition spd="slow" p14:dur="2000" advTm="119031"/>
    </mc:Choice>
    <mc:Fallback xmlns="">
      <p:transition spd="slow" advTm="11903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533C-D593-9D1D-2CAE-386189735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1D04E-5B28-816A-9300-4D20ECB245AC}"/>
              </a:ext>
            </a:extLst>
          </p:cNvPr>
          <p:cNvSpPr>
            <a:spLocks noGrp="1"/>
          </p:cNvSpPr>
          <p:nvPr>
            <p:ph type="title"/>
          </p:nvPr>
        </p:nvSpPr>
        <p:spPr>
          <a:xfrm>
            <a:off x="15455" y="325965"/>
            <a:ext cx="7691632" cy="887206"/>
          </a:xfrm>
        </p:spPr>
        <p:txBody>
          <a:bodyPr/>
          <a:lstStyle/>
          <a:p>
            <a:r>
              <a:rPr lang="en-US" dirty="0">
                <a:latin typeface="Times New Roman" panose="02020603050405020304" pitchFamily="18" charset="0"/>
                <a:cs typeface="Times New Roman" panose="02020603050405020304" pitchFamily="18" charset="0"/>
              </a:rPr>
              <a:t>Simulation  </a:t>
            </a:r>
          </a:p>
        </p:txBody>
      </p:sp>
      <p:pic>
        <p:nvPicPr>
          <p:cNvPr id="3" name="Picture 2">
            <a:extLst>
              <a:ext uri="{FF2B5EF4-FFF2-40B4-BE49-F238E27FC236}">
                <a16:creationId xmlns:a16="http://schemas.microsoft.com/office/drawing/2014/main" id="{433CAEB0-8975-A283-B4DC-96F9AF0AE8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BF19C2D1-BCAC-0180-3E5A-12E8A213622E}"/>
              </a:ext>
            </a:extLst>
          </p:cNvPr>
          <p:cNvSpPr>
            <a:spLocks noGrp="1"/>
          </p:cNvSpPr>
          <p:nvPr>
            <p:ph idx="1"/>
          </p:nvPr>
        </p:nvSpPr>
        <p:spPr>
          <a:xfrm>
            <a:off x="15455" y="1213171"/>
            <a:ext cx="8430925" cy="5420894"/>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simulation of this paper was implemented by myself due to the unavailability of the original code. The implementation file is included in the uploaded materials. Modeling brain processes such as addiction requires repetition because of their complexity, nonlinearity, and stochastic nature, in order to obtain reliable and generalizable results. This is why each run of the code may yield different outcomes. Additionally, criteria such as 20 consecutive smoking actions and the use of variance-based metrics are employed precisely because of this relative randomness.</a:t>
            </a:r>
            <a:endParaRPr lang="fa-IR"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simulation results are as follows:(In the next slide, we will analyze it.)</a:t>
            </a:r>
            <a:endParaRPr lang="fa-IR" sz="1800" dirty="0">
              <a:latin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ctr">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en-US" sz="1800" i="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45C261B-66B0-4080-8C18-432E9C9230CB}"/>
              </a:ext>
            </a:extLst>
          </p:cNvPr>
          <p:cNvPicPr>
            <a:picLocks noChangeAspect="1"/>
          </p:cNvPicPr>
          <p:nvPr/>
        </p:nvPicPr>
        <p:blipFill>
          <a:blip r:embed="rId3"/>
          <a:stretch>
            <a:fillRect/>
          </a:stretch>
        </p:blipFill>
        <p:spPr>
          <a:xfrm>
            <a:off x="5291703" y="3923618"/>
            <a:ext cx="3145828" cy="2505456"/>
          </a:xfrm>
          <a:prstGeom prst="rect">
            <a:avLst/>
          </a:prstGeom>
        </p:spPr>
      </p:pic>
      <p:pic>
        <p:nvPicPr>
          <p:cNvPr id="9" name="Picture 8">
            <a:extLst>
              <a:ext uri="{FF2B5EF4-FFF2-40B4-BE49-F238E27FC236}">
                <a16:creationId xmlns:a16="http://schemas.microsoft.com/office/drawing/2014/main" id="{EF7CFC40-B24D-B9B5-7BA6-F50818438FAC}"/>
              </a:ext>
            </a:extLst>
          </p:cNvPr>
          <p:cNvPicPr>
            <a:picLocks noChangeAspect="1"/>
          </p:cNvPicPr>
          <p:nvPr/>
        </p:nvPicPr>
        <p:blipFill>
          <a:blip r:embed="rId4"/>
          <a:srcRect r="5403"/>
          <a:stretch>
            <a:fillRect/>
          </a:stretch>
        </p:blipFill>
        <p:spPr>
          <a:xfrm>
            <a:off x="1003137" y="3925050"/>
            <a:ext cx="3158316" cy="2504024"/>
          </a:xfrm>
          <a:prstGeom prst="rect">
            <a:avLst/>
          </a:prstGeom>
        </p:spPr>
      </p:pic>
    </p:spTree>
    <p:extLst>
      <p:ext uri="{BB962C8B-B14F-4D97-AF65-F5344CB8AC3E}">
        <p14:creationId xmlns:p14="http://schemas.microsoft.com/office/powerpoint/2010/main" val="1388329052"/>
      </p:ext>
    </p:extLst>
  </p:cSld>
  <p:clrMapOvr>
    <a:masterClrMapping/>
  </p:clrMapOvr>
  <mc:AlternateContent xmlns:mc="http://schemas.openxmlformats.org/markup-compatibility/2006" xmlns:p14="http://schemas.microsoft.com/office/powerpoint/2010/main">
    <mc:Choice Requires="p14">
      <p:transition spd="slow" p14:dur="2000" advTm="69144"/>
    </mc:Choice>
    <mc:Fallback xmlns="">
      <p:transition spd="slow" advTm="6914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031AF-22F2-8AFA-5F99-73C98D53C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4CE67-3C3F-95D4-4D97-5AD59E29C006}"/>
              </a:ext>
            </a:extLst>
          </p:cNvPr>
          <p:cNvSpPr>
            <a:spLocks noGrp="1"/>
          </p:cNvSpPr>
          <p:nvPr>
            <p:ph type="title"/>
          </p:nvPr>
        </p:nvSpPr>
        <p:spPr>
          <a:xfrm>
            <a:off x="15455" y="325965"/>
            <a:ext cx="7691632" cy="887206"/>
          </a:xfrm>
        </p:spPr>
        <p:txBody>
          <a:bodyPr/>
          <a:lstStyle/>
          <a:p>
            <a:r>
              <a:rPr lang="en-US" dirty="0">
                <a:latin typeface="Times New Roman" panose="02020603050405020304" pitchFamily="18" charset="0"/>
                <a:cs typeface="Times New Roman" panose="02020603050405020304" pitchFamily="18" charset="0"/>
              </a:rPr>
              <a:t>Simulation  </a:t>
            </a:r>
          </a:p>
        </p:txBody>
      </p:sp>
      <p:pic>
        <p:nvPicPr>
          <p:cNvPr id="3" name="Picture 2">
            <a:extLst>
              <a:ext uri="{FF2B5EF4-FFF2-40B4-BE49-F238E27FC236}">
                <a16:creationId xmlns:a16="http://schemas.microsoft.com/office/drawing/2014/main" id="{7665CA7A-6F1D-F3A9-090C-3E801DB47D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84F3D0B2-651A-DD7B-1BCA-AD17392A0D7B}"/>
              </a:ext>
            </a:extLst>
          </p:cNvPr>
          <p:cNvSpPr>
            <a:spLocks noGrp="1"/>
          </p:cNvSpPr>
          <p:nvPr>
            <p:ph idx="1"/>
          </p:nvPr>
        </p:nvSpPr>
        <p:spPr>
          <a:xfrm>
            <a:off x="3694921" y="139959"/>
            <a:ext cx="5127077" cy="6494106"/>
          </a:xfrm>
        </p:spPr>
        <p:txBody>
          <a:bodyPr>
            <a:normAutofit fontScale="92500" lnSpcReduction="10000"/>
          </a:bodyPr>
          <a:lstStyle/>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initial negative value of δ may indicate that the received reward was less than expected, or that the system's initial expectations are still being adjusted. The rapid increase of δ toward positive values, reaching a peak, represents a significant positive reward prediction error—likely due to the selection of the "smoking" action and receiving a reward that exceeded the initial expectation (since </a:t>
            </a:r>
            <a:r>
              <a:rPr lang="en-US" sz="1800" dirty="0" err="1">
                <a:latin typeface="Times New Roman" panose="02020603050405020304" pitchFamily="18" charset="0"/>
                <a:cs typeface="Times New Roman" panose="02020603050405020304" pitchFamily="18" charset="0"/>
              </a:rPr>
              <a:t>ri</a:t>
            </a:r>
            <a:r>
              <a:rPr lang="en-US" sz="1800" dirty="0">
                <a:latin typeface="Times New Roman" panose="02020603050405020304" pitchFamily="18" charset="0"/>
                <a:cs typeface="Times New Roman" panose="02020603050405020304" pitchFamily="18" charset="0"/>
              </a:rPr>
              <a:t> starts at 0.01 and doubles with each selection). On the other hand, the subsequent decrease in δ implies that the agent is gradually learning to correctly predict the value of the "smoking" action, and the difference between expected and received reward is diminishing. In other words, the agent has "learned" that smoking provides a high reward and is no longer "surprised." This decrease and convergence of δ toward zero signals the stabilization of addictive behavior and the transition from random choice to compulsive behavior, as the system consistently and confidently selects the rewarding action.</a:t>
            </a:r>
            <a:endParaRPr lang="fa-IR" sz="1800" dirty="0">
              <a:latin typeface="Times New Roman" panose="02020603050405020304" pitchFamily="18" charset="0"/>
              <a:cs typeface="Times New Roman" panose="02020603050405020304" pitchFamily="18" charset="0"/>
            </a:endParaRPr>
          </a:p>
          <a:p>
            <a:pPr marL="0" indent="0" algn="ctr">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en-US" sz="1800" i="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0780C98-4454-B727-8BB5-93461BB3DF07}"/>
              </a:ext>
            </a:extLst>
          </p:cNvPr>
          <p:cNvPicPr>
            <a:picLocks noChangeAspect="1"/>
          </p:cNvPicPr>
          <p:nvPr/>
        </p:nvPicPr>
        <p:blipFill>
          <a:blip r:embed="rId3"/>
          <a:stretch>
            <a:fillRect/>
          </a:stretch>
        </p:blipFill>
        <p:spPr>
          <a:xfrm>
            <a:off x="121298" y="2370839"/>
            <a:ext cx="3328336" cy="2922500"/>
          </a:xfrm>
          <a:prstGeom prst="rect">
            <a:avLst/>
          </a:prstGeom>
        </p:spPr>
      </p:pic>
      <p:sp>
        <p:nvSpPr>
          <p:cNvPr id="14" name="TextBox 13">
            <a:extLst>
              <a:ext uri="{FF2B5EF4-FFF2-40B4-BE49-F238E27FC236}">
                <a16:creationId xmlns:a16="http://schemas.microsoft.com/office/drawing/2014/main" id="{090E087F-3009-C647-D1D1-56D9D9482ADC}"/>
              </a:ext>
            </a:extLst>
          </p:cNvPr>
          <p:cNvSpPr txBox="1"/>
          <p:nvPr/>
        </p:nvSpPr>
        <p:spPr>
          <a:xfrm>
            <a:off x="0" y="1163736"/>
            <a:ext cx="7691631" cy="369332"/>
          </a:xfrm>
          <a:prstGeom prst="rect">
            <a:avLst/>
          </a:prstGeom>
          <a:noFill/>
        </p:spPr>
        <p:txBody>
          <a:bodyPr wrap="square">
            <a:spAutoFit/>
          </a:bodyPr>
          <a:lstStyle/>
          <a:p>
            <a:pPr marL="0" indent="0" algn="just">
              <a:buNone/>
            </a:pPr>
            <a:r>
              <a:rPr lang="en-US" sz="1800" dirty="0">
                <a:latin typeface="Times New Roman" panose="02020603050405020304" pitchFamily="18" charset="0"/>
                <a:cs typeface="Times New Roman" panose="02020603050405020304" pitchFamily="18" charset="0"/>
              </a:rPr>
              <a:t>The simulation results are as follows:(In the next slide, we will analyze it.)</a:t>
            </a:r>
            <a:endParaRPr lang="fa-I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6140110"/>
      </p:ext>
    </p:extLst>
  </p:cSld>
  <p:clrMapOvr>
    <a:masterClrMapping/>
  </p:clrMapOvr>
  <mc:AlternateContent xmlns:mc="http://schemas.openxmlformats.org/markup-compatibility/2006" xmlns:p14="http://schemas.microsoft.com/office/powerpoint/2010/main">
    <mc:Choice Requires="p14">
      <p:transition spd="slow" p14:dur="2000" advTm="106946"/>
    </mc:Choice>
    <mc:Fallback xmlns="">
      <p:transition spd="slow" advTm="106946"/>
    </mc:Fallback>
  </mc:AlternateContent>
  <p:extLst>
    <p:ext uri="{3A86A75C-4F4B-4683-9AE1-C65F6400EC91}">
      <p14:laserTraceLst xmlns:p14="http://schemas.microsoft.com/office/powerpoint/2010/main">
        <p14:tracePtLst>
          <p14:tracePt t="14758" x="3479800" y="6356350"/>
          <p14:tracePt t="15030" x="2268538" y="6611938"/>
          <p14:tracePt t="15048" x="1835150" y="6237288"/>
          <p14:tracePt t="15062" x="1606550" y="5957888"/>
          <p14:tracePt t="15080" x="1163638" y="5405438"/>
          <p14:tracePt t="15094" x="874713" y="5038725"/>
          <p14:tracePt t="15112" x="569913" y="4673600"/>
          <p14:tracePt t="15128" x="280988" y="4341813"/>
          <p14:tracePt t="15145" x="230188" y="4283075"/>
          <p14:tracePt t="15162" x="212725" y="4265613"/>
          <p14:tracePt t="15178" x="203200" y="4265613"/>
          <p14:tracePt t="15413" x="212725" y="4283075"/>
          <p14:tracePt t="15420" x="238125" y="4333875"/>
          <p14:tracePt t="15429" x="280988" y="4384675"/>
          <p14:tracePt t="15445" x="331788" y="4470400"/>
          <p14:tracePt t="15461" x="347663" y="4503738"/>
          <p14:tracePt t="15478" x="407988" y="4572000"/>
          <p14:tracePt t="15494" x="425450" y="4579938"/>
          <p14:tracePt t="15514" x="450850" y="4622800"/>
          <p14:tracePt t="15532" x="458788" y="4630738"/>
          <p14:tracePt t="15549" x="476250" y="4648200"/>
          <p14:tracePt t="15565" x="476250" y="4665663"/>
          <p14:tracePt t="15579" x="484188" y="4665663"/>
          <p14:tracePt t="15595" x="484188" y="4683125"/>
          <p14:tracePt t="15612" x="492125" y="4691063"/>
          <p14:tracePt t="15629" x="501650" y="4699000"/>
          <p14:tracePt t="15645" x="501650" y="4716463"/>
          <p14:tracePt t="15662" x="501650" y="4741863"/>
          <p14:tracePt t="15679" x="509588" y="4784725"/>
          <p14:tracePt t="15695" x="509588" y="4810125"/>
          <p14:tracePt t="15711" x="509588" y="4827588"/>
          <p14:tracePt t="15728" x="509588" y="4860925"/>
          <p14:tracePt t="15745" x="509588" y="4868863"/>
          <p14:tracePt t="15748" x="509588" y="4878388"/>
          <p14:tracePt t="15763" x="509588" y="4886325"/>
          <p14:tracePt t="15779" x="509588" y="4894263"/>
          <p14:tracePt t="15796" x="509588" y="4903788"/>
          <p14:tracePt t="15813" x="509588" y="4911725"/>
          <p14:tracePt t="15831" x="509588" y="4919663"/>
          <p14:tracePt t="15845" x="509588" y="4929188"/>
          <p14:tracePt t="16247" x="688975" y="4878388"/>
          <p14:tracePt t="16254" x="892175" y="4818063"/>
          <p14:tracePt t="16263" x="993775" y="4792663"/>
          <p14:tracePt t="16279" x="1112838" y="4775200"/>
          <p14:tracePt t="16281" x="1138238" y="4775200"/>
          <p14:tracePt t="16298" x="1181100" y="4775200"/>
          <p14:tracePt t="16312" x="1198563" y="4775200"/>
          <p14:tracePt t="16329" x="1206500" y="4775200"/>
          <p14:tracePt t="16406" x="1198563" y="4775200"/>
          <p14:tracePt t="16412" x="1181100" y="4775200"/>
          <p14:tracePt t="16428" x="1112838" y="4775200"/>
          <p14:tracePt t="16446" x="849313" y="4741863"/>
          <p14:tracePt t="16462" x="747713" y="4733925"/>
          <p14:tracePt t="16478" x="704850" y="4733925"/>
          <p14:tracePt t="16497" x="671513" y="4733925"/>
          <p14:tracePt t="16513" x="663575" y="4733925"/>
          <p14:tracePt t="16532" x="654050" y="4733925"/>
          <p14:tracePt t="16546" x="646113" y="4733925"/>
          <p14:tracePt t="16612" x="654050" y="4733925"/>
          <p14:tracePt t="16626" x="671513" y="4733925"/>
          <p14:tracePt t="16633" x="679450" y="4733925"/>
          <p14:tracePt t="16645" x="696913" y="4733925"/>
          <p14:tracePt t="16661" x="755650" y="4741863"/>
          <p14:tracePt t="16678" x="790575" y="4749800"/>
          <p14:tracePt t="16696" x="833438" y="4759325"/>
          <p14:tracePt t="16712" x="849313" y="4759325"/>
          <p14:tracePt t="16732" x="858838" y="4759325"/>
          <p14:tracePt t="16746" x="874713" y="4759325"/>
          <p14:tracePt t="16798" x="874713" y="4767263"/>
          <p14:tracePt t="16804" x="858838" y="4767263"/>
          <p14:tracePt t="16812" x="849313" y="4767263"/>
          <p14:tracePt t="16828" x="808038" y="4775200"/>
          <p14:tracePt t="16845" x="765175" y="4775200"/>
          <p14:tracePt t="16862" x="714375" y="4784725"/>
          <p14:tracePt t="16878" x="696913" y="4784725"/>
          <p14:tracePt t="16895" x="679450" y="4784725"/>
          <p14:tracePt t="16911" x="671513" y="4784725"/>
          <p14:tracePt t="16930" x="654050" y="4784725"/>
          <p14:tracePt t="27867" x="663575" y="4784725"/>
          <p14:tracePt t="27876" x="671513" y="4784725"/>
          <p14:tracePt t="27882" x="679450" y="4775200"/>
          <p14:tracePt t="27895" x="696913" y="4775200"/>
          <p14:tracePt t="27912" x="714375" y="4759325"/>
          <p14:tracePt t="27929" x="730250" y="4749800"/>
          <p14:tracePt t="27945" x="747713" y="4749800"/>
          <p14:tracePt t="27961" x="755650" y="4741863"/>
          <p14:tracePt t="27978" x="773113" y="4741863"/>
          <p14:tracePt t="27999" x="773113" y="4733925"/>
          <p14:tracePt t="28015" x="781050" y="4733925"/>
          <p14:tracePt t="28032" x="790575" y="4733925"/>
          <p14:tracePt t="28045" x="798513" y="4733925"/>
          <p14:tracePt t="28081" x="798513" y="4724400"/>
          <p14:tracePt t="30192" x="790575" y="4724400"/>
          <p14:tracePt t="30198" x="781050" y="4724400"/>
          <p14:tracePt t="30212" x="755650" y="4724400"/>
          <p14:tracePt t="30228" x="739775" y="4724400"/>
          <p14:tracePt t="30248" x="704850" y="4708525"/>
          <p14:tracePt t="30263" x="688975" y="4708525"/>
          <p14:tracePt t="30265" x="679450" y="4708525"/>
          <p14:tracePt t="30280" x="671513" y="4708525"/>
          <p14:tracePt t="30298" x="654050" y="4708525"/>
          <p14:tracePt t="30300" x="646113" y="4708525"/>
          <p14:tracePt t="30314" x="636588" y="4708525"/>
          <p14:tracePt t="30330" x="628650" y="4708525"/>
          <p14:tracePt t="30345" x="620713" y="4708525"/>
          <p14:tracePt t="30369" x="611188" y="4708525"/>
          <p14:tracePt t="30378" x="603250" y="4708525"/>
          <p14:tracePt t="30522" x="611188" y="4708525"/>
          <p14:tracePt t="30534" x="620713" y="4708525"/>
          <p14:tracePt t="30563" x="628650" y="4708525"/>
          <p14:tracePt t="30579" x="636588" y="4708525"/>
          <p14:tracePt t="30589" x="646113" y="4708525"/>
          <p14:tracePt t="30604" x="654050" y="4708525"/>
          <p14:tracePt t="30612" x="663575" y="4708525"/>
          <p14:tracePt t="30631" x="671513" y="4708525"/>
          <p14:tracePt t="30646" x="679450" y="4708525"/>
          <p14:tracePt t="30672" x="688975" y="4708525"/>
          <p14:tracePt t="30679" x="696913" y="4708525"/>
          <p14:tracePt t="30702" x="704850" y="4708525"/>
          <p14:tracePt t="30715" x="714375" y="4708525"/>
          <p14:tracePt t="30735" x="722313" y="4708525"/>
          <p14:tracePt t="30755" x="730250" y="4708525"/>
          <p14:tracePt t="30790" x="739775" y="4708525"/>
          <p14:tracePt t="30797" x="747713" y="4708525"/>
          <p14:tracePt t="30845" x="755650" y="4708525"/>
          <p14:tracePt t="30858" x="765175" y="4708525"/>
          <p14:tracePt t="30899" x="773113" y="4708525"/>
          <p14:tracePt t="30907" x="781050" y="4699000"/>
          <p14:tracePt t="30927" x="790575" y="4691063"/>
          <p14:tracePt t="30956" x="798513" y="4691063"/>
          <p14:tracePt t="30970" x="798513" y="4683125"/>
          <p14:tracePt t="30978" x="808038" y="4683125"/>
          <p14:tracePt t="30996" x="808038" y="4673600"/>
          <p14:tracePt t="31013" x="808038" y="4665663"/>
          <p14:tracePt t="31028" x="823913" y="4665663"/>
          <p14:tracePt t="31046" x="833438" y="4657725"/>
          <p14:tracePt t="31066" x="833438" y="4648200"/>
          <p14:tracePt t="31086" x="841375" y="4648200"/>
          <p14:tracePt t="31114" x="849313" y="4648200"/>
          <p14:tracePt t="31128" x="849313" y="4640263"/>
          <p14:tracePt t="31379" x="833438" y="4640263"/>
          <p14:tracePt t="31405" x="823913" y="4648200"/>
          <p14:tracePt t="31418" x="815975" y="4657725"/>
          <p14:tracePt t="31432" x="808038" y="4657725"/>
          <p14:tracePt t="31446" x="798513" y="4673600"/>
          <p14:tracePt t="31462" x="790575" y="4683125"/>
          <p14:tracePt t="31478" x="781050" y="4691063"/>
          <p14:tracePt t="31498" x="773113" y="4699000"/>
          <p14:tracePt t="31516" x="747713" y="4708525"/>
          <p14:tracePt t="31556" x="739775" y="4716463"/>
          <p14:tracePt t="31563" x="739775" y="4724400"/>
          <p14:tracePt t="31579" x="730250" y="4724400"/>
          <p14:tracePt t="31612" x="730250" y="4733925"/>
          <p14:tracePt t="31627" x="722313" y="4741863"/>
          <p14:tracePt t="31633" x="714375" y="4741863"/>
          <p14:tracePt t="31648" x="704850" y="4749800"/>
          <p14:tracePt t="31662" x="696913" y="4759325"/>
          <p14:tracePt t="31678" x="688975" y="4767263"/>
          <p14:tracePt t="31696" x="671513" y="4775200"/>
          <p14:tracePt t="31711" x="663575" y="4792663"/>
          <p14:tracePt t="31729" x="654050" y="4810125"/>
          <p14:tracePt t="31745" x="636588" y="4810125"/>
          <p14:tracePt t="31762" x="628650" y="4827588"/>
          <p14:tracePt t="31781" x="620713" y="4835525"/>
          <p14:tracePt t="31795" x="611188" y="4843463"/>
          <p14:tracePt t="31815" x="603250" y="4852988"/>
          <p14:tracePt t="31830" x="595313" y="4860925"/>
          <p14:tracePt t="31848" x="595313" y="4868863"/>
          <p14:tracePt t="31862" x="585788" y="4878388"/>
          <p14:tracePt t="32005" x="595313" y="4878388"/>
          <p14:tracePt t="32012" x="595313" y="4868863"/>
          <p14:tracePt t="32028" x="611188" y="4860925"/>
          <p14:tracePt t="32048" x="620713" y="4852988"/>
          <p14:tracePt t="32062" x="628650" y="4843463"/>
          <p14:tracePt t="32082" x="636588" y="4835525"/>
          <p14:tracePt t="32082" x="646113" y="4827588"/>
          <p14:tracePt t="32098" x="654050" y="4818063"/>
          <p14:tracePt t="32115" x="663575" y="4802188"/>
          <p14:tracePt t="32116" x="679450" y="4792663"/>
          <p14:tracePt t="32132" x="688975" y="4784725"/>
          <p14:tracePt t="32147" x="704850" y="4759325"/>
          <p14:tracePt t="32161" x="714375" y="4749800"/>
          <p14:tracePt t="32179" x="739775" y="4733925"/>
          <p14:tracePt t="32196" x="755650" y="4716463"/>
          <p14:tracePt t="32212" x="773113" y="4699000"/>
          <p14:tracePt t="32229" x="790575" y="4691063"/>
          <p14:tracePt t="32246" x="790575" y="4683125"/>
          <p14:tracePt t="32248" x="798513" y="4683125"/>
          <p14:tracePt t="32265" x="808038" y="4665663"/>
          <p14:tracePt t="32279" x="815975" y="4657725"/>
          <p14:tracePt t="32281" x="823913" y="4648200"/>
          <p14:tracePt t="32298" x="833438" y="4640263"/>
          <p14:tracePt t="32315" x="833438" y="4630738"/>
          <p14:tracePt t="32316" x="833438" y="4622800"/>
          <p14:tracePt t="32331" x="849313" y="4614863"/>
          <p14:tracePt t="32345" x="858838" y="4597400"/>
          <p14:tracePt t="32362" x="866775" y="4579938"/>
          <p14:tracePt t="32379" x="874713" y="4554538"/>
          <p14:tracePt t="32395" x="884238" y="4538663"/>
          <p14:tracePt t="32412" x="909638" y="4503738"/>
          <p14:tracePt t="32428" x="909638" y="4495800"/>
          <p14:tracePt t="32445" x="925513" y="4470400"/>
          <p14:tracePt t="32462" x="935038" y="4435475"/>
          <p14:tracePt t="32478" x="942975" y="4427538"/>
          <p14:tracePt t="32498" x="960438" y="4402138"/>
          <p14:tracePt t="32514" x="968375" y="4384675"/>
          <p14:tracePt t="32531" x="977900" y="4368800"/>
          <p14:tracePt t="32546" x="977900" y="4351338"/>
          <p14:tracePt t="32565" x="985838" y="4316413"/>
          <p14:tracePt t="32582" x="985838" y="4300538"/>
          <p14:tracePt t="32596" x="993775" y="4283075"/>
          <p14:tracePt t="32612" x="993775" y="4265613"/>
          <p14:tracePt t="32613" x="993775" y="4249738"/>
          <p14:tracePt t="32628" x="993775" y="4224338"/>
          <p14:tracePt t="32645" x="1003300" y="4189413"/>
          <p14:tracePt t="32647" x="1011238" y="4164013"/>
          <p14:tracePt t="32662" x="1011238" y="4130675"/>
          <p14:tracePt t="32678" x="1019175" y="4087813"/>
          <p14:tracePt t="32696" x="1028700" y="4027488"/>
          <p14:tracePt t="32712" x="1028700" y="4002088"/>
          <p14:tracePt t="32728" x="1036638" y="3976688"/>
          <p14:tracePt t="32732" x="1036638" y="3951288"/>
          <p14:tracePt t="32745" x="1036638" y="3935413"/>
          <p14:tracePt t="32762" x="1036638" y="3908425"/>
          <p14:tracePt t="32781" x="1036638" y="3883025"/>
          <p14:tracePt t="32798" x="1044575" y="3857625"/>
          <p14:tracePt t="32799" x="1054100" y="3841750"/>
          <p14:tracePt t="32815" x="1054100" y="3798888"/>
          <p14:tracePt t="32832" x="1062038" y="3748088"/>
          <p14:tracePt t="32846" x="1062038" y="3705225"/>
          <p14:tracePt t="32848" x="1069975" y="3679825"/>
          <p14:tracePt t="32862" x="1079500" y="3654425"/>
          <p14:tracePt t="32878" x="1079500" y="3629025"/>
          <p14:tracePt t="32896" x="1087438" y="3578225"/>
          <p14:tracePt t="32911" x="1087438" y="3552825"/>
          <p14:tracePt t="32929" x="1087438" y="3527425"/>
          <p14:tracePt t="32945" x="1104900" y="3475038"/>
          <p14:tracePt t="32961" x="1104900" y="3449638"/>
          <p14:tracePt t="32981" x="1122363" y="3408363"/>
          <p14:tracePt t="32995" x="1122363" y="3382963"/>
          <p14:tracePt t="33015" x="1122363" y="3340100"/>
          <p14:tracePt t="33031" x="1130300" y="3297238"/>
          <p14:tracePt t="33046" x="1138238" y="3279775"/>
          <p14:tracePt t="33063" x="1147763" y="3228975"/>
          <p14:tracePt t="33078" x="1155700" y="3203575"/>
          <p14:tracePt t="33096" x="1163638" y="3170238"/>
          <p14:tracePt t="33111" x="1163638" y="3144838"/>
          <p14:tracePt t="33129" x="1163638" y="3109913"/>
          <p14:tracePt t="33145" x="1173163" y="3076575"/>
          <p14:tracePt t="33162" x="1181100" y="3059113"/>
          <p14:tracePt t="33180" x="1189038" y="3033713"/>
          <p14:tracePt t="33195" x="1198563" y="3008313"/>
          <p14:tracePt t="33213" x="1198563" y="2982913"/>
          <p14:tracePt t="33228" x="1198563" y="2974975"/>
          <p14:tracePt t="33246" x="1206500" y="2949575"/>
          <p14:tracePt t="33248" x="1206500" y="2932113"/>
          <p14:tracePt t="33262" x="1216025" y="2932113"/>
          <p14:tracePt t="33264" x="1216025" y="2922588"/>
          <p14:tracePt t="33281" x="1216025" y="2914650"/>
          <p14:tracePt t="33296" x="1216025" y="2897188"/>
          <p14:tracePt t="33315" x="1216025" y="2881313"/>
          <p14:tracePt t="33331" x="1216025" y="2871788"/>
          <p14:tracePt t="33351" x="1216025" y="2863850"/>
          <p14:tracePt t="33380" x="1216025" y="2855913"/>
          <p14:tracePt t="33450" x="1216025" y="2846388"/>
          <p14:tracePt t="35956" x="1216025" y="2863850"/>
          <p14:tracePt t="35962" x="1216025" y="2881313"/>
          <p14:tracePt t="35981" x="1216025" y="2906713"/>
          <p14:tracePt t="35997" x="1216025" y="2922588"/>
          <p14:tracePt t="35998" x="1216025" y="2940050"/>
          <p14:tracePt t="36012" x="1216025" y="2949575"/>
          <p14:tracePt t="36032" x="1216025" y="2974975"/>
          <p14:tracePt t="36049" x="1216025" y="2990850"/>
          <p14:tracePt t="36063" x="1216025" y="3000375"/>
          <p14:tracePt t="36079" x="1216025" y="3008313"/>
          <p14:tracePt t="36098" x="1216025" y="3025775"/>
          <p14:tracePt t="36116" x="1216025" y="3033713"/>
          <p14:tracePt t="36157" x="1216025" y="3041650"/>
          <p14:tracePt t="36226" x="1206500" y="3041650"/>
          <p14:tracePt t="36295" x="1206500" y="3051175"/>
          <p14:tracePt t="36329" x="1206500" y="3059113"/>
          <p14:tracePt t="36387" x="1206500" y="3067050"/>
          <p14:tracePt t="36405" x="1206500" y="3076575"/>
          <p14:tracePt t="36440" x="1206500" y="3084513"/>
          <p14:tracePt t="36452" x="1198563" y="3084513"/>
          <p14:tracePt t="45569" x="1198563" y="3144838"/>
          <p14:tracePt t="45574" x="1198563" y="3271838"/>
          <p14:tracePt t="45582" x="1206500" y="3398838"/>
          <p14:tracePt t="45598" x="1257300" y="3619500"/>
          <p14:tracePt t="45611" x="1292225" y="3790950"/>
          <p14:tracePt t="45628" x="1308100" y="3925888"/>
          <p14:tracePt t="45645" x="1343025" y="4079875"/>
          <p14:tracePt t="45662" x="1350963" y="4156075"/>
          <p14:tracePt t="45664" x="1360488" y="4181475"/>
          <p14:tracePt t="45679" x="1360488" y="4224338"/>
          <p14:tracePt t="45695" x="1360488" y="4257675"/>
          <p14:tracePt t="45713" x="1360488" y="4316413"/>
          <p14:tracePt t="45728" x="1360488" y="4333875"/>
          <p14:tracePt t="45745" x="1360488" y="4368800"/>
          <p14:tracePt t="45763" x="1360488" y="4394200"/>
          <p14:tracePt t="45780" x="1360488" y="4427538"/>
          <p14:tracePt t="45782" x="1360488" y="4445000"/>
          <p14:tracePt t="45798" x="1350963" y="4478338"/>
          <p14:tracePt t="45813" x="1325563" y="4513263"/>
          <p14:tracePt t="45828" x="1325563" y="4546600"/>
          <p14:tracePt t="45845" x="1282700" y="4622800"/>
          <p14:tracePt t="45862" x="1257300" y="4657725"/>
          <p14:tracePt t="45879" x="1223963" y="4724400"/>
          <p14:tracePt t="45895" x="1223963" y="4741863"/>
          <p14:tracePt t="45912" x="1189038" y="4767263"/>
          <p14:tracePt t="45912" x="1189038" y="4775200"/>
          <p14:tracePt t="45928" x="1163638" y="4802188"/>
          <p14:tracePt t="45945" x="1138238" y="4818063"/>
          <p14:tracePt t="45962" x="1104900" y="4835525"/>
          <p14:tracePt t="45979" x="1069975" y="4852988"/>
          <p14:tracePt t="45998" x="1011238" y="4886325"/>
          <p14:tracePt t="46012" x="977900" y="4886325"/>
          <p14:tracePt t="46031" x="917575" y="4903788"/>
          <p14:tracePt t="46046" x="884238" y="4903788"/>
          <p14:tracePt t="46063" x="841375" y="4911725"/>
          <p14:tracePt t="46080" x="790575" y="4929188"/>
          <p14:tracePt t="46095" x="765175" y="4929188"/>
          <p14:tracePt t="46113" x="722313" y="4946650"/>
          <p14:tracePt t="46128" x="714375" y="4946650"/>
          <p14:tracePt t="46145" x="688975" y="4954588"/>
          <p14:tracePt t="46162" x="671513" y="4954588"/>
          <p14:tracePt t="46178" x="663575" y="4954588"/>
          <p14:tracePt t="46195" x="646113" y="4954588"/>
          <p14:tracePt t="46212" x="636588" y="4954588"/>
          <p14:tracePt t="46228" x="628650" y="4954588"/>
          <p14:tracePt t="46246" x="620713" y="4954588"/>
          <p14:tracePt t="46333" x="628650" y="4954588"/>
          <p14:tracePt t="46375" x="636588" y="4954588"/>
          <p14:tracePt t="46382" x="636588" y="4946650"/>
          <p14:tracePt t="46395" x="646113" y="4937125"/>
          <p14:tracePt t="46412" x="663575" y="4929188"/>
          <p14:tracePt t="46429" x="679450" y="4903788"/>
          <p14:tracePt t="46445" x="722313" y="4886325"/>
          <p14:tracePt t="46461" x="755650" y="4852988"/>
          <p14:tracePt t="46479" x="790575" y="4827588"/>
          <p14:tracePt t="46495" x="808038" y="4818063"/>
          <p14:tracePt t="46514" x="833438" y="4792663"/>
          <p14:tracePt t="46531" x="833438" y="4784725"/>
          <p14:tracePt t="46546" x="849313" y="4759325"/>
          <p14:tracePt t="46562" x="858838" y="4741863"/>
          <p14:tracePt t="46578" x="866775" y="4733925"/>
          <p14:tracePt t="46595" x="874713" y="4716463"/>
          <p14:tracePt t="46612" x="892175" y="4673600"/>
          <p14:tracePt t="46628" x="900113" y="4657725"/>
          <p14:tracePt t="46645" x="909638" y="4614863"/>
          <p14:tracePt t="46662" x="925513" y="4597400"/>
          <p14:tracePt t="46679" x="935038" y="4579938"/>
          <p14:tracePt t="46679" x="942975" y="4564063"/>
          <p14:tracePt t="46695" x="942975" y="4546600"/>
          <p14:tracePt t="46712" x="952500" y="4529138"/>
          <p14:tracePt t="46714" x="960438" y="4503738"/>
          <p14:tracePt t="46728" x="960438" y="4486275"/>
          <p14:tracePt t="46745" x="977900" y="4460875"/>
          <p14:tracePt t="46765" x="985838" y="4410075"/>
          <p14:tracePt t="46779" x="1003300" y="4376738"/>
          <p14:tracePt t="46797" x="1019175" y="4325938"/>
          <p14:tracePt t="46812" x="1028700" y="4308475"/>
          <p14:tracePt t="46834" x="1028700" y="4275138"/>
          <p14:tracePt t="46845" x="1036638" y="4257675"/>
          <p14:tracePt t="46863" x="1044575" y="4240213"/>
          <p14:tracePt t="46880" x="1054100" y="4197350"/>
          <p14:tracePt t="46895" x="1069975" y="4164013"/>
          <p14:tracePt t="46912" x="1087438" y="4138613"/>
          <p14:tracePt t="46914" x="1096963" y="4113213"/>
          <p14:tracePt t="46928" x="1096963" y="4087813"/>
          <p14:tracePt t="46945" x="1112838" y="4062413"/>
          <p14:tracePt t="46963" x="1130300" y="4011613"/>
          <p14:tracePt t="46978" x="1147763" y="3951288"/>
          <p14:tracePt t="46995" x="1155700" y="3908425"/>
          <p14:tracePt t="46996" x="1163638" y="3883025"/>
          <p14:tracePt t="47012" x="1181100" y="3824288"/>
          <p14:tracePt t="47028" x="1198563" y="3756025"/>
          <p14:tracePt t="47030" x="1206500" y="3713163"/>
          <p14:tracePt t="47045" x="1223963" y="3636963"/>
          <p14:tracePt t="47061" x="1266825" y="3509963"/>
          <p14:tracePt t="47078" x="1292225" y="3416300"/>
          <p14:tracePt t="47079" x="1308100" y="3355975"/>
          <p14:tracePt t="47095" x="1325563" y="3271838"/>
          <p14:tracePt t="47112" x="1360488" y="3195638"/>
          <p14:tracePt t="47128" x="1385888" y="3084513"/>
          <p14:tracePt t="47145" x="1401763" y="3033713"/>
          <p14:tracePt t="47162" x="1419225" y="2965450"/>
          <p14:tracePt t="47178" x="1427163" y="2922588"/>
          <p14:tracePt t="47195" x="1436688" y="2889250"/>
          <p14:tracePt t="47211" x="1436688" y="2838450"/>
          <p14:tracePt t="47228" x="1444625" y="2795588"/>
          <p14:tracePt t="47248" x="1452563" y="2752725"/>
          <p14:tracePt t="47262" x="1462088" y="2736850"/>
          <p14:tracePt t="47281" x="1462088" y="2686050"/>
          <p14:tracePt t="48343" x="1462088" y="2693988"/>
          <p14:tracePt t="48351" x="1452563" y="2719388"/>
          <p14:tracePt t="48361" x="1452563" y="2736850"/>
          <p14:tracePt t="48378" x="1427163" y="2820988"/>
          <p14:tracePt t="48395" x="1401763" y="2881313"/>
          <p14:tracePt t="48412" x="1385888" y="2932113"/>
          <p14:tracePt t="48428" x="1385888" y="2940050"/>
          <p14:tracePt t="48445" x="1385888" y="2957513"/>
          <p14:tracePt t="48462" x="1385888" y="2965450"/>
          <p14:tracePt t="48478" x="1385888" y="2974975"/>
          <p14:tracePt t="48530" x="1385888" y="2957513"/>
          <p14:tracePt t="48536" x="1385888" y="2949575"/>
          <p14:tracePt t="48548" x="1385888" y="2922588"/>
          <p14:tracePt t="48565" x="1393825" y="2889250"/>
          <p14:tracePt t="48566" x="1393825" y="2855913"/>
          <p14:tracePt t="48580" x="1411288" y="2813050"/>
          <p14:tracePt t="49878" x="1411288" y="2846388"/>
          <p14:tracePt t="49885" x="1401763" y="2881313"/>
          <p14:tracePt t="49895" x="1393825" y="2914650"/>
          <p14:tracePt t="49912" x="1393825" y="2957513"/>
          <p14:tracePt t="49928" x="1376363" y="3025775"/>
          <p14:tracePt t="49945" x="1376363" y="3051175"/>
          <p14:tracePt t="49946" x="1376363" y="3067050"/>
          <p14:tracePt t="49962" x="1360488" y="3109913"/>
          <p14:tracePt t="49978" x="1360488" y="3135313"/>
          <p14:tracePt t="49982" x="1360488" y="3144838"/>
          <p14:tracePt t="49999" x="1350963" y="3170238"/>
          <p14:tracePt t="50012" x="1343025" y="3178175"/>
          <p14:tracePt t="50031" x="1343025" y="3195638"/>
          <p14:tracePt t="50045" x="1333500" y="3211513"/>
          <p14:tracePt t="50062" x="1325563" y="3211513"/>
          <p14:tracePt t="50079" x="1325563" y="3228975"/>
          <p14:tracePt t="50098" x="1325563" y="3238500"/>
          <p14:tracePt t="50206" x="1325563" y="3228975"/>
          <p14:tracePt t="50216" x="1325563" y="3221038"/>
          <p14:tracePt t="50231" x="1325563" y="3211513"/>
          <p14:tracePt t="50248" x="1325563" y="3186113"/>
          <p14:tracePt t="50263" x="1325563" y="3160713"/>
          <p14:tracePt t="50264" x="1325563" y="3152775"/>
          <p14:tracePt t="50279" x="1333500" y="3119438"/>
          <p14:tracePt t="50296" x="1350963" y="3094038"/>
          <p14:tracePt t="50315" x="1350963" y="3067050"/>
          <p14:tracePt t="50331" x="1360488" y="3041650"/>
          <p14:tracePt t="50345" x="1368425" y="3033713"/>
          <p14:tracePt t="50361" x="1376363" y="3008313"/>
          <p14:tracePt t="50378" x="1376363" y="2990850"/>
          <p14:tracePt t="50395" x="1385888" y="2965450"/>
          <p14:tracePt t="50411" x="1385888" y="2957513"/>
          <p14:tracePt t="50428" x="1385888" y="2940050"/>
          <p14:tracePt t="50429" x="1385888" y="2932113"/>
          <p14:tracePt t="50445" x="1385888" y="2914650"/>
          <p14:tracePt t="50462" x="1385888" y="2889250"/>
          <p14:tracePt t="50478" x="1385888" y="2855913"/>
          <p14:tracePt t="50498" x="1385888" y="2846388"/>
          <p14:tracePt t="50515" x="1385888" y="2813050"/>
          <p14:tracePt t="50531" x="1385888" y="2805113"/>
          <p14:tracePt t="50545" x="1385888" y="2787650"/>
          <p14:tracePt t="50548" x="1385888" y="2778125"/>
          <p14:tracePt t="50562" x="1385888" y="2770188"/>
          <p14:tracePt t="50579" x="1385888" y="2762250"/>
          <p14:tracePt t="50596" x="1385888" y="2752725"/>
          <p14:tracePt t="50611" x="1385888" y="2736850"/>
          <p14:tracePt t="50630" x="1385888" y="2727325"/>
          <p14:tracePt t="50644" x="1385888" y="2711450"/>
          <p14:tracePt t="50664" x="1385888" y="2701925"/>
          <p14:tracePt t="50678" x="1385888" y="2693988"/>
          <p14:tracePt t="50695" x="1385888" y="2686050"/>
          <p14:tracePt t="50712" x="1385888" y="2676525"/>
          <p14:tracePt t="50740" x="1385888" y="2668588"/>
          <p14:tracePt t="50761" x="1385888" y="2660650"/>
          <p14:tracePt t="50775" x="1385888" y="2651125"/>
          <p14:tracePt t="51732" x="1385888" y="2643188"/>
          <p14:tracePt t="51767" x="1385888" y="2633663"/>
          <p14:tracePt t="51794" x="1385888" y="2625725"/>
          <p14:tracePt t="51815" x="1385888" y="2617788"/>
          <p14:tracePt t="51830" x="1385888" y="2608263"/>
          <p14:tracePt t="52219" x="1393825" y="2608263"/>
          <p14:tracePt t="52257" x="1401763" y="2608263"/>
          <p14:tracePt t="52264" x="1401763" y="2617788"/>
          <p14:tracePt t="52279" x="1401763" y="2625725"/>
          <p14:tracePt t="52295" x="1411288" y="2625725"/>
          <p14:tracePt t="52312" x="1419225" y="2625725"/>
          <p14:tracePt t="52332" x="1419225" y="2633663"/>
          <p14:tracePt t="52347" x="1427163" y="2633663"/>
          <p14:tracePt t="52363" x="1436688" y="2643188"/>
          <p14:tracePt t="52380" x="1436688" y="2651125"/>
          <p14:tracePt t="52397" x="1452563" y="2668588"/>
          <p14:tracePt t="52415" x="1462088" y="2668588"/>
          <p14:tracePt t="52430" x="1462088" y="2686050"/>
          <p14:tracePt t="52445" x="1477963" y="2686050"/>
          <p14:tracePt t="52461" x="1477963" y="2701925"/>
          <p14:tracePt t="52478" x="1487488" y="2711450"/>
          <p14:tracePt t="52499" x="1504950" y="2711450"/>
          <p14:tracePt t="52515" x="1512888" y="2719388"/>
          <p14:tracePt t="52533" x="1520825" y="2727325"/>
          <p14:tracePt t="52545" x="1520825" y="2736850"/>
          <p14:tracePt t="52564" x="1530350" y="2736850"/>
          <p14:tracePt t="52581" x="1538288" y="2744788"/>
          <p14:tracePt t="52609" x="1546225" y="2752725"/>
          <p14:tracePt t="52636" x="1546225" y="2762250"/>
          <p14:tracePt t="52650" x="1555750" y="2762250"/>
          <p14:tracePt t="52664" x="1555750" y="2770188"/>
          <p14:tracePt t="52678" x="1563688" y="2778125"/>
          <p14:tracePt t="52687" x="1571625" y="2778125"/>
          <p14:tracePt t="52713" x="1571625" y="2787650"/>
          <p14:tracePt t="52718" x="1571625" y="2795588"/>
          <p14:tracePt t="52728" x="1581150" y="2795588"/>
          <p14:tracePt t="52749" x="1589088" y="2805113"/>
          <p14:tracePt t="52763" x="1597025" y="2820988"/>
          <p14:tracePt t="52782" x="1614488" y="2838450"/>
          <p14:tracePt t="52802" x="1622425" y="2846388"/>
          <p14:tracePt t="52815" x="1631950" y="2855913"/>
          <p14:tracePt t="52830" x="1631950" y="2863850"/>
          <p14:tracePt t="52846" x="1649413" y="2871788"/>
          <p14:tracePt t="52862" x="1657350" y="2889250"/>
          <p14:tracePt t="52880" x="1674813" y="2897188"/>
          <p14:tracePt t="52896" x="1674813" y="2914650"/>
          <p14:tracePt t="52913" x="1682750" y="2914650"/>
          <p14:tracePt t="52928" x="1682750" y="2932113"/>
          <p14:tracePt t="52933" x="1690688" y="2932113"/>
          <p14:tracePt t="52945" x="1690688" y="2940050"/>
          <p14:tracePt t="52962" x="1700213" y="2957513"/>
          <p14:tracePt t="52978" x="1708150" y="2957513"/>
          <p14:tracePt t="52996" x="1716088" y="2974975"/>
          <p14:tracePt t="53013" x="1725613" y="2982913"/>
          <p14:tracePt t="53028" x="1733550" y="3000375"/>
          <p14:tracePt t="53045" x="1741488" y="3016250"/>
          <p14:tracePt t="53062" x="1758950" y="3025775"/>
          <p14:tracePt t="53064" x="1766888" y="3041650"/>
          <p14:tracePt t="53082" x="1776413" y="3051175"/>
          <p14:tracePt t="53095" x="1793875" y="3067050"/>
          <p14:tracePt t="53115" x="1809750" y="3084513"/>
          <p14:tracePt t="53129" x="1827213" y="3101975"/>
          <p14:tracePt t="53145" x="1844675" y="3101975"/>
          <p14:tracePt t="53162" x="1878013" y="3135313"/>
          <p14:tracePt t="53183" x="1903413" y="3152775"/>
          <p14:tracePt t="53196" x="1911350" y="3160713"/>
          <p14:tracePt t="53212" x="1928813" y="3178175"/>
          <p14:tracePt t="53228" x="1938338" y="3195638"/>
          <p14:tracePt t="53232" x="1954213" y="3195638"/>
          <p14:tracePt t="53245" x="1963738" y="3203575"/>
          <p14:tracePt t="53263" x="1971675" y="3211513"/>
          <p14:tracePt t="53282" x="2005013" y="3238500"/>
          <p14:tracePt t="53296" x="2005013" y="3246438"/>
          <p14:tracePt t="53315" x="2030413" y="3263900"/>
          <p14:tracePt t="53329" x="2047875" y="3263900"/>
          <p14:tracePt t="53348" x="2065338" y="3279775"/>
          <p14:tracePt t="53364" x="2082800" y="3289300"/>
          <p14:tracePt t="53380" x="2098675" y="3297238"/>
          <p14:tracePt t="53397" x="2124075" y="3314700"/>
          <p14:tracePt t="53415" x="2133600" y="3322638"/>
          <p14:tracePt t="53416" x="2141538" y="3330575"/>
          <p14:tracePt t="53429" x="2159000" y="3330575"/>
          <p14:tracePt t="53430" x="2166938" y="3340100"/>
          <p14:tracePt t="53445" x="2192338" y="3355975"/>
          <p14:tracePt t="53462" x="2217738" y="3373438"/>
          <p14:tracePt t="53480" x="2260600" y="3390900"/>
          <p14:tracePt t="53495" x="2303463" y="3408363"/>
          <p14:tracePt t="53513" x="2328863" y="3433763"/>
          <p14:tracePt t="53515" x="2344738" y="3441700"/>
          <p14:tracePt t="53529" x="2371725" y="3459163"/>
          <p14:tracePt t="53545" x="2413000" y="3484563"/>
          <p14:tracePt t="53562" x="2455863" y="3509963"/>
          <p14:tracePt t="53579" x="2489200" y="3527425"/>
          <p14:tracePt t="53582" x="2498725" y="3535363"/>
          <p14:tracePt t="53598" x="2532063" y="3560763"/>
          <p14:tracePt t="53612" x="2574925" y="3578225"/>
          <p14:tracePt t="53632" x="2608263" y="3586163"/>
          <p14:tracePt t="53646" x="2633663" y="3594100"/>
          <p14:tracePt t="53662" x="2676525" y="3603625"/>
          <p14:tracePt t="53679" x="2719388" y="3619500"/>
          <p14:tracePt t="53695" x="2752725" y="3629025"/>
          <p14:tracePt t="53712" x="2787650" y="3646488"/>
          <p14:tracePt t="53714" x="2795588" y="3646488"/>
          <p14:tracePt t="53728" x="2820988" y="3654425"/>
          <p14:tracePt t="53749" x="2855913" y="3671888"/>
          <p14:tracePt t="53763" x="2863850" y="3679825"/>
          <p14:tracePt t="53778" x="2881313" y="3679825"/>
          <p14:tracePt t="53797" x="2881313" y="3687763"/>
          <p14:tracePt t="78445" x="2897188" y="3697288"/>
          <p14:tracePt t="78454" x="2922588" y="3748088"/>
          <p14:tracePt t="78461" x="2957513" y="3806825"/>
          <p14:tracePt t="78479" x="3033713" y="3935413"/>
          <p14:tracePt t="78495" x="3051175" y="3968750"/>
          <p14:tracePt t="78513" x="3076575" y="4011613"/>
          <p14:tracePt t="78531" x="3076575" y="4027488"/>
          <p14:tracePt t="78546" x="3084513" y="4027488"/>
          <p14:tracePt t="78547" x="3084513" y="4037013"/>
          <p14:tracePt t="78562" x="3084513" y="4052888"/>
          <p14:tracePt t="78582" x="3094038" y="4052888"/>
          <p14:tracePt t="78598" x="3101975" y="4062413"/>
          <p14:tracePt t="78651" x="3109913" y="4062413"/>
          <p14:tracePt t="78695" x="3119438" y="4062413"/>
          <p14:tracePt t="78707" x="3127375" y="4062413"/>
          <p14:tracePt t="78727" x="3135313" y="4062413"/>
          <p14:tracePt t="78740" x="3152775" y="4062413"/>
          <p14:tracePt t="78761" x="3170238" y="4062413"/>
          <p14:tracePt t="78768" x="3178175" y="4062413"/>
          <p14:tracePt t="78782" x="3186113" y="4062413"/>
          <p14:tracePt t="78798" x="3195638" y="4062413"/>
          <p14:tracePt t="78814" x="3203575" y="4062413"/>
          <p14:tracePt t="78829" x="3211513" y="4062413"/>
          <p14:tracePt t="78845" x="3221038" y="4062413"/>
          <p14:tracePt t="89209" x="3160713" y="4062413"/>
          <p14:tracePt t="89215" x="3076575" y="4079875"/>
          <p14:tracePt t="89230" x="2906713" y="4105275"/>
          <p14:tracePt t="89246" x="2752725" y="4138613"/>
          <p14:tracePt t="89262" x="2582863" y="4164013"/>
          <p14:tracePt t="89278" x="2362200" y="4189413"/>
          <p14:tracePt t="89295" x="2243138" y="4224338"/>
          <p14:tracePt t="89313" x="2108200" y="4283075"/>
          <p14:tracePt t="89328" x="2030413" y="4308475"/>
          <p14:tracePt t="89345" x="1920875" y="4368800"/>
          <p14:tracePt t="89346" x="1870075" y="4376738"/>
          <p14:tracePt t="89362" x="1801813" y="4410075"/>
          <p14:tracePt t="89379" x="1733550" y="4435475"/>
          <p14:tracePt t="89381" x="1682750" y="4460875"/>
          <p14:tracePt t="89395" x="1520825" y="4486275"/>
          <p14:tracePt t="89411" x="1393825" y="4513263"/>
          <p14:tracePt t="89429" x="1223963" y="4529138"/>
          <p14:tracePt t="89445" x="1138238" y="4546600"/>
          <p14:tracePt t="89462" x="1062038" y="4554538"/>
          <p14:tracePt t="89465" x="1028700" y="4564063"/>
          <p14:tracePt t="89478" x="977900" y="4579938"/>
          <p14:tracePt t="89495" x="925513" y="4589463"/>
          <p14:tracePt t="89512" x="849313" y="4622800"/>
          <p14:tracePt t="89528" x="790575" y="4657725"/>
          <p14:tracePt t="89545" x="722313" y="4683125"/>
          <p14:tracePt t="89562" x="628650" y="4724400"/>
          <p14:tracePt t="89579" x="585788" y="4749800"/>
          <p14:tracePt t="89596" x="501650" y="4767263"/>
          <p14:tracePt t="89614" x="476250" y="4767263"/>
          <p14:tracePt t="89631" x="441325" y="4767263"/>
          <p14:tracePt t="89895" x="433388" y="4767263"/>
          <p14:tracePt t="89915" x="425450" y="4767263"/>
          <p14:tracePt t="89921" x="415925" y="4767263"/>
          <p14:tracePt t="89957" x="407988" y="4767263"/>
          <p14:tracePt t="89983" x="400050" y="4767263"/>
          <p14:tracePt t="89990" x="390525" y="4767263"/>
          <p14:tracePt t="90109" x="400050" y="4767263"/>
          <p14:tracePt t="90122" x="407988" y="4767263"/>
          <p14:tracePt t="90142" x="415925" y="4767263"/>
          <p14:tracePt t="90149" x="425450" y="4767263"/>
          <p14:tracePt t="90162" x="433388" y="4767263"/>
          <p14:tracePt t="90180" x="450850" y="4767263"/>
          <p14:tracePt t="90195" x="466725" y="4767263"/>
          <p14:tracePt t="90212" x="484188" y="4767263"/>
          <p14:tracePt t="90228" x="492125" y="4759325"/>
          <p14:tracePt t="90247" x="509588" y="4759325"/>
          <p14:tracePt t="90266" x="519113" y="4759325"/>
          <p14:tracePt t="90282" x="527050" y="4759325"/>
          <p14:tracePt t="90295" x="534988" y="4759325"/>
          <p14:tracePt t="90321" x="544513" y="4759325"/>
          <p14:tracePt t="90335" x="552450" y="4759325"/>
          <p14:tracePt t="90363" x="552450" y="4749800"/>
          <p14:tracePt t="94725" x="560388" y="4749800"/>
          <p14:tracePt t="94734" x="569913" y="4749800"/>
          <p14:tracePt t="94745" x="577850" y="4749800"/>
          <p14:tracePt t="94762" x="595313" y="4749800"/>
          <p14:tracePt t="94781" x="620713" y="4733925"/>
          <p14:tracePt t="94796" x="646113" y="4716463"/>
          <p14:tracePt t="94812" x="679450" y="4683125"/>
          <p14:tracePt t="94814" x="688975" y="4657725"/>
          <p14:tracePt t="94828" x="747713" y="4579938"/>
          <p14:tracePt t="94845" x="892175" y="4359275"/>
          <p14:tracePt t="94863" x="1044575" y="4095750"/>
          <p14:tracePt t="94879" x="1163638" y="3917950"/>
          <p14:tracePt t="94895" x="1216025" y="3816350"/>
          <p14:tracePt t="94896" x="1249363" y="3763963"/>
          <p14:tracePt t="94912" x="1292225" y="3697288"/>
          <p14:tracePt t="94929" x="1325563" y="3636963"/>
          <p14:tracePt t="94944" x="1343025" y="3603625"/>
          <p14:tracePt t="94945" x="1350963" y="3578225"/>
          <p14:tracePt t="94961" x="1368425" y="3517900"/>
          <p14:tracePt t="94981" x="1376363" y="3449638"/>
          <p14:tracePt t="94995" x="1376363" y="3424238"/>
          <p14:tracePt t="95012" x="1376363" y="3398838"/>
          <p14:tracePt t="95012" x="1376363" y="3382963"/>
          <p14:tracePt t="95028" x="1376363" y="3348038"/>
          <p14:tracePt t="95045" x="1376363" y="3314700"/>
          <p14:tracePt t="95063" x="1360488" y="3228975"/>
          <p14:tracePt t="95078" x="1350963" y="3170238"/>
          <p14:tracePt t="95095" x="1343025" y="3127375"/>
          <p14:tracePt t="95097" x="1343025" y="3119438"/>
          <p14:tracePt t="95111" x="1343025" y="3094038"/>
          <p14:tracePt t="95128" x="1343025" y="3067050"/>
          <p14:tracePt t="95146" x="1343025" y="3059113"/>
          <p14:tracePt t="95162" x="1343025" y="3051175"/>
          <p14:tracePt t="95187" x="1343025" y="3067050"/>
          <p14:tracePt t="95195" x="1333500" y="3067050"/>
          <p14:tracePt t="95212" x="1241425" y="3459163"/>
          <p14:tracePt t="95229" x="968375" y="4622800"/>
          <p14:tracePt t="95246" x="900113" y="4929188"/>
          <p14:tracePt t="95263" x="841375" y="5302250"/>
          <p14:tracePt t="95278" x="808038" y="5507038"/>
          <p14:tracePt t="95295" x="798513" y="5549900"/>
          <p14:tracePt t="95312" x="790575" y="5583238"/>
          <p14:tracePt t="95331" x="781050" y="5583238"/>
          <p14:tracePt t="95428" x="781050" y="5575300"/>
          <p14:tracePt t="95436" x="781050" y="5565775"/>
          <p14:tracePt t="95445" x="781050" y="5549900"/>
          <p14:tracePt t="95466" x="1028700" y="4622800"/>
          <p14:tracePt t="95478" x="1317625" y="3824288"/>
          <p14:tracePt t="95495" x="1462088" y="3433763"/>
          <p14:tracePt t="95496" x="1538288" y="3195638"/>
          <p14:tracePt t="95512" x="1639888" y="2957513"/>
          <p14:tracePt t="95528" x="1690688" y="2762250"/>
          <p14:tracePt t="95546" x="1733550" y="2582863"/>
          <p14:tracePt t="95562" x="1733550" y="2532063"/>
          <p14:tracePt t="95579" x="1725613" y="2524125"/>
          <p14:tracePt t="95580" x="1725613" y="2516188"/>
          <p14:tracePt t="95622" x="1716088" y="2516188"/>
          <p14:tracePt t="95649" x="1708150" y="2516188"/>
          <p14:tracePt t="95698" x="1700213" y="2516188"/>
          <p14:tracePt t="96290" x="1639888" y="2727325"/>
          <p14:tracePt t="96297" x="1589088" y="2932113"/>
          <p14:tracePt t="96312" x="1530350" y="3119438"/>
          <p14:tracePt t="96332" x="1452563" y="3330575"/>
          <p14:tracePt t="96346" x="1411288" y="3433763"/>
          <p14:tracePt t="96365" x="1343025" y="3543300"/>
          <p14:tracePt t="96366" x="1317625" y="3594100"/>
          <p14:tracePt t="96381" x="1257300" y="3705225"/>
          <p14:tracePt t="96395" x="1189038" y="3832225"/>
          <p14:tracePt t="96412" x="1138238" y="3951288"/>
          <p14:tracePt t="96429" x="1062038" y="4087813"/>
          <p14:tracePt t="96445" x="1044575" y="4113213"/>
          <p14:tracePt t="96467" x="1019175" y="4146550"/>
          <p14:tracePt t="96479" x="1011238" y="4171950"/>
          <p14:tracePt t="96496" x="985838" y="4197350"/>
          <p14:tracePt t="96514" x="977900" y="4206875"/>
          <p14:tracePt t="96529" x="968375" y="4232275"/>
          <p14:tracePt t="96531" x="952500" y="4240213"/>
          <p14:tracePt t="96547" x="952500" y="4257675"/>
          <p14:tracePt t="96562" x="925513" y="4275138"/>
          <p14:tracePt t="96582" x="892175" y="4308475"/>
          <p14:tracePt t="96595" x="874713" y="4333875"/>
          <p14:tracePt t="96613" x="841375" y="4359275"/>
          <p14:tracePt t="96614" x="815975" y="4384675"/>
          <p14:tracePt t="96629" x="781050" y="4410075"/>
          <p14:tracePt t="96645" x="739775" y="4452938"/>
          <p14:tracePt t="96662" x="688975" y="4486275"/>
          <p14:tracePt t="96678" x="654050" y="4513263"/>
          <p14:tracePt t="96696" x="620713" y="4546600"/>
          <p14:tracePt t="96712" x="595313" y="4564063"/>
          <p14:tracePt t="96728" x="569913" y="4589463"/>
          <p14:tracePt t="96732" x="560388" y="4597400"/>
          <p14:tracePt t="96746" x="544513" y="4614863"/>
          <p14:tracePt t="96762" x="519113" y="4640263"/>
          <p14:tracePt t="96779" x="492125" y="4665663"/>
          <p14:tracePt t="96797" x="484188" y="4691063"/>
          <p14:tracePt t="96815" x="458788" y="4716463"/>
          <p14:tracePt t="96829" x="450850" y="4724400"/>
          <p14:tracePt t="96849" x="433388" y="4749800"/>
          <p14:tracePt t="96864" x="425450" y="4767263"/>
          <p14:tracePt t="96879" x="415925" y="4767263"/>
          <p14:tracePt t="96898" x="407988" y="4792663"/>
          <p14:tracePt t="96911" x="400050" y="4802188"/>
          <p14:tracePt t="96928" x="390525" y="4818063"/>
          <p14:tracePt t="96945" x="382588" y="4827588"/>
          <p14:tracePt t="96961" x="382588" y="4835525"/>
          <p14:tracePt t="96993" x="382588" y="4843463"/>
          <p14:tracePt t="97118" x="390525" y="4843463"/>
          <p14:tracePt t="97145" x="400050" y="4843463"/>
          <p14:tracePt t="97159" x="407988" y="4843463"/>
          <p14:tracePt t="97180" x="415925" y="4843463"/>
          <p14:tracePt t="97199" x="425450" y="4835525"/>
          <p14:tracePt t="97220" x="433388" y="4835525"/>
          <p14:tracePt t="97228" x="441325" y="4827588"/>
          <p14:tracePt t="97248" x="450850" y="4827588"/>
          <p14:tracePt t="97261" x="458788" y="4827588"/>
          <p14:tracePt t="97269" x="466725" y="4827588"/>
          <p14:tracePt t="97282" x="466725" y="4818063"/>
          <p14:tracePt t="97295" x="476250" y="4818063"/>
          <p14:tracePt t="97311" x="492125" y="4810125"/>
          <p14:tracePt t="97328" x="509588" y="4802188"/>
          <p14:tracePt t="97346" x="519113" y="4802188"/>
          <p14:tracePt t="97362" x="527050" y="4792663"/>
          <p14:tracePt t="97379" x="544513" y="4784725"/>
          <p14:tracePt t="97395" x="552450" y="4784725"/>
          <p14:tracePt t="97412" x="560388" y="4767263"/>
          <p14:tracePt t="97428" x="577850" y="4759325"/>
          <p14:tracePt t="97445" x="577850" y="4749800"/>
          <p14:tracePt t="97462" x="595313" y="4733925"/>
          <p14:tracePt t="97478" x="603250" y="4724400"/>
          <p14:tracePt t="97497" x="620713" y="4716463"/>
          <p14:tracePt t="97512" x="628650" y="4699000"/>
          <p14:tracePt t="97532" x="646113" y="4691063"/>
          <p14:tracePt t="97533" x="654050" y="4683125"/>
          <p14:tracePt t="97546" x="671513" y="4665663"/>
          <p14:tracePt t="97562" x="679450" y="4657725"/>
          <p14:tracePt t="97579" x="696913" y="4640263"/>
          <p14:tracePt t="97595" x="714375" y="4630738"/>
          <p14:tracePt t="97612" x="714375" y="4622800"/>
          <p14:tracePt t="97629" x="730250" y="4605338"/>
          <p14:tracePt t="97645" x="739775" y="4597400"/>
          <p14:tracePt t="97662" x="747713" y="4597400"/>
          <p14:tracePt t="97663" x="755650" y="4589463"/>
          <p14:tracePt t="97678" x="755650" y="4579938"/>
          <p14:tracePt t="97695" x="765175" y="4572000"/>
          <p14:tracePt t="97712" x="781050" y="4554538"/>
          <p14:tracePt t="97729" x="790575" y="4546600"/>
          <p14:tracePt t="97733" x="798513" y="4538663"/>
          <p14:tracePt t="97746" x="808038" y="4521200"/>
          <p14:tracePt t="97762" x="815975" y="4513263"/>
          <p14:tracePt t="97778" x="833438" y="4495800"/>
          <p14:tracePt t="97795" x="849313" y="4478338"/>
          <p14:tracePt t="97812" x="858838" y="4460875"/>
          <p14:tracePt t="97830" x="884238" y="4427538"/>
          <p14:tracePt t="97845" x="900113" y="4402138"/>
          <p14:tracePt t="97862" x="909638" y="4384675"/>
          <p14:tracePt t="97863" x="925513" y="4376738"/>
          <p14:tracePt t="97878" x="952500" y="4333875"/>
          <p14:tracePt t="97895" x="968375" y="4300538"/>
          <p14:tracePt t="97912" x="993775" y="4249738"/>
          <p14:tracePt t="97913" x="1011238" y="4214813"/>
          <p14:tracePt t="97929" x="1044575" y="4164013"/>
          <p14:tracePt t="97946" x="1096963" y="4079875"/>
          <p14:tracePt t="97962" x="1130300" y="4019550"/>
          <p14:tracePt t="97979" x="1147763" y="3960813"/>
          <p14:tracePt t="97980" x="1163638" y="3925888"/>
          <p14:tracePt t="97996" x="1189038" y="3883025"/>
          <p14:tracePt t="98012" x="1216025" y="3824288"/>
          <p14:tracePt t="98030" x="1241425" y="3763963"/>
          <p14:tracePt t="98048" x="1257300" y="3730625"/>
          <p14:tracePt t="98065" x="1266825" y="3671888"/>
          <p14:tracePt t="98078" x="1266825" y="3629025"/>
          <p14:tracePt t="98095" x="1266825" y="3560763"/>
          <p14:tracePt t="98112" x="1266825" y="3408363"/>
          <p14:tracePt t="98128" x="1266825" y="3322638"/>
          <p14:tracePt t="98148" x="1266825" y="3211513"/>
          <p14:tracePt t="98163" x="1266825" y="3160713"/>
          <p14:tracePt t="98178" x="1266825" y="3101975"/>
          <p14:tracePt t="98197" x="1282700" y="2974975"/>
          <p14:tracePt t="98212" x="1317625" y="2778125"/>
          <p14:tracePt t="104655" x="1308100" y="2778125"/>
          <p14:tracePt t="104662" x="1300163" y="2770188"/>
          <p14:tracePt t="104678" x="1257300" y="2762250"/>
          <p14:tracePt t="104695" x="1181100" y="2736850"/>
          <p14:tracePt t="104696" x="1130300" y="2701925"/>
          <p14:tracePt t="104712" x="993775" y="2643188"/>
          <p14:tracePt t="104728" x="892175" y="2592388"/>
          <p14:tracePt t="104732" x="833438" y="2557463"/>
          <p14:tracePt t="104747" x="747713" y="2506663"/>
          <p14:tracePt t="104766" x="646113" y="2463800"/>
          <p14:tracePt t="104781" x="585788" y="2438400"/>
          <p14:tracePt t="104796" x="560388" y="2422525"/>
          <p14:tracePt t="104799" x="544513" y="2422525"/>
          <p14:tracePt t="104814" x="534988" y="2413000"/>
          <p14:tracePt t="104829" x="519113" y="2413000"/>
          <p14:tracePt t="104845" x="509588" y="2413000"/>
          <p14:tracePt t="105162" x="450850" y="2371725"/>
          <p14:tracePt t="105168" x="331788" y="2252663"/>
          <p14:tracePt t="105178" x="119063" y="2090738"/>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FB79A-0495-EDEE-6EFF-9CB22ADD9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20809-E5FF-AA3B-474C-826A58C665D7}"/>
              </a:ext>
            </a:extLst>
          </p:cNvPr>
          <p:cNvSpPr>
            <a:spLocks noGrp="1"/>
          </p:cNvSpPr>
          <p:nvPr>
            <p:ph type="title"/>
          </p:nvPr>
        </p:nvSpPr>
        <p:spPr>
          <a:xfrm>
            <a:off x="15455" y="325965"/>
            <a:ext cx="7691632" cy="887206"/>
          </a:xfrm>
        </p:spPr>
        <p:txBody>
          <a:bodyPr/>
          <a:lstStyle/>
          <a:p>
            <a:r>
              <a:rPr lang="en-US" dirty="0">
                <a:latin typeface="Times New Roman" panose="02020603050405020304" pitchFamily="18" charset="0"/>
                <a:cs typeface="Times New Roman" panose="02020603050405020304" pitchFamily="18" charset="0"/>
              </a:rPr>
              <a:t>Simulation  </a:t>
            </a:r>
          </a:p>
        </p:txBody>
      </p:sp>
      <p:pic>
        <p:nvPicPr>
          <p:cNvPr id="3" name="Picture 2">
            <a:extLst>
              <a:ext uri="{FF2B5EF4-FFF2-40B4-BE49-F238E27FC236}">
                <a16:creationId xmlns:a16="http://schemas.microsoft.com/office/drawing/2014/main" id="{9C6575D6-1D5D-92E6-AD37-9262CDF1F6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D69E241F-0292-FC74-F44C-B335620595E4}"/>
              </a:ext>
            </a:extLst>
          </p:cNvPr>
          <p:cNvSpPr>
            <a:spLocks noGrp="1"/>
          </p:cNvSpPr>
          <p:nvPr>
            <p:ph idx="1"/>
          </p:nvPr>
        </p:nvSpPr>
        <p:spPr>
          <a:xfrm>
            <a:off x="3948177" y="1343991"/>
            <a:ext cx="4842588" cy="5420894"/>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initial peak and strong fluctuations indicate the system’s early attempts to learn and adjust its reward expectations. Large reward surprises (both positive and negative) occur during this phase, as the system is still exploring the relationship between actions and rewards. The failure of δ to converge toward zero suggests that the model was unable to stabilize a consistent, "addictive" behavior (i.e., selecting the smoking action 20 times in a row). The system continues to experience reward prediction errors and cannot consistently predict the value of a specific action (like smoking) with high accuracy. These persistent fluctuations indicate that the system remains in a state of exploration or uncertainty and has not reached a level of "compulsive learning" that would lead to addiction</a:t>
            </a:r>
            <a:r>
              <a:rPr lang="fa-IR" sz="1800" dirty="0">
                <a:latin typeface="Times New Roman" panose="02020603050405020304" pitchFamily="18" charset="0"/>
                <a:cs typeface="Times New Roman" panose="02020603050405020304" pitchFamily="18" charset="0"/>
              </a:rPr>
              <a:t>.</a:t>
            </a: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ctr">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en-US" sz="1800" i="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925F6F5-5179-52C9-1699-DDDB137BB819}"/>
              </a:ext>
            </a:extLst>
          </p:cNvPr>
          <p:cNvPicPr>
            <a:picLocks noChangeAspect="1"/>
          </p:cNvPicPr>
          <p:nvPr/>
        </p:nvPicPr>
        <p:blipFill>
          <a:blip r:embed="rId3"/>
          <a:stretch>
            <a:fillRect/>
          </a:stretch>
        </p:blipFill>
        <p:spPr>
          <a:xfrm>
            <a:off x="187311" y="1343991"/>
            <a:ext cx="3673960" cy="2926080"/>
          </a:xfrm>
          <a:prstGeom prst="rect">
            <a:avLst/>
          </a:prstGeom>
        </p:spPr>
      </p:pic>
    </p:spTree>
    <p:extLst>
      <p:ext uri="{BB962C8B-B14F-4D97-AF65-F5344CB8AC3E}">
        <p14:creationId xmlns:p14="http://schemas.microsoft.com/office/powerpoint/2010/main" val="4149571654"/>
      </p:ext>
    </p:extLst>
  </p:cSld>
  <p:clrMapOvr>
    <a:masterClrMapping/>
  </p:clrMapOvr>
  <mc:AlternateContent xmlns:mc="http://schemas.openxmlformats.org/markup-compatibility/2006" xmlns:p14="http://schemas.microsoft.com/office/powerpoint/2010/main">
    <mc:Choice Requires="p14">
      <p:transition spd="slow" p14:dur="2000" advTm="114600"/>
    </mc:Choice>
    <mc:Fallback xmlns="">
      <p:transition spd="slow" advTm="114600"/>
    </mc:Fallback>
  </mc:AlternateContent>
  <p:extLst>
    <p:ext uri="{3A86A75C-4F4B-4683-9AE1-C65F6400EC91}">
      <p14:laserTraceLst xmlns:p14="http://schemas.microsoft.com/office/powerpoint/2010/main">
        <p14:tracePtLst>
          <p14:tracePt t="21207" x="3390900" y="6337300"/>
          <p14:tracePt t="21359" x="2278063" y="6407150"/>
          <p14:tracePt t="21370" x="2055813" y="6186488"/>
          <p14:tracePt t="21387" x="1520825" y="5710238"/>
          <p14:tracePt t="21404" x="1282700" y="5430838"/>
          <p14:tracePt t="21420" x="909638" y="4997450"/>
          <p14:tracePt t="21437" x="798513" y="4886325"/>
          <p14:tracePt t="21453" x="730250" y="4835525"/>
          <p14:tracePt t="21469" x="696913" y="4802188"/>
          <p14:tracePt t="25502" x="696913" y="4767263"/>
          <p14:tracePt t="25511" x="722313" y="4724400"/>
          <p14:tracePt t="25520" x="747713" y="4673600"/>
          <p14:tracePt t="25536" x="798513" y="4495800"/>
          <p14:tracePt t="25553" x="808038" y="4402138"/>
          <p14:tracePt t="25570" x="808038" y="4308475"/>
          <p14:tracePt t="25587" x="808038" y="4249738"/>
          <p14:tracePt t="25603" x="808038" y="4197350"/>
          <p14:tracePt t="25604" x="808038" y="4181475"/>
          <p14:tracePt t="25620" x="808038" y="4146550"/>
          <p14:tracePt t="25637" x="808038" y="4113213"/>
          <p14:tracePt t="25638" x="798513" y="4095750"/>
          <p14:tracePt t="25653" x="798513" y="4052888"/>
          <p14:tracePt t="25669" x="790575" y="4002088"/>
          <p14:tracePt t="25686" x="773113" y="3883025"/>
          <p14:tracePt t="25702" x="755650" y="3806825"/>
          <p14:tracePt t="25719" x="747713" y="3713163"/>
          <p14:tracePt t="25736" x="730250" y="3671888"/>
          <p14:tracePt t="25737" x="730250" y="3636963"/>
          <p14:tracePt t="25752" x="722313" y="3611563"/>
          <p14:tracePt t="25769" x="722313" y="3586163"/>
          <p14:tracePt t="25786" x="722313" y="3568700"/>
          <p14:tracePt t="25802" x="714375" y="3568700"/>
          <p14:tracePt t="25819" x="704850" y="3560763"/>
          <p14:tracePt t="26160" x="704850" y="3543300"/>
          <p14:tracePt t="26166" x="704850" y="3502025"/>
          <p14:tracePt t="26172" x="704850" y="3484563"/>
          <p14:tracePt t="26187" x="696913" y="3459163"/>
          <p14:tracePt t="26202" x="696913" y="3416300"/>
          <p14:tracePt t="26219" x="696913" y="3398838"/>
          <p14:tracePt t="26236" x="688975" y="3382963"/>
          <p14:tracePt t="26237" x="688975" y="3365500"/>
          <p14:tracePt t="26253" x="688975" y="3355975"/>
          <p14:tracePt t="26269" x="688975" y="3330575"/>
          <p14:tracePt t="26286" x="688975" y="3314700"/>
          <p14:tracePt t="26302" x="688975" y="3305175"/>
          <p14:tracePt t="26319" x="688975" y="3289300"/>
          <p14:tracePt t="26338" x="679450" y="3289300"/>
          <p14:tracePt t="26353" x="679450" y="3279775"/>
          <p14:tracePt t="26370" x="679450" y="3271838"/>
          <p14:tracePt t="26430" x="679450" y="3279775"/>
          <p14:tracePt t="26443" x="671513" y="3279775"/>
          <p14:tracePt t="26471" x="671513" y="3289300"/>
          <p14:tracePt t="26485" x="671513" y="3297238"/>
          <p14:tracePt t="26505" x="671513" y="3305175"/>
          <p14:tracePt t="26512" x="671513" y="3314700"/>
          <p14:tracePt t="26525" x="671513" y="3322638"/>
          <p14:tracePt t="26541" x="671513" y="3330575"/>
          <p14:tracePt t="26552" x="671513" y="3340100"/>
          <p14:tracePt t="26569" x="663575" y="3365500"/>
          <p14:tracePt t="26587" x="654050" y="3373438"/>
          <p14:tracePt t="26588" x="654050" y="3382963"/>
          <p14:tracePt t="26603" x="654050" y="3398838"/>
          <p14:tracePt t="26619" x="646113" y="3424238"/>
          <p14:tracePt t="26636" x="636588" y="3459163"/>
          <p14:tracePt t="26653" x="636588" y="3484563"/>
          <p14:tracePt t="26670" x="620713" y="3517900"/>
          <p14:tracePt t="26686" x="620713" y="3535363"/>
          <p14:tracePt t="26703" x="620713" y="3560763"/>
          <p14:tracePt t="26704" x="611188" y="3568700"/>
          <p14:tracePt t="26720" x="603250" y="3578225"/>
          <p14:tracePt t="26736" x="603250" y="3586163"/>
          <p14:tracePt t="26752" x="603250" y="3603625"/>
          <p14:tracePt t="26774" x="595313" y="3603625"/>
          <p14:tracePt t="26802" x="595313" y="3594100"/>
          <p14:tracePt t="26815" x="595313" y="3578225"/>
          <p14:tracePt t="26822" x="595313" y="3560763"/>
          <p14:tracePt t="26837" x="595313" y="3509963"/>
          <p14:tracePt t="26852" x="569913" y="3254375"/>
          <p14:tracePt t="26869" x="577850" y="2693988"/>
          <p14:tracePt t="26870" x="577850" y="2227263"/>
          <p14:tracePt t="26886" x="577850" y="1852613"/>
          <p14:tracePt t="26902" x="577850" y="1563688"/>
          <p14:tracePt t="26919" x="585788" y="1317625"/>
          <p14:tracePt t="26936" x="585788" y="1257300"/>
          <p14:tracePt t="26953" x="585788" y="1241425"/>
          <p14:tracePt t="27037" x="585788" y="1249363"/>
          <p14:tracePt t="27057" x="585788" y="1257300"/>
          <p14:tracePt t="27064" x="585788" y="1266825"/>
          <p14:tracePt t="27071" x="585788" y="1274763"/>
          <p14:tracePt t="27087" x="585788" y="1300163"/>
          <p14:tracePt t="27103" x="585788" y="1308100"/>
          <p14:tracePt t="27104" x="585788" y="1333500"/>
          <p14:tracePt t="27120" x="585788" y="1385888"/>
          <p14:tracePt t="27136" x="585788" y="1665288"/>
          <p14:tracePt t="27154" x="688975" y="3127375"/>
          <p14:tracePt t="27172" x="688975" y="3441700"/>
          <p14:tracePt t="27187" x="688975" y="3748088"/>
          <p14:tracePt t="27188" x="696913" y="3841750"/>
          <p14:tracePt t="27205" x="696913" y="4037013"/>
          <p14:tracePt t="27223" x="688975" y="4164013"/>
          <p14:tracePt t="27224" x="679450" y="4197350"/>
          <p14:tracePt t="27237" x="679450" y="4240213"/>
          <p14:tracePt t="27271" x="679450" y="4249738"/>
          <p14:tracePt t="27299" x="671513" y="4249738"/>
          <p14:tracePt t="27507" x="671513" y="3867150"/>
          <p14:tracePt t="27513" x="671513" y="3119438"/>
          <p14:tracePt t="27520" x="671513" y="2600325"/>
          <p14:tracePt t="27536" x="679450" y="1708150"/>
          <p14:tracePt t="27553" x="704850" y="1419225"/>
          <p14:tracePt t="27555" x="722313" y="1350963"/>
          <p14:tracePt t="27569" x="747713" y="1231900"/>
          <p14:tracePt t="27587" x="765175" y="1181100"/>
          <p14:tracePt t="27588" x="765175" y="1163638"/>
          <p14:tracePt t="27604" x="765175" y="1155700"/>
          <p14:tracePt t="27644" x="765175" y="1163638"/>
          <p14:tracePt t="27657" x="765175" y="1173163"/>
          <p14:tracePt t="27671" x="765175" y="1189038"/>
          <p14:tracePt t="27677" x="765175" y="1198563"/>
          <p14:tracePt t="27686" x="765175" y="1206500"/>
          <p14:tracePt t="27703" x="765175" y="1223963"/>
          <p14:tracePt t="27720" x="765175" y="1249363"/>
          <p14:tracePt t="27736" x="765175" y="1266825"/>
          <p14:tracePt t="27754" x="773113" y="1308100"/>
          <p14:tracePt t="27769" x="815975" y="1477963"/>
          <p14:tracePt t="27786" x="935038" y="1979613"/>
          <p14:tracePt t="27803" x="1062038" y="2473325"/>
          <p14:tracePt t="27819" x="1079500" y="2574925"/>
          <p14:tracePt t="27839" x="1079500" y="2625725"/>
          <p14:tracePt t="27854" x="1079500" y="2643188"/>
          <p14:tracePt t="27872" x="1079500" y="2651125"/>
          <p14:tracePt t="62078" x="1079500" y="2668588"/>
          <p14:tracePt t="62084" x="1079500" y="2693988"/>
          <p14:tracePt t="62091" x="1079500" y="2711450"/>
          <p14:tracePt t="62103" x="1079500" y="2736850"/>
          <p14:tracePt t="62121" x="1079500" y="2795588"/>
          <p14:tracePt t="62137" x="1079500" y="2813050"/>
          <p14:tracePt t="62154" x="1079500" y="2838450"/>
          <p14:tracePt t="62170" x="1079500" y="2855913"/>
          <p14:tracePt t="62187" x="1079500" y="2863850"/>
          <p14:tracePt t="62203" x="1079500" y="2881313"/>
          <p14:tracePt t="62223" x="1079500" y="2889250"/>
          <p14:tracePt t="62237" x="1079500" y="2897188"/>
          <p14:tracePt t="62252" x="1079500" y="2906713"/>
          <p14:tracePt t="62270" x="1079500" y="2922588"/>
          <p14:tracePt t="62271" x="1079500" y="2932113"/>
          <p14:tracePt t="62286" x="1079500" y="2957513"/>
          <p14:tracePt t="62303" x="1079500" y="3000375"/>
          <p14:tracePt t="62321" x="1069975" y="3033713"/>
          <p14:tracePt t="62337" x="1069975" y="3051175"/>
          <p14:tracePt t="62354" x="1062038" y="3076575"/>
          <p14:tracePt t="62370" x="1062038" y="3094038"/>
          <p14:tracePt t="62386" x="1054100" y="3101975"/>
          <p14:tracePt t="62403" x="1044575" y="3119438"/>
          <p14:tracePt t="62423" x="1044575" y="3127375"/>
          <p14:tracePt t="62436" x="1036638" y="3135313"/>
          <p14:tracePt t="62453" x="1036638" y="3152775"/>
          <p14:tracePt t="62469" x="1028700" y="3160713"/>
          <p14:tracePt t="62486" x="1003300" y="3211513"/>
          <p14:tracePt t="62502" x="985838" y="3246438"/>
          <p14:tracePt t="62520" x="968375" y="3271838"/>
          <p14:tracePt t="62536" x="952500" y="3289300"/>
          <p14:tracePt t="62553" x="952500" y="3297238"/>
          <p14:tracePt t="62554" x="942975" y="3305175"/>
          <p14:tracePt t="62569" x="925513" y="3314700"/>
          <p14:tracePt t="62588" x="917575" y="3314700"/>
          <p14:tracePt t="62996" x="917575" y="3305175"/>
          <p14:tracePt t="63002" x="952500" y="3289300"/>
          <p14:tracePt t="63009" x="993775" y="3271838"/>
          <p14:tracePt t="63019" x="1028700" y="3254375"/>
          <p14:tracePt t="63036" x="1096963" y="3195638"/>
          <p14:tracePt t="63053" x="1138238" y="3178175"/>
          <p14:tracePt t="63069" x="1155700" y="3160713"/>
          <p14:tracePt t="63070" x="1163638" y="3160713"/>
          <p14:tracePt t="63085" x="1173163" y="3152775"/>
          <p14:tracePt t="63103" x="1189038" y="3152775"/>
          <p14:tracePt t="63120" x="1198563" y="3144838"/>
          <p14:tracePt t="63136" x="1206500" y="3135313"/>
          <p14:tracePt t="63188" x="1198563" y="3135313"/>
          <p14:tracePt t="63202" x="1181100" y="3135313"/>
          <p14:tracePt t="63215" x="1163638" y="3135313"/>
          <p14:tracePt t="63222" x="1155700" y="3135313"/>
          <p14:tracePt t="63236" x="1130300" y="3127375"/>
          <p14:tracePt t="63253" x="1104900" y="3119438"/>
          <p14:tracePt t="63270" x="1079500" y="3119438"/>
          <p14:tracePt t="63271" x="1054100" y="3119438"/>
          <p14:tracePt t="63286" x="1019175" y="3119438"/>
          <p14:tracePt t="63303" x="968375" y="3119438"/>
          <p14:tracePt t="63305" x="960438" y="3119438"/>
          <p14:tracePt t="63320" x="942975" y="3119438"/>
          <p14:tracePt t="63337" x="909638" y="3119438"/>
          <p14:tracePt t="63353" x="892175" y="3119438"/>
          <p14:tracePt t="63370" x="866775" y="3119438"/>
          <p14:tracePt t="63386" x="849313" y="3119438"/>
          <p14:tracePt t="63388" x="841375" y="3119438"/>
          <p14:tracePt t="63403" x="823913" y="3119438"/>
          <p14:tracePt t="63420" x="815975" y="3119438"/>
          <p14:tracePt t="63438" x="798513" y="3119438"/>
          <p14:tracePt t="63453" x="790575" y="3119438"/>
          <p14:tracePt t="63858" x="808038" y="3119438"/>
          <p14:tracePt t="63864" x="823913" y="3119438"/>
          <p14:tracePt t="63870" x="833438" y="3119438"/>
          <p14:tracePt t="63886" x="866775" y="3109913"/>
          <p14:tracePt t="63902" x="900113" y="3109913"/>
          <p14:tracePt t="63920" x="952500" y="3109913"/>
          <p14:tracePt t="63937" x="993775" y="3109913"/>
          <p14:tracePt t="63953" x="1054100" y="3109913"/>
          <p14:tracePt t="63970" x="1069975" y="3109913"/>
          <p14:tracePt t="63988" x="1122363" y="3109913"/>
          <p14:tracePt t="64003" x="1147763" y="3109913"/>
          <p14:tracePt t="64019" x="1181100" y="3109913"/>
          <p14:tracePt t="64039" x="1223963" y="3109913"/>
          <p14:tracePt t="64053" x="1292225" y="3109913"/>
          <p14:tracePt t="64069" x="1333500" y="3109913"/>
          <p14:tracePt t="64071" x="1368425" y="3109913"/>
          <p14:tracePt t="64086" x="1411288" y="3109913"/>
          <p14:tracePt t="64103" x="1462088" y="3109913"/>
          <p14:tracePt t="64105" x="1470025" y="3109913"/>
          <p14:tracePt t="64121" x="1512888" y="3109913"/>
          <p14:tracePt t="64136" x="1546225" y="3109913"/>
          <p14:tracePt t="64153" x="1614488" y="3109913"/>
          <p14:tracePt t="64169" x="1657350" y="3109913"/>
          <p14:tracePt t="64187" x="1733550" y="3109913"/>
          <p14:tracePt t="64204" x="1801813" y="3109913"/>
          <p14:tracePt t="64220" x="1844675" y="3109913"/>
          <p14:tracePt t="64237" x="1938338" y="3109913"/>
          <p14:tracePt t="64253" x="2005013" y="3109913"/>
          <p14:tracePt t="64271" x="2108200" y="3109913"/>
          <p14:tracePt t="64286" x="2174875" y="3119438"/>
          <p14:tracePt t="64302" x="2252663" y="3119438"/>
          <p14:tracePt t="64319" x="2344738" y="3127375"/>
          <p14:tracePt t="64338" x="2405063" y="3135313"/>
          <p14:tracePt t="64340" x="2413000" y="3135313"/>
          <p14:tracePt t="64353" x="2473325" y="3135313"/>
          <p14:tracePt t="64369" x="2506663" y="3144838"/>
          <p14:tracePt t="64386" x="2566988" y="3144838"/>
          <p14:tracePt t="64388" x="2574925" y="3144838"/>
          <p14:tracePt t="64403" x="2633663" y="3152775"/>
          <p14:tracePt t="64419" x="2668588" y="3160713"/>
          <p14:tracePt t="64438" x="2736850" y="3170238"/>
          <p14:tracePt t="64455" x="2778125" y="3178175"/>
          <p14:tracePt t="64457" x="2805113" y="3178175"/>
          <p14:tracePt t="64470" x="2830513" y="3178175"/>
          <p14:tracePt t="64472" x="2855913" y="3178175"/>
          <p14:tracePt t="64487" x="2897188" y="3186113"/>
          <p14:tracePt t="64503" x="2932113" y="3195638"/>
          <p14:tracePt t="64505" x="2965450" y="3195638"/>
          <p14:tracePt t="64520" x="3025775" y="3203575"/>
          <p14:tracePt t="64536" x="3084513" y="3211513"/>
          <p14:tracePt t="64553" x="3178175" y="3221038"/>
          <p14:tracePt t="64553" x="3221038" y="3221038"/>
          <p14:tracePt t="64569" x="3330575" y="3238500"/>
          <p14:tracePt t="64587" x="3390900" y="3246438"/>
          <p14:tracePt t="64588" x="3416300" y="3246438"/>
          <p14:tracePt t="64604" x="3449638" y="3254375"/>
          <p14:tracePt t="64620" x="3467100" y="3254375"/>
          <p14:tracePt t="64638" x="3502025" y="3254375"/>
          <p14:tracePt t="64653" x="3517900" y="3263900"/>
          <p14:tracePt t="64670" x="3535363" y="3263900"/>
          <p14:tracePt t="64671" x="3543300" y="3263900"/>
          <p14:tracePt t="64686" x="3552825" y="3263900"/>
          <p14:tracePt t="64687" x="3568700" y="3263900"/>
          <p14:tracePt t="64704" x="3578225" y="3263900"/>
          <p14:tracePt t="64705" x="3594100" y="3263900"/>
          <p14:tracePt t="64720" x="3603625" y="3263900"/>
          <p14:tracePt t="64737" x="3619500" y="3271838"/>
          <p14:tracePt t="64754" x="3629025" y="3271838"/>
          <p14:tracePt t="95550" x="3568700" y="3254375"/>
          <p14:tracePt t="95556" x="3398838" y="3203575"/>
          <p14:tracePt t="95572" x="2906713" y="3059113"/>
          <p14:tracePt t="95588" x="2574925" y="2982913"/>
          <p14:tracePt t="95604" x="2217738" y="2922588"/>
          <p14:tracePt t="95619" x="1997075" y="2889250"/>
          <p14:tracePt t="95638" x="1793875" y="2846388"/>
          <p14:tracePt t="95652" x="1733550" y="2846388"/>
          <p14:tracePt t="95653" x="1690688" y="2838450"/>
          <p14:tracePt t="95669" x="1631950" y="2820988"/>
          <p14:tracePt t="95687" x="1589088" y="2813050"/>
          <p14:tracePt t="95704" x="1563688" y="2813050"/>
          <p14:tracePt t="95721" x="1538288" y="2813050"/>
          <p14:tracePt t="95738" x="1520825" y="2813050"/>
          <p14:tracePt t="95754" x="1504950" y="2813050"/>
          <p14:tracePt t="95755" x="1495425" y="2813050"/>
          <p14:tracePt t="95770" x="1487488" y="2813050"/>
          <p14:tracePt t="95786" x="1477963" y="2813050"/>
          <p14:tracePt t="95805" x="1462088" y="2813050"/>
          <p14:tracePt t="95820" x="1452563" y="2813050"/>
          <p14:tracePt t="95837" x="1444625" y="2813050"/>
          <p14:tracePt t="95839" x="1436688" y="2813050"/>
          <p14:tracePt t="95853" x="1427163" y="2820988"/>
          <p14:tracePt t="95871" x="1401763" y="2830513"/>
          <p14:tracePt t="95887" x="1257300" y="2932113"/>
          <p14:tracePt t="95902" x="1104900" y="3051175"/>
          <p14:tracePt t="95921" x="925513" y="3178175"/>
          <p14:tracePt t="95938" x="866775" y="3211513"/>
          <p14:tracePt t="95954" x="808038" y="3246438"/>
          <p14:tracePt t="95955" x="790575" y="3254375"/>
          <p14:tracePt t="95972" x="773113" y="3271838"/>
          <p14:tracePt t="95988" x="747713" y="3279775"/>
          <p14:tracePt t="96003" x="730250" y="3297238"/>
          <p14:tracePt t="96005" x="722313" y="3297238"/>
          <p14:tracePt t="96020" x="714375" y="3305175"/>
          <p14:tracePt t="96036" x="704850" y="3314700"/>
          <p14:tracePt t="96038" x="704850" y="3322638"/>
          <p14:tracePt t="96052" x="696913" y="3322638"/>
          <p14:tracePt t="96069" x="688975" y="3330575"/>
          <p14:tracePt t="96086" x="688975" y="3340100"/>
          <p14:tracePt t="96103" x="679450" y="3340100"/>
          <p14:tracePt t="96156" x="679450" y="3330575"/>
          <p14:tracePt t="96168" x="679450" y="3322638"/>
          <p14:tracePt t="96175" x="679450" y="3314700"/>
          <p14:tracePt t="96186" x="679450" y="3305175"/>
          <p14:tracePt t="96202" x="679450" y="3297238"/>
          <p14:tracePt t="96204" x="679450" y="3289300"/>
          <p14:tracePt t="96219" x="679450" y="3279775"/>
          <p14:tracePt t="96235" x="688975" y="3271838"/>
          <p14:tracePt t="96252" x="688975" y="3254375"/>
          <p14:tracePt t="96254" x="688975" y="3238500"/>
          <p14:tracePt t="96269" x="696913" y="3228975"/>
          <p14:tracePt t="96286" x="696913" y="3211513"/>
          <p14:tracePt t="96302" x="704850" y="3203575"/>
          <p14:tracePt t="96319" x="704850" y="3186113"/>
          <p14:tracePt t="96321" x="704850" y="3170238"/>
          <p14:tracePt t="96337" x="714375" y="3152775"/>
          <p14:tracePt t="96355" x="714375" y="3135313"/>
          <p14:tracePt t="96356" x="714375" y="3127375"/>
          <p14:tracePt t="96370" x="714375" y="3109913"/>
          <p14:tracePt t="96386" x="722313" y="3084513"/>
          <p14:tracePt t="96403" x="722313" y="3067050"/>
          <p14:tracePt t="96404" x="722313" y="3059113"/>
          <p14:tracePt t="96418" x="730250" y="3041650"/>
          <p14:tracePt t="96436" x="730250" y="3025775"/>
          <p14:tracePt t="96453" x="739775" y="3000375"/>
          <p14:tracePt t="96469" x="739775" y="2982913"/>
          <p14:tracePt t="96487" x="739775" y="2974975"/>
          <p14:tracePt t="96502" x="739775" y="2957513"/>
          <p14:tracePt t="96543" x="739775" y="2949575"/>
          <p14:tracePt t="96556" x="739775" y="2940050"/>
          <p14:tracePt t="96584" x="747713" y="2940050"/>
          <p14:tracePt t="96598" x="755650" y="2940050"/>
          <p14:tracePt t="96611" x="765175" y="2940050"/>
          <p14:tracePt t="96653" x="773113" y="2940050"/>
          <p14:tracePt t="96674" x="781050" y="2940050"/>
          <p14:tracePt t="96702" x="781050" y="2949575"/>
          <p14:tracePt t="96735" x="781050" y="2957513"/>
          <p14:tracePt t="96750" x="781050" y="2965450"/>
          <p14:tracePt t="96762" x="781050" y="2974975"/>
          <p14:tracePt t="96776" x="781050" y="2982913"/>
          <p14:tracePt t="96786" x="781050" y="2990850"/>
          <p14:tracePt t="96804" x="781050" y="3016250"/>
          <p14:tracePt t="96820" x="781050" y="3025775"/>
          <p14:tracePt t="96837" x="781050" y="3041650"/>
          <p14:tracePt t="96854" x="781050" y="3084513"/>
          <p14:tracePt t="96871" x="790575" y="3101975"/>
          <p14:tracePt t="96888" x="798513" y="3127375"/>
          <p14:tracePt t="96903" x="808038" y="3144838"/>
          <p14:tracePt t="96920" x="808038" y="3152775"/>
          <p14:tracePt t="96938" x="815975" y="3178175"/>
          <p14:tracePt t="96956" x="815975" y="3186113"/>
          <p14:tracePt t="96971" x="815975" y="3195638"/>
          <p14:tracePt t="96987" x="815975" y="3203575"/>
          <p14:tracePt t="97046" x="823913" y="3203575"/>
          <p14:tracePt t="97060" x="823913" y="3186113"/>
          <p14:tracePt t="97067" x="833438" y="3178175"/>
          <p14:tracePt t="97073" x="841375" y="3160713"/>
          <p14:tracePt t="97088" x="841375" y="3127375"/>
          <p14:tracePt t="97104" x="858838" y="3094038"/>
          <p14:tracePt t="97121" x="866775" y="3059113"/>
          <p14:tracePt t="97138" x="884238" y="3025775"/>
          <p14:tracePt t="97153" x="884238" y="3008313"/>
          <p14:tracePt t="97171" x="884238" y="2982913"/>
          <p14:tracePt t="97187" x="892175" y="2982913"/>
          <p14:tracePt t="97203" x="900113" y="2974975"/>
          <p14:tracePt t="97220" x="900113" y="2965450"/>
          <p14:tracePt t="97237" x="900113" y="2957513"/>
          <p14:tracePt t="97260" x="900113" y="2949575"/>
          <p14:tracePt t="97345" x="900113" y="2957513"/>
          <p14:tracePt t="97378" x="900113" y="2965450"/>
          <p14:tracePt t="97384" x="900113" y="2974975"/>
          <p14:tracePt t="97404" x="900113" y="2982913"/>
          <p14:tracePt t="97412" x="900113" y="2990850"/>
          <p14:tracePt t="97420" x="900113" y="3000375"/>
          <p14:tracePt t="97437" x="900113" y="3016250"/>
          <p14:tracePt t="97454" x="900113" y="3025775"/>
          <p14:tracePt t="97471" x="900113" y="3041650"/>
          <p14:tracePt t="97487" x="900113" y="3067050"/>
          <p14:tracePt t="97489" x="900113" y="3076575"/>
          <p14:tracePt t="97502" x="900113" y="3084513"/>
          <p14:tracePt t="97503" x="900113" y="3094038"/>
          <p14:tracePt t="97519" x="900113" y="3119438"/>
          <p14:tracePt t="97537" x="900113" y="3170238"/>
          <p14:tracePt t="97552" x="900113" y="3195638"/>
          <p14:tracePt t="97570" x="900113" y="3203575"/>
          <p14:tracePt t="97571" x="900113" y="3221038"/>
          <p14:tracePt t="97587" x="900113" y="3238500"/>
          <p14:tracePt t="97604" x="900113" y="3246438"/>
          <p14:tracePt t="97605" x="900113" y="3263900"/>
          <p14:tracePt t="97620" x="900113" y="3279775"/>
          <p14:tracePt t="97638" x="900113" y="3297238"/>
          <p14:tracePt t="97639" x="900113" y="3314700"/>
          <p14:tracePt t="97653" x="900113" y="3330575"/>
          <p14:tracePt t="97654" x="900113" y="3340100"/>
          <p14:tracePt t="97671" x="900113" y="3355975"/>
          <p14:tracePt t="97688" x="900113" y="3382963"/>
          <p14:tracePt t="97704" x="900113" y="3408363"/>
          <p14:tracePt t="97719" x="900113" y="3433763"/>
          <p14:tracePt t="97737" x="900113" y="3467100"/>
          <p14:tracePt t="97752" x="900113" y="3492500"/>
          <p14:tracePt t="97769" x="900113" y="3517900"/>
          <p14:tracePt t="97786" x="900113" y="3543300"/>
          <p14:tracePt t="97803" x="909638" y="3552825"/>
          <p14:tracePt t="97820" x="909638" y="3578225"/>
          <p14:tracePt t="97838" x="917575" y="3578225"/>
          <p14:tracePt t="97854" x="925513" y="3594100"/>
          <p14:tracePt t="97882" x="935038" y="3594100"/>
          <p14:tracePt t="97894" x="942975" y="3594100"/>
          <p14:tracePt t="97916" x="952500" y="3594100"/>
          <p14:tracePt t="97929" x="952500" y="3586163"/>
          <p14:tracePt t="97936" x="960438" y="3586163"/>
          <p14:tracePt t="97952" x="960438" y="3578225"/>
          <p14:tracePt t="97969" x="968375" y="3568700"/>
          <p14:tracePt t="97986" x="968375" y="3552825"/>
          <p14:tracePt t="98003" x="977900" y="3543300"/>
          <p14:tracePt t="98021" x="977900" y="3517900"/>
          <p14:tracePt t="98036" x="977900" y="3502025"/>
          <p14:tracePt t="98052" x="977900" y="3492500"/>
          <p14:tracePt t="98054" x="977900" y="3475038"/>
          <p14:tracePt t="98069" x="977900" y="3459163"/>
          <p14:tracePt t="98088" x="977900" y="3416300"/>
          <p14:tracePt t="98104" x="977900" y="3382963"/>
          <p14:tracePt t="98121" x="985838" y="3355975"/>
          <p14:tracePt t="98138" x="993775" y="3314700"/>
          <p14:tracePt t="98154" x="1003300" y="3279775"/>
          <p14:tracePt t="98169" x="1003300" y="3246438"/>
          <p14:tracePt t="98171" x="1011238" y="3246438"/>
          <p14:tracePt t="98186" x="1011238" y="3221038"/>
          <p14:tracePt t="98202" x="1019175" y="3203575"/>
          <p14:tracePt t="98220" x="1028700" y="3195638"/>
          <p14:tracePt t="98235" x="1028700" y="3178175"/>
          <p14:tracePt t="98252" x="1028700" y="3170238"/>
          <p14:tracePt t="98269" x="1036638" y="3160713"/>
          <p14:tracePt t="98285" x="1044575" y="3152775"/>
          <p14:tracePt t="98365" x="1044575" y="3160713"/>
          <p14:tracePt t="98378" x="1044575" y="3170238"/>
          <p14:tracePt t="98393" x="1044575" y="3178175"/>
          <p14:tracePt t="98404" x="1044575" y="3186113"/>
          <p14:tracePt t="98426" x="1044575" y="3195638"/>
          <p14:tracePt t="98440" x="1044575" y="3203575"/>
          <p14:tracePt t="98453" x="1044575" y="3211513"/>
          <p14:tracePt t="98469" x="1044575" y="3228975"/>
          <p14:tracePt t="98486" x="1044575" y="3246438"/>
          <p14:tracePt t="98504" x="1044575" y="3271838"/>
          <p14:tracePt t="98519" x="1044575" y="3279775"/>
          <p14:tracePt t="98537" x="1044575" y="3305175"/>
          <p14:tracePt t="98557" x="1044575" y="3314700"/>
          <p14:tracePt t="98569" x="1044575" y="3322638"/>
          <p14:tracePt t="98587" x="1044575" y="3340100"/>
          <p14:tracePt t="98604" x="1044575" y="3355975"/>
          <p14:tracePt t="98605" x="1044575" y="3365500"/>
          <p14:tracePt t="98621" x="1044575" y="3373438"/>
          <p14:tracePt t="98638" x="1044575" y="3390900"/>
          <p14:tracePt t="98655" x="1044575" y="3408363"/>
          <p14:tracePt t="98671" x="1044575" y="3416300"/>
          <p14:tracePt t="98686" x="1044575" y="3441700"/>
          <p14:tracePt t="98703" x="1044575" y="3459163"/>
          <p14:tracePt t="98719" x="1044575" y="3492500"/>
          <p14:tracePt t="98738" x="1044575" y="3509963"/>
          <p14:tracePt t="98754" x="1044575" y="3535363"/>
          <p14:tracePt t="98772" x="1044575" y="3578225"/>
          <p14:tracePt t="98785" x="1044575" y="3586163"/>
          <p14:tracePt t="98802" x="1054100" y="3629025"/>
          <p14:tracePt t="98820" x="1062038" y="3654425"/>
          <p14:tracePt t="98838" x="1062038" y="3671888"/>
          <p14:tracePt t="98855" x="1069975" y="3697288"/>
          <p14:tracePt t="98869" x="1079500" y="3705225"/>
          <p14:tracePt t="98888" x="1079500" y="3713163"/>
          <p14:tracePt t="98910" x="1087438" y="3713163"/>
          <p14:tracePt t="98923" x="1096963" y="3713163"/>
          <p14:tracePt t="98952" x="1096963" y="3705225"/>
          <p14:tracePt t="98957" x="1104900" y="3705225"/>
          <p14:tracePt t="98969" x="1112838" y="3697288"/>
          <p14:tracePt t="98986" x="1122363" y="3679825"/>
          <p14:tracePt t="99002" x="1122363" y="3662363"/>
          <p14:tracePt t="99020" x="1130300" y="3629025"/>
          <p14:tracePt t="99036" x="1130300" y="3611563"/>
          <p14:tracePt t="99052" x="1130300" y="3603625"/>
          <p14:tracePt t="99069" x="1130300" y="3586163"/>
          <p14:tracePt t="99088" x="1130300" y="3568700"/>
          <p14:tracePt t="99089" x="1130300" y="3560763"/>
          <p14:tracePt t="99104" x="1130300" y="3543300"/>
          <p14:tracePt t="99120" x="1130300" y="3535363"/>
          <p14:tracePt t="99138" x="1130300" y="3509963"/>
          <p14:tracePt t="99152" x="1138238" y="3492500"/>
          <p14:tracePt t="99169" x="1147763" y="3475038"/>
          <p14:tracePt t="99186" x="1147763" y="3459163"/>
          <p14:tracePt t="99202" x="1147763" y="3441700"/>
          <p14:tracePt t="99220" x="1163638" y="3433763"/>
          <p14:tracePt t="99239" x="1163638" y="3424238"/>
          <p14:tracePt t="99254" x="1163638" y="3416300"/>
          <p14:tracePt t="99272" x="1163638" y="3408363"/>
          <p14:tracePt t="99285" x="1163638" y="3398838"/>
          <p14:tracePt t="99351" x="1163638" y="3390900"/>
          <p14:tracePt t="99386" x="1173163" y="3390900"/>
          <p14:tracePt t="99406" x="1181100" y="3390900"/>
          <p14:tracePt t="99434" x="1189038" y="3390900"/>
          <p14:tracePt t="99440" x="1189038" y="3382963"/>
          <p14:tracePt t="99454" x="1189038" y="3373438"/>
          <p14:tracePt t="99469" x="1198563" y="3373438"/>
          <p14:tracePt t="99470" x="1206500" y="3365500"/>
          <p14:tracePt t="99486" x="1216025" y="3355975"/>
          <p14:tracePt t="99502" x="1231900" y="3330575"/>
          <p14:tracePt t="99503" x="1241425" y="3322638"/>
          <p14:tracePt t="99519" x="1249363" y="3305175"/>
          <p14:tracePt t="99536" x="1266825" y="3289300"/>
          <p14:tracePt t="99538" x="1274763" y="3271838"/>
          <p14:tracePt t="99553" x="1292225" y="3254375"/>
          <p14:tracePt t="99569" x="1300163" y="3238500"/>
          <p14:tracePt t="99588" x="1325563" y="3221038"/>
          <p14:tracePt t="99603" x="1333500" y="3211513"/>
          <p14:tracePt t="99619" x="1343025" y="3195638"/>
          <p14:tracePt t="99621" x="1350963" y="3195638"/>
          <p14:tracePt t="99641" x="1360488" y="3195638"/>
          <p14:tracePt t="99652" x="1360488" y="3186113"/>
          <p14:tracePt t="112881" x="1614488" y="3152775"/>
          <p14:tracePt t="112887" x="2124075" y="3076575"/>
          <p14:tracePt t="112902" x="2965450" y="3051175"/>
          <p14:tracePt t="112919" x="3857625" y="3033713"/>
          <p14:tracePt t="112936" x="5276850" y="3016250"/>
          <p14:tracePt t="112952" x="6203950" y="3025775"/>
          <p14:tracePt t="112971" x="7240588" y="3109913"/>
          <p14:tracePt t="112986" x="8013700" y="3203575"/>
          <p14:tracePt t="113005" x="8480425" y="3271838"/>
          <p14:tracePt t="113019" x="8659813" y="3271838"/>
          <p14:tracePt t="113019" x="8940800" y="3322638"/>
          <p14:tracePt t="113502" x="8243888" y="3033713"/>
          <p14:tracePt t="113521" x="7554913" y="2855913"/>
          <p14:tracePt t="113536" x="6034088" y="2371725"/>
          <p14:tracePt t="113552" x="5048250" y="2047875"/>
          <p14:tracePt t="113554" x="4648200" y="1928813"/>
          <p14:tracePt t="113569" x="3867150" y="1700213"/>
          <p14:tracePt t="113588" x="3101975" y="1462088"/>
          <p14:tracePt t="113604" x="2770188" y="1343025"/>
          <p14:tracePt t="113621" x="2516188" y="1181100"/>
          <p14:tracePt t="113636" x="2379663" y="1036638"/>
          <p14:tracePt t="113848" x="2124075" y="952500"/>
          <p14:tracePt t="113855" x="1758950" y="755650"/>
          <p14:tracePt t="113871" x="1419225" y="484188"/>
          <p14:tracePt t="113888" x="1241425" y="255588"/>
          <p14:tracePt t="113905" x="1069975" y="33338"/>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6DE3B-36D5-95A1-F778-C00E47209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8C476-99D1-72A6-13B9-7001710EA7D5}"/>
              </a:ext>
            </a:extLst>
          </p:cNvPr>
          <p:cNvSpPr>
            <a:spLocks noGrp="1"/>
          </p:cNvSpPr>
          <p:nvPr>
            <p:ph type="title"/>
          </p:nvPr>
        </p:nvSpPr>
        <p:spPr>
          <a:xfrm>
            <a:off x="15455" y="325965"/>
            <a:ext cx="7691632" cy="887206"/>
          </a:xfrm>
        </p:spPr>
        <p:txBody>
          <a:bodyPr/>
          <a:lstStyle/>
          <a:p>
            <a:r>
              <a:rPr lang="en-US" dirty="0">
                <a:latin typeface="Times New Roman" panose="02020603050405020304" pitchFamily="18" charset="0"/>
                <a:cs typeface="Times New Roman" panose="02020603050405020304" pitchFamily="18" charset="0"/>
              </a:rPr>
              <a:t>Conclusion</a:t>
            </a:r>
          </a:p>
        </p:txBody>
      </p:sp>
      <p:pic>
        <p:nvPicPr>
          <p:cNvPr id="3" name="Picture 2">
            <a:extLst>
              <a:ext uri="{FF2B5EF4-FFF2-40B4-BE49-F238E27FC236}">
                <a16:creationId xmlns:a16="http://schemas.microsoft.com/office/drawing/2014/main" id="{AA2F6EBE-AE6D-FCF2-A61B-1CC2B800BF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31" y="0"/>
            <a:ext cx="706469" cy="698317"/>
          </a:xfrm>
          <a:prstGeom prst="rect">
            <a:avLst/>
          </a:prstGeom>
          <a:noFill/>
          <a:ln>
            <a:noFill/>
          </a:ln>
        </p:spPr>
      </p:pic>
      <p:sp>
        <p:nvSpPr>
          <p:cNvPr id="6" name="Content Placeholder 5">
            <a:extLst>
              <a:ext uri="{FF2B5EF4-FFF2-40B4-BE49-F238E27FC236}">
                <a16:creationId xmlns:a16="http://schemas.microsoft.com/office/drawing/2014/main" id="{89CF9EE1-70FE-965E-AB4F-427F87BCE453}"/>
              </a:ext>
            </a:extLst>
          </p:cNvPr>
          <p:cNvSpPr>
            <a:spLocks noGrp="1"/>
          </p:cNvSpPr>
          <p:nvPr>
            <p:ph idx="1"/>
          </p:nvPr>
        </p:nvSpPr>
        <p:spPr>
          <a:xfrm>
            <a:off x="15455" y="1213171"/>
            <a:ext cx="8430925" cy="5420894"/>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This study presents an advanced model of nicotine addiction based on the cortico-</a:t>
            </a:r>
            <a:r>
              <a:rPr lang="en-US" sz="1800" dirty="0" err="1">
                <a:latin typeface="Times New Roman" panose="02020603050405020304" pitchFamily="18" charset="0"/>
                <a:cs typeface="Times New Roman" panose="02020603050405020304" pitchFamily="18" charset="0"/>
              </a:rPr>
              <a:t>striato</a:t>
            </a:r>
            <a:r>
              <a:rPr lang="en-US" sz="1800" dirty="0">
                <a:latin typeface="Times New Roman" panose="02020603050405020304" pitchFamily="18" charset="0"/>
                <a:cs typeface="Times New Roman" panose="02020603050405020304" pitchFamily="18" charset="0"/>
              </a:rPr>
              <a:t>-thalamic (A-S) circuit, which is modulated by the effect of nicotine on dopamine signaling. The model includes two loops—premotor and motor—for action selection and evaluation. Unlike previous models, it employs a dynamical system that incorporates past experiences into decision-making. Additionally, a novel circuit called n-s-c is introduced to simulate nicotine uptake. The main goal of this model is to demonstrate the role of goal-directed learning in the development of addiction.</a:t>
            </a: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fa-IR" sz="1800" dirty="0">
              <a:latin typeface="Times New Roman" panose="02020603050405020304" pitchFamily="18" charset="0"/>
              <a:cs typeface="Times New Roman" panose="02020603050405020304" pitchFamily="18" charset="0"/>
            </a:endParaRPr>
          </a:p>
          <a:p>
            <a:pPr marL="0" indent="0" algn="ctr">
              <a:buNone/>
            </a:pPr>
            <a:endParaRPr lang="fa-IR" sz="1800" dirty="0">
              <a:latin typeface="Times New Roman" panose="02020603050405020304" pitchFamily="18" charset="0"/>
              <a:cs typeface="Times New Roman" panose="02020603050405020304" pitchFamily="18" charset="0"/>
            </a:endParaRPr>
          </a:p>
          <a:p>
            <a:pPr marL="0" indent="0" algn="just">
              <a:buNone/>
            </a:pPr>
            <a:endParaRPr lang="en-US" sz="18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5614705"/>
      </p:ext>
    </p:extLst>
  </p:cSld>
  <p:clrMapOvr>
    <a:masterClrMapping/>
  </p:clrMapOvr>
  <mc:AlternateContent xmlns:mc="http://schemas.openxmlformats.org/markup-compatibility/2006" xmlns:p14="http://schemas.microsoft.com/office/powerpoint/2010/main">
    <mc:Choice Requires="p14">
      <p:transition spd="slow" p14:dur="2000" advTm="96331"/>
    </mc:Choice>
    <mc:Fallback xmlns="">
      <p:transition spd="slow" advTm="96331"/>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1986</TotalTime>
  <Words>2841</Words>
  <Application>Microsoft Office PowerPoint</Application>
  <PresentationFormat>On-screen Show (4:3)</PresentationFormat>
  <Paragraphs>198</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vt:lpstr>
      <vt:lpstr>Cambria Math</vt:lpstr>
      <vt:lpstr>Century Gothic</vt:lpstr>
      <vt:lpstr>Times New Roman</vt:lpstr>
      <vt:lpstr>Wingdings 3</vt:lpstr>
      <vt:lpstr>Ion</vt:lpstr>
      <vt:lpstr>PowerPoint Presentation</vt:lpstr>
      <vt:lpstr>Abstract  </vt:lpstr>
      <vt:lpstr>Introduction</vt:lpstr>
      <vt:lpstr>Biological Aspects </vt:lpstr>
      <vt:lpstr>Psychological Aspects </vt:lpstr>
      <vt:lpstr>Model</vt:lpstr>
      <vt:lpstr>Action Selection</vt:lpstr>
      <vt:lpstr>Action Selection Equations</vt:lpstr>
      <vt:lpstr>Action Selection Equations</vt:lpstr>
      <vt:lpstr>DA Signaling Module Equations</vt:lpstr>
      <vt:lpstr>N-S-C Dynamics</vt:lpstr>
      <vt:lpstr>N-S-C Dynamics Equations</vt:lpstr>
      <vt:lpstr>Variable &amp; Parameters Table</vt:lpstr>
      <vt:lpstr>Result </vt:lpstr>
      <vt:lpstr>Simulation  </vt:lpstr>
      <vt:lpstr>Simulation  </vt:lpstr>
      <vt:lpstr>Simulation  </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generated using python-pptx</dc:description>
  <cp:lastModifiedBy>Asus</cp:lastModifiedBy>
  <cp:revision>70</cp:revision>
  <dcterms:created xsi:type="dcterms:W3CDTF">2013-01-27T09:14:16Z</dcterms:created>
  <dcterms:modified xsi:type="dcterms:W3CDTF">2026-08-11T11:45:54Z</dcterms:modified>
  <cp:category/>
</cp:coreProperties>
</file>